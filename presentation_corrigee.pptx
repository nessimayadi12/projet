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Alatsi" charset="1" panose="00000500000000000000"/>
      <p:regular r:id="rId34"/>
    </p:embeddedFont>
    <p:embeddedFont>
      <p:font typeface="Sondos Bold" charset="1" panose="00000800000000000000"/>
      <p:regular r:id="rId35"/>
    </p:embeddedFont>
    <p:embeddedFont>
      <p:font typeface="Open Sans Bold" charset="1" panose="020B0806030504020204"/>
      <p:regular r:id="rId36"/>
    </p:embeddedFont>
    <p:embeddedFont>
      <p:font typeface="Abhaya Libre Bold" charset="1" panose="02000803000000000000"/>
      <p:regular r:id="rId37"/>
    </p:embeddedFont>
    <p:embeddedFont>
      <p:font typeface="Abhaya Libre" charset="1" panose="02000503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png" Type="http://schemas.openxmlformats.org/officeDocument/2006/relationships/image"/></Relationships>
</file>

<file path=ppt/slides/slide1.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31071" y="0"/>
            <a:ext cx="4239083" cy="10287000"/>
            <a:chOff x="0" y="0"/>
            <a:chExt cx="5652111" cy="13716000"/>
          </a:xfrm>
        </p:grpSpPr>
        <p:grpSp>
          <p:nvGrpSpPr>
            <p:cNvPr name="Group 3" id="3"/>
            <p:cNvGrpSpPr/>
            <p:nvPr/>
          </p:nvGrpSpPr>
          <p:grpSpPr>
            <a:xfrm rot="0">
              <a:off x="2826056" y="0"/>
              <a:ext cx="2826056" cy="13716000"/>
              <a:chOff x="0" y="0"/>
              <a:chExt cx="558233" cy="2709333"/>
            </a:xfrm>
          </p:grpSpPr>
          <p:sp>
            <p:nvSpPr>
              <p:cNvPr name="Freeform 4" id="4"/>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5" id="5"/>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1413028" y="0"/>
              <a:ext cx="2826056" cy="13716000"/>
              <a:chOff x="0" y="0"/>
              <a:chExt cx="558233" cy="2709333"/>
            </a:xfrm>
          </p:grpSpPr>
          <p:sp>
            <p:nvSpPr>
              <p:cNvPr name="Freeform 7" id="7"/>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8" id="8"/>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9" id="9"/>
            <p:cNvGrpSpPr/>
            <p:nvPr/>
          </p:nvGrpSpPr>
          <p:grpSpPr>
            <a:xfrm rot="0">
              <a:off x="0" y="0"/>
              <a:ext cx="2826056" cy="13716000"/>
              <a:chOff x="0" y="0"/>
              <a:chExt cx="558233" cy="2709333"/>
            </a:xfrm>
          </p:grpSpPr>
          <p:sp>
            <p:nvSpPr>
              <p:cNvPr name="Freeform 10" id="10"/>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1" id="11"/>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TextBox 12" id="12"/>
          <p:cNvSpPr txBox="true"/>
          <p:nvPr/>
        </p:nvSpPr>
        <p:spPr>
          <a:xfrm rot="0">
            <a:off x="6241693" y="2386159"/>
            <a:ext cx="8534002" cy="2617104"/>
          </a:xfrm>
          <a:prstGeom prst="rect">
            <a:avLst/>
          </a:prstGeom>
        </p:spPr>
        <p:txBody>
          <a:bodyPr anchor="t" rtlCol="false" tIns="0" lIns="0" bIns="0" rIns="0">
            <a:spAutoFit/>
          </a:bodyPr>
          <a:lstStyle/>
          <a:p>
            <a:pPr algn="ctr" marL="0" indent="0" lvl="0">
              <a:lnSpc>
                <a:spcPts val="10046"/>
              </a:lnSpc>
            </a:pPr>
            <a:r>
              <a:rPr lang="en-US" sz="10357">
                <a:solidFill>
                  <a:srgbClr val="000000"/>
                </a:solidFill>
                <a:latin typeface="Alatsi"/>
                <a:ea typeface="Alatsi"/>
                <a:cs typeface="Alatsi"/>
                <a:sym typeface="Alatsi"/>
              </a:rPr>
              <a:t>PROJET DE FIN D’ÉTUDES</a:t>
            </a:r>
          </a:p>
        </p:txBody>
      </p:sp>
      <p:sp>
        <p:nvSpPr>
          <p:cNvPr name="Freeform 13" id="13"/>
          <p:cNvSpPr/>
          <p:nvPr/>
        </p:nvSpPr>
        <p:spPr>
          <a:xfrm flipH="false" flipV="false" rot="0">
            <a:off x="12646898"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ns3:svgBlip r:embed="rId3"/>
                </a:ext>
              </a:extLst>
            </a:blip>
            <a:stretch>
              <a:fillRect l="0" t="0" r="0" b="0"/>
            </a:stretch>
          </a:blipFill>
        </p:spPr>
      </p:sp>
      <p:sp>
        <p:nvSpPr>
          <p:cNvPr name="TextBox 14" id="14"/>
          <p:cNvSpPr txBox="true"/>
          <p:nvPr/>
        </p:nvSpPr>
        <p:spPr>
          <a:xfrm rot="0">
            <a:off x="6377637" y="9463799"/>
            <a:ext cx="6882108" cy="528163"/>
          </a:xfrm>
          <a:prstGeom prst="rect">
            <a:avLst/>
          </a:prstGeom>
        </p:spPr>
        <p:txBody>
          <a:bodyPr wrap="square" lIns="91440" rIns="91440" tIns="45720" bIns="45720">
            <a:spAutoFit/>
          </a:bodyPr>
          <a:lstStyle/>
          <a:p>
            <a:pPr algn="c">
              <a:buNone/>
            </a:pPr>
            <a:r>
              <a:rPr lang="fr-FR" sz="2100">
                <a:solidFill>
                  <a:srgbClr val="374151"/>
                </a:solidFill>
                <a:latin typeface="Aptos"/>
              </a:rPr>
              <a:t>Année universitaire 2025-2026</a:t>
            </a:r>
            <a:endParaRPr lang="fr-FR" sz="2100"/>
          </a:p>
        </p:txBody>
      </p:sp>
      <p:sp>
        <p:nvSpPr>
          <p:cNvPr name="Freeform 15" id="15"/>
          <p:cNvSpPr/>
          <p:nvPr/>
        </p:nvSpPr>
        <p:spPr>
          <a:xfrm flipH="false" flipV="false" rot="0">
            <a:off x="11118095"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Freeform 16" id="16"/>
          <p:cNvSpPr/>
          <p:nvPr/>
        </p:nvSpPr>
        <p:spPr>
          <a:xfrm flipH="false" flipV="false" rot="0">
            <a:off x="7610648" y="5143500"/>
            <a:ext cx="5796092" cy="1065032"/>
          </a:xfrm>
          <a:custGeom>
            <a:avLst/>
            <a:gdLst/>
            <a:ahLst/>
            <a:cxnLst/>
            <a:rect r="r" b="b" t="t" l="l"/>
            <a:pathLst>
              <a:path h="1065032" w="5796092">
                <a:moveTo>
                  <a:pt x="0" y="0"/>
                </a:moveTo>
                <a:lnTo>
                  <a:pt x="5796092" y="0"/>
                </a:lnTo>
                <a:lnTo>
                  <a:pt x="5796092" y="1065032"/>
                </a:lnTo>
                <a:lnTo>
                  <a:pt x="0" y="1065032"/>
                </a:lnTo>
                <a:lnTo>
                  <a:pt x="0" y="0"/>
                </a:lnTo>
                <a:close/>
              </a:path>
            </a:pathLst>
          </a:custGeom>
          <a:blipFill>
            <a:blip r:embed="rId4"/>
            <a:stretch>
              <a:fillRect l="0" t="0" r="0" b="0"/>
            </a:stretch>
          </a:blipFill>
        </p:spPr>
      </p:sp>
      <p:sp>
        <p:nvSpPr>
          <p:cNvPr name="Freeform 17" id="17"/>
          <p:cNvSpPr/>
          <p:nvPr/>
        </p:nvSpPr>
        <p:spPr>
          <a:xfrm flipH="false" flipV="false" rot="0">
            <a:off x="14775695" y="-210192"/>
            <a:ext cx="3527229" cy="2327971"/>
          </a:xfrm>
          <a:custGeom>
            <a:avLst/>
            <a:gdLst/>
            <a:ahLst/>
            <a:cxnLst/>
            <a:rect r="r" b="b" t="t" l="l"/>
            <a:pathLst>
              <a:path h="2327971" w="3527229">
                <a:moveTo>
                  <a:pt x="0" y="0"/>
                </a:moveTo>
                <a:lnTo>
                  <a:pt x="3527229" y="0"/>
                </a:lnTo>
                <a:lnTo>
                  <a:pt x="3527229" y="2327971"/>
                </a:lnTo>
                <a:lnTo>
                  <a:pt x="0" y="2327971"/>
                </a:lnTo>
                <a:lnTo>
                  <a:pt x="0" y="0"/>
                </a:lnTo>
                <a:close/>
              </a:path>
            </a:pathLst>
          </a:custGeom>
          <a:blipFill>
            <a:blip r:embed="rId5"/>
            <a:stretch>
              <a:fillRect l="0" t="0" r="0" b="0"/>
            </a:stretch>
          </a:blipFill>
        </p:spPr>
      </p:sp>
      <p:sp>
        <p:nvSpPr>
          <p:cNvPr name="TextBox 18" id="18"/>
          <p:cNvSpPr txBox="true"/>
          <p:nvPr/>
        </p:nvSpPr>
        <p:spPr>
          <a:xfrm rot="0">
            <a:off x="5738284" y="6881125"/>
            <a:ext cx="8478800" cy="2107828"/>
          </a:xfrm>
          <a:prstGeom prst="rect">
            <a:avLst/>
          </a:prstGeom>
        </p:spPr>
        <p:txBody>
          <a:bodyPr wrap="square" lIns="91440" rIns="91440" tIns="45720" bIns="45720">
            <a:spAutoFit/>
          </a:bodyPr>
          <a:lstStyle/>
          <a:p>
            <a:pPr algn="l">
              <a:buNone/>
            </a:pPr>
            <a:r>
              <a:rPr lang="fr-FR" sz="1900">
                <a:solidFill>
                  <a:srgbClr val="374151"/>
                </a:solidFill>
                <a:latin typeface="Aptos"/>
              </a:rPr>
              <a:t>Présenté par : Nessim Ayadi</a:t>
            </a:r>
            <a:endParaRPr lang="fr-FR" sz="1900"/>
          </a:p>
          <a:p>
            <a:pPr algn="l">
              <a:buNone/>
            </a:pPr>
            <a:r>
              <a:rPr lang="fr-FR" sz="1900">
                <a:solidFill>
                  <a:srgbClr val="374151"/>
                </a:solidFill>
                <a:latin typeface="Aptos"/>
              </a:rPr>
              <a:t>Encadrant académique : Kmar Fersi</a:t>
            </a:r>
            <a:endParaRPr lang="fr-FR" sz="1900"/>
          </a:p>
          <a:p>
            <a:pPr algn="l">
              <a:buNone/>
            </a:pPr>
            <a:r>
              <a:rPr lang="fr-FR" sz="1900">
                <a:solidFill>
                  <a:srgbClr val="374151"/>
                </a:solidFill>
                <a:latin typeface="Aptos"/>
              </a:rPr>
              <a:t>Encadrant professionnel : Mr. Alaa Laamouri</a:t>
            </a:r>
            <a:endParaRPr lang="fr-FR" sz="1900"/>
          </a:p>
        </p:txBody>
      </p:sp>
    </p:spTree>
  </p:cSld>
  <p:clrMapOvr>
    <a:masterClrMapping/>
  </p:clrMapOvr>
</p:sld>
</file>

<file path=ppt/slides/slide2.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866775"/>
            <a:ext cx="16230600"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PLAN DE LA PRÉSENTATION</a:t>
            </a:r>
          </a:p>
        </p:txBody>
      </p:sp>
      <p:grpSp>
        <p:nvGrpSpPr>
          <p:cNvPr name="Group 3" id="3"/>
          <p:cNvGrpSpPr/>
          <p:nvPr/>
        </p:nvGrpSpPr>
        <p:grpSpPr>
          <a:xfrm rot="0">
            <a:off x="627362" y="0"/>
            <a:ext cx="937061" cy="10287000"/>
            <a:chOff x="0" y="0"/>
            <a:chExt cx="246798" cy="2709333"/>
          </a:xfrm>
        </p:grpSpPr>
        <p:sp>
          <p:nvSpPr>
            <p:cNvPr name="Freeform 4" id="4"/>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5" id="5"/>
            <p:cNvSpPr txBox="true"/>
            <p:nvPr/>
          </p:nvSpPr>
          <p:spPr>
            <a:xfrm>
              <a:off x="0" y="-38100"/>
              <a:ext cx="246798" cy="2747433"/>
            </a:xfrm>
            <a:prstGeom prst="rect">
              <a:avLst/>
            </a:prstGeom>
          </p:spPr>
          <p:txBody>
            <a:bodyPr anchor="ctr" rtlCol="false" tIns="50800" lIns="50800" bIns="50800" rIns="50800"/>
            <a:lstStyle/>
            <a:p>
              <a:pPr algn="ctr" marL="0" indent="0" lvl="0">
                <a:lnSpc>
                  <a:spcPts val="2659"/>
                </a:lnSpc>
              </a:pPr>
            </a:p>
          </p:txBody>
        </p:sp>
      </p:grpSp>
      <p:sp>
        <p:nvSpPr>
          <p:cNvPr name="AutoShape 6" id="6"/>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7" id="7"/>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8" id="8"/>
          <p:cNvGrpSpPr/>
          <p:nvPr/>
        </p:nvGrpSpPr>
        <p:grpSpPr>
          <a:xfrm rot="0">
            <a:off x="15859155" y="0"/>
            <a:ext cx="1562612" cy="1673225"/>
            <a:chOff x="0" y="0"/>
            <a:chExt cx="2083482" cy="2230967"/>
          </a:xfrm>
        </p:grpSpPr>
        <p:grpSp>
          <p:nvGrpSpPr>
            <p:cNvPr name="Group 9" id="9"/>
            <p:cNvGrpSpPr/>
            <p:nvPr/>
          </p:nvGrpSpPr>
          <p:grpSpPr>
            <a:xfrm rot="0">
              <a:off x="75599" y="0"/>
              <a:ext cx="1932284" cy="2230967"/>
              <a:chOff x="0" y="0"/>
              <a:chExt cx="703982" cy="812800"/>
            </a:xfrm>
          </p:grpSpPr>
          <p:sp>
            <p:nvSpPr>
              <p:cNvPr name="Freeform 10" id="10"/>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1" id="11"/>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2" id="12"/>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2</a:t>
              </a:r>
            </a:p>
          </p:txBody>
        </p:sp>
      </p:grpSp>
      <p:sp>
        <p:nvSpPr>
          <p:cNvPr name="Freeform 13" id="13"/>
          <p:cNvSpPr/>
          <p:nvPr/>
        </p:nvSpPr>
        <p:spPr>
          <a:xfrm flipH="false" flipV="false" rot="0">
            <a:off x="9697545" y="8788169"/>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ns3:svgBlip r:embed="rId3"/>
                </a:ext>
              </a:extLst>
            </a:blip>
            <a:stretch>
              <a:fillRect l="0" t="0" r="0" b="0"/>
            </a:stretch>
          </a:blipFill>
        </p:spPr>
      </p:sp>
      <p:sp>
        <p:nvSpPr>
          <p:cNvPr name="Freeform 14" id="14"/>
          <p:cNvSpPr/>
          <p:nvPr/>
        </p:nvSpPr>
        <p:spPr>
          <a:xfrm flipH="false" flipV="false" rot="0">
            <a:off x="1564423" y="-1641171"/>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ns3:svgBlip r:embed="rId3"/>
                </a:ext>
              </a:extLst>
            </a:blip>
            <a:stretch>
              <a:fillRect l="0" t="0" r="0" b="0"/>
            </a:stretch>
          </a:blipFill>
        </p:spPr>
      </p:sp>
      <p:sp>
        <p:nvSpPr>
          <p:cNvPr name="Freeform 15" id="15"/>
          <p:cNvSpPr/>
          <p:nvPr/>
        </p:nvSpPr>
        <p:spPr>
          <a:xfrm flipH="false" flipV="false" rot="0">
            <a:off x="2315964" y="2317903"/>
            <a:ext cx="17361968" cy="7341053"/>
          </a:xfrm>
          <a:custGeom>
            <a:avLst/>
            <a:gdLst/>
            <a:ahLst/>
            <a:cxnLst/>
            <a:rect r="r" b="b" t="t" l="l"/>
            <a:pathLst>
              <a:path h="7341053" w="17361968">
                <a:moveTo>
                  <a:pt x="0" y="0"/>
                </a:moveTo>
                <a:lnTo>
                  <a:pt x="17361968" y="0"/>
                </a:lnTo>
                <a:lnTo>
                  <a:pt x="17361968" y="7341053"/>
                </a:lnTo>
                <a:lnTo>
                  <a:pt x="0" y="7341053"/>
                </a:lnTo>
                <a:lnTo>
                  <a:pt x="0" y="0"/>
                </a:lnTo>
                <a:close/>
              </a:path>
            </a:pathLst>
          </a:custGeom>
          <a:blipFill>
            <a:blip r:embed="rId4"/>
            <a:stretch>
              <a:fillRect l="0" t="-21951" r="0" b="-11082"/>
            </a:stretch>
          </a:blipFill>
        </p:spPr>
      </p:sp>
      <p:sp>
        <p:nvSpPr>
          <p:cNvPr id="16" name="TextBox 16"/>
          <p:cNvSpPr txBox="1"/>
          <p:nvPr/>
        </p:nvSpPr>
        <p:spPr>
          <a:xfrm>
            <a:off x="2500000" y="2500000"/>
            <a:ext cx="13400000" cy="5700000"/>
          </a:xfrm>
          <a:prstGeom prst="rect">
            <a:avLst/>
          </a:prstGeom>
          <a:noFill/>
          <a:ln>
            <a:noFill/>
          </a:ln>
        </p:spPr>
        <p:txBody>
          <a:bodyPr wrap="square" lIns="91440" rIns="91440" tIns="45720" bIns="45720">
            <a:spAutoFit/>
          </a:bodyPr>
          <a:lstStyle/>
          <a:p>
            <a:pPr algn="l">
              <a:buNone/>
            </a:pPr>
            <a:r>
              <a:rPr lang="fr-FR" sz="2250" b="1">
                <a:solidFill>
                  <a:srgbClr val="111827"/>
                </a:solidFill>
                <a:latin typeface="Aptos"/>
              </a:rPr>
              <a:t>01  Introduction générale et organisme d’accueil</a:t>
            </a:r>
            <a:endParaRPr lang="fr-FR" sz="2250"/>
          </a:p>
          <a:p>
            <a:pPr algn="l">
              <a:buNone/>
            </a:pPr>
            <a:r>
              <a:rPr lang="fr-FR" sz="2250" b="1">
                <a:solidFill>
                  <a:srgbClr val="111827"/>
                </a:solidFill>
                <a:latin typeface="Aptos"/>
              </a:rPr>
              <a:t>02  Étude de l’existant, problématique et objectifs</a:t>
            </a:r>
            <a:endParaRPr lang="fr-FR" sz="2250"/>
          </a:p>
          <a:p>
            <a:pPr algn="l">
              <a:buNone/>
            </a:pPr>
            <a:r>
              <a:rPr lang="fr-FR" sz="2250" b="1">
                <a:solidFill>
                  <a:srgbClr val="111827"/>
                </a:solidFill>
                <a:latin typeface="Aptos"/>
              </a:rPr>
              <a:t>03  Solution proposée et analyse des besoins</a:t>
            </a:r>
            <a:endParaRPr lang="fr-FR" sz="2250"/>
          </a:p>
          <a:p>
            <a:pPr algn="l">
              <a:buNone/>
            </a:pPr>
            <a:r>
              <a:rPr lang="fr-FR" sz="2250" b="1">
                <a:solidFill>
                  <a:srgbClr val="111827"/>
                </a:solidFill>
                <a:latin typeface="Aptos"/>
              </a:rPr>
              <a:t>04  Conception, architecture et modélisation UML</a:t>
            </a:r>
            <a:endParaRPr lang="fr-FR" sz="2250"/>
          </a:p>
          <a:p>
            <a:pPr algn="l">
              <a:buNone/>
            </a:pPr>
            <a:r>
              <a:rPr lang="fr-FR" sz="2250" b="1">
                <a:solidFill>
                  <a:srgbClr val="111827"/>
                </a:solidFill>
                <a:latin typeface="Aptos"/>
              </a:rPr>
              <a:t>05  Réalisation, technologies et démonstration</a:t>
            </a:r>
            <a:endParaRPr lang="fr-FR" sz="2250"/>
          </a:p>
          <a:p>
            <a:pPr algn="l">
              <a:buNone/>
            </a:pPr>
            <a:r>
              <a:rPr lang="fr-FR" sz="2250" b="1">
                <a:solidFill>
                  <a:srgbClr val="111827"/>
                </a:solidFill>
                <a:latin typeface="Aptos"/>
              </a:rPr>
              <a:t>06  Conclusion et perspectives d’évolution</a:t>
            </a:r>
            <a:endParaRPr lang="fr-FR" sz="225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554977" y="3871860"/>
            <a:ext cx="11627497" cy="1400066"/>
          </a:xfrm>
          <a:prstGeom prst="rect">
            <a:avLst/>
          </a:prstGeom>
        </p:spPr>
        <p:txBody>
          <a:bodyPr anchor="t" rtlCol="false" tIns="0" lIns="0" bIns="0" rIns="0">
            <a:spAutoFit/>
          </a:bodyPr>
          <a:lstStyle/>
          <a:p>
            <a:pPr algn="ctr" marL="0" indent="0" lvl="0">
              <a:lnSpc>
                <a:spcPts val="11513"/>
              </a:lnSpc>
            </a:pPr>
            <a:r>
              <a:rPr lang="en-US" sz="8223">
                <a:solidFill>
                  <a:srgbClr val="000000"/>
                </a:solidFill>
                <a:latin typeface="Alatsi"/>
                <a:ea typeface="Alatsi"/>
                <a:cs typeface="Alatsi"/>
                <a:sym typeface="Alatsi"/>
              </a:rPr>
              <a:t>INTRODUCTION GÉNÉRALE</a:t>
            </a:r>
          </a:p>
        </p:txBody>
      </p:sp>
      <p:sp>
        <p:nvSpPr>
          <p:cNvPr name="TextBox 3" id="3"/>
          <p:cNvSpPr txBox="true"/>
          <p:nvPr/>
        </p:nvSpPr>
        <p:spPr>
          <a:xfrm rot="0">
            <a:off x="5033857" y="6762653"/>
            <a:ext cx="10669737" cy="696406"/>
          </a:xfrm>
          <a:prstGeom prst="rect">
            <a:avLst/>
          </a:prstGeom>
        </p:spPr>
        <p:txBody>
          <a:bodyPr anchor="t" rtlCol="false" tIns="0" lIns="0" bIns="0" rIns="0">
            <a:spAutoFit/>
          </a:bodyPr>
          <a:lstStyle/>
          <a:p>
            <a:pPr algn="ctr" marL="0" indent="0" lvl="0">
              <a:lnSpc>
                <a:spcPts val="5758"/>
              </a:lnSpc>
            </a:pPr>
            <a:r>
              <a:rPr lang="en-US" sz="4113">
                <a:solidFill>
                  <a:srgbClr val="000000"/>
                </a:solidFill>
                <a:latin typeface="Alatsi"/>
                <a:ea typeface="Alatsi"/>
                <a:cs typeface="Alatsi"/>
                <a:sym typeface="Alatsi"/>
              </a:rPr>
              <a:t>Projet de Fin d'Études</a:t>
            </a:r>
          </a:p>
        </p:txBody>
      </p:sp>
      <p:sp>
        <p:nvSpPr>
          <p:cNvPr name="TextBox 4" id="4"/>
          <p:cNvSpPr txBox="true"/>
          <p:nvPr/>
        </p:nvSpPr>
        <p:spPr>
          <a:xfrm rot="0">
            <a:off x="6927671" y="1846941"/>
            <a:ext cx="6882108" cy="528163"/>
          </a:xfrm>
          <a:prstGeom prst="rect">
            <a:avLst/>
          </a:prstGeom>
        </p:spPr>
        <p:txBody>
          <a:bodyPr anchor="t" rtlCol="false" tIns="0" lIns="0" bIns="0" rIns="0">
            <a:spAutoFit/>
          </a:bodyPr>
          <a:lstStyle/>
          <a:p>
            <a:pPr algn="ctr" marL="0" indent="0" lvl="0">
              <a:lnSpc>
                <a:spcPts val="4373"/>
              </a:lnSpc>
            </a:pPr>
            <a:r>
              <a:rPr lang="en-US" sz="3124">
                <a:solidFill>
                  <a:srgbClr val="000000"/>
                </a:solidFill>
                <a:latin typeface="Alatsi"/>
                <a:ea typeface="Alatsi"/>
                <a:cs typeface="Alatsi"/>
                <a:sym typeface="Alatsi"/>
              </a:rPr>
              <a:t>Partie 01</a:t>
            </a:r>
          </a:p>
        </p:txBody>
      </p:sp>
      <p:grpSp>
        <p:nvGrpSpPr>
          <p:cNvPr name="Group 5" id="5"/>
          <p:cNvGrpSpPr/>
          <p:nvPr/>
        </p:nvGrpSpPr>
        <p:grpSpPr>
          <a:xfrm rot="0">
            <a:off x="-31071" y="0"/>
            <a:ext cx="4239083" cy="10287000"/>
            <a:chOff x="0" y="0"/>
            <a:chExt cx="5652111" cy="13716000"/>
          </a:xfrm>
        </p:grpSpPr>
        <p:grpSp>
          <p:nvGrpSpPr>
            <p:cNvPr name="Group 6" id="6"/>
            <p:cNvGrpSpPr/>
            <p:nvPr/>
          </p:nvGrpSpPr>
          <p:grpSpPr>
            <a:xfrm rot="0">
              <a:off x="2826056" y="0"/>
              <a:ext cx="2826056" cy="13716000"/>
              <a:chOff x="0" y="0"/>
              <a:chExt cx="558233" cy="2709333"/>
            </a:xfrm>
          </p:grpSpPr>
          <p:sp>
            <p:nvSpPr>
              <p:cNvPr name="Freeform 7" id="7"/>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8" id="8"/>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9" id="9"/>
            <p:cNvGrpSpPr/>
            <p:nvPr/>
          </p:nvGrpSpPr>
          <p:grpSpPr>
            <a:xfrm rot="0">
              <a:off x="1413028" y="0"/>
              <a:ext cx="2826056" cy="13716000"/>
              <a:chOff x="0" y="0"/>
              <a:chExt cx="558233" cy="2709333"/>
            </a:xfrm>
          </p:grpSpPr>
          <p:sp>
            <p:nvSpPr>
              <p:cNvPr name="Freeform 10" id="10"/>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11" id="11"/>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0" y="0"/>
              <a:ext cx="2826056" cy="13716000"/>
              <a:chOff x="0" y="0"/>
              <a:chExt cx="558233" cy="2709333"/>
            </a:xfrm>
          </p:grpSpPr>
          <p:sp>
            <p:nvSpPr>
              <p:cNvPr name="Freeform 13" id="13"/>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4" id="14"/>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Freeform 15" id="15"/>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3" id="3"/>
          <p:cNvSpPr/>
          <p:nvPr/>
        </p:nvSpPr>
        <p:spPr>
          <a:xfrm>
            <a:off x="11430169" y="9061267"/>
            <a:ext cx="7105264" cy="19050"/>
          </a:xfrm>
          <a:prstGeom prst="line">
            <a:avLst/>
          </a:prstGeom>
          <a:ln cap="flat" w="114300">
            <a:solidFill>
              <a:srgbClr val="9FC3D0"/>
            </a:solidFill>
            <a:prstDash val="solid"/>
            <a:headEnd type="none" len="sm" w="sm"/>
            <a:tailEnd type="none" len="sm" w="sm"/>
          </a:ln>
        </p:spPr>
      </p:sp>
      <p:sp>
        <p:nvSpPr>
          <p:cNvPr name="Freeform 4" id="4"/>
          <p:cNvSpPr/>
          <p:nvPr/>
        </p:nvSpPr>
        <p:spPr>
          <a:xfrm flipH="false" flipV="false" rot="0">
            <a:off x="12982861" y="593323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a:grpSpLocks noChangeAspect="true"/>
          </p:cNvGrpSpPr>
          <p:nvPr/>
        </p:nvGrpSpPr>
        <p:grpSpPr>
          <a:xfrm rot="0">
            <a:off x="12012909" y="2797221"/>
            <a:ext cx="5246391" cy="5246370"/>
            <a:chOff x="0" y="0"/>
            <a:chExt cx="6350025" cy="6350000"/>
          </a:xfrm>
        </p:grpSpPr>
        <p:sp>
          <p:nvSpPr>
            <p:cNvPr name="Freeform 6" id="6"/>
            <p:cNvSpPr/>
            <p:nvPr/>
          </p:nvSpPr>
          <p:spPr>
            <a:xfrm flipH="false" flipV="false" rot="0">
              <a:off x="0" y="0"/>
              <a:ext cx="6350026" cy="6350000"/>
            </a:xfrm>
            <a:custGeom>
              <a:avLst/>
              <a:gdLst/>
              <a:ahLst/>
              <a:cxnLst/>
              <a:rect r="r" b="b" t="t" l="l"/>
              <a:pathLst>
                <a:path h="6350000" w="6350026">
                  <a:moveTo>
                    <a:pt x="0" y="0"/>
                  </a:moveTo>
                  <a:lnTo>
                    <a:pt x="6350026" y="0"/>
                  </a:lnTo>
                  <a:lnTo>
                    <a:pt x="6350026" y="6350000"/>
                  </a:lnTo>
                  <a:lnTo>
                    <a:pt x="0" y="6350000"/>
                  </a:lnTo>
                  <a:close/>
                </a:path>
              </a:pathLst>
            </a:custGeom>
            <a:blipFill>
              <a:blip r:embed="rId4"/>
              <a:stretch>
                <a:fillRect l="-31966" t="0" r="-31966" b="0"/>
              </a:stretch>
            </a:blipFill>
          </p:spPr>
        </p:sp>
      </p:grpSp>
      <p:sp>
        <p:nvSpPr>
          <p:cNvPr name="TextBox 7" id="7"/>
          <p:cNvSpPr txBox="true"/>
          <p:nvPr/>
        </p:nvSpPr>
        <p:spPr>
          <a:xfrm rot="0">
            <a:off x="3101165" y="674688"/>
            <a:ext cx="13180039"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ORGANISATION D'ACCUEIL</a:t>
            </a:r>
          </a:p>
        </p:txBody>
      </p:sp>
      <p:grpSp>
        <p:nvGrpSpPr>
          <p:cNvPr name="Group 8" id="8"/>
          <p:cNvGrpSpPr/>
          <p:nvPr/>
        </p:nvGrpSpPr>
        <p:grpSpPr>
          <a:xfrm rot="0">
            <a:off x="15859155" y="0"/>
            <a:ext cx="1562612" cy="1673225"/>
            <a:chOff x="0" y="0"/>
            <a:chExt cx="2083482" cy="2230967"/>
          </a:xfrm>
        </p:grpSpPr>
        <p:grpSp>
          <p:nvGrpSpPr>
            <p:cNvPr name="Group 9" id="9"/>
            <p:cNvGrpSpPr/>
            <p:nvPr/>
          </p:nvGrpSpPr>
          <p:grpSpPr>
            <a:xfrm rot="0">
              <a:off x="75599" y="0"/>
              <a:ext cx="1932284" cy="2230967"/>
              <a:chOff x="0" y="0"/>
              <a:chExt cx="703982" cy="812800"/>
            </a:xfrm>
          </p:grpSpPr>
          <p:sp>
            <p:nvSpPr>
              <p:cNvPr name="Freeform 10" id="10"/>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1" id="11"/>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2" id="12"/>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4</a:t>
              </a:r>
            </a:p>
          </p:txBody>
        </p:sp>
      </p:grpSp>
      <p:sp>
        <p:nvSpPr>
          <p:cNvPr name="Freeform 13" id="13"/>
          <p:cNvSpPr/>
          <p:nvPr/>
        </p:nvSpPr>
        <p:spPr>
          <a:xfrm flipH="false" flipV="false" rot="0">
            <a:off x="-3482681"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505131" y="2418454"/>
            <a:ext cx="10925038" cy="6922485"/>
          </a:xfrm>
          <a:prstGeom prst="rect">
            <a:avLst/>
          </a:prstGeom>
        </p:spPr>
        <p:txBody>
          <a:bodyPr anchor="t" rtlCol="false" tIns="0" lIns="0" bIns="0" rIns="0">
            <a:spAutoFit/>
          </a:bodyPr>
          <a:lstStyle/>
          <a:p>
            <a:pPr algn="l" marL="0" indent="0" lvl="0">
              <a:lnSpc>
                <a:spcPts val="3669"/>
              </a:lnSpc>
            </a:pPr>
            <a:r>
              <a:rPr lang="en-US" sz="2621">
                <a:solidFill>
                  <a:srgbClr val="000000"/>
                </a:solidFill>
                <a:latin typeface="Alatsi"/>
                <a:ea typeface="Alatsi"/>
                <a:cs typeface="Alatsi"/>
                <a:sym typeface="Alatsi"/>
              </a:rPr>
              <a:t>Notre stage a été effectué au sein de Bank ABC Tunisie, filiale du groupe international Arab Banking Corporation, implanté en Tunisie depuis 1993. Forte de plus de 30 ans d’expérience, la banque constitue un acteur majeur du secteur bancaire national, avec un réseau de 17 agences réparties entre Tunis, Sousse et Sfax.</a:t>
            </a:r>
          </a:p>
          <a:p>
            <a:pPr algn="l" marL="0" indent="0" lvl="0">
              <a:lnSpc>
                <a:spcPts val="3669"/>
              </a:lnSpc>
            </a:pPr>
            <a:r>
              <a:rPr lang="en-US" sz="2621">
                <a:solidFill>
                  <a:srgbClr val="000000"/>
                </a:solidFill>
                <a:latin typeface="Alatsi"/>
                <a:ea typeface="Alatsi"/>
                <a:cs typeface="Alatsi"/>
                <a:sym typeface="Alatsi"/>
              </a:rPr>
              <a:t>Elle propose une large gamme de services financiers destinés aux particuliers, professionnels et entreprises, incluant les solutions de financement, les moyens de paiement et la banque digitale.</a:t>
            </a:r>
          </a:p>
          <a:p>
            <a:pPr algn="l" marL="0" indent="0" lvl="0">
              <a:lnSpc>
                <a:spcPts val="3669"/>
              </a:lnSpc>
            </a:pPr>
            <a:r>
              <a:rPr lang="en-US" sz="2621">
                <a:solidFill>
                  <a:srgbClr val="000000"/>
                </a:solidFill>
                <a:latin typeface="Alatsi"/>
                <a:ea typeface="Alatsi"/>
                <a:cs typeface="Alatsi"/>
                <a:sym typeface="Alatsi"/>
              </a:rPr>
              <a:t>Notre immersion s’est déroulée au sein de la Direction des Systèmes d’Information (DSI), contribuant à des projets liés aux infrastructures IT, au développement applicatif et à la cybersécurité.</a:t>
            </a:r>
          </a:p>
          <a:p>
            <a:pPr algn="l" marL="0" indent="0" lvl="0">
              <a:lnSpc>
                <a:spcPts val="3669"/>
              </a:lnSpc>
            </a:pPr>
            <a:r>
              <a:rPr lang="en-US" sz="2621">
                <a:solidFill>
                  <a:srgbClr val="000000"/>
                </a:solidFill>
                <a:latin typeface="Alatsi"/>
                <a:ea typeface="Alatsi"/>
                <a:cs typeface="Alatsi"/>
                <a:sym typeface="Alatsi"/>
              </a:rPr>
              <a:t>Cet environnement moderne et structuré nous a permis de renforcer nos compétences techniques et organisationnelles à travers des missions concrètes à forte valeur ajoutée</a:t>
            </a:r>
          </a:p>
          <a:p>
            <a:pPr algn="l" marL="0" indent="0" lvl="0">
              <a:lnSpc>
                <a:spcPts val="3669"/>
              </a:lnSpc>
            </a:pPr>
          </a:p>
        </p:txBody>
      </p:sp>
    </p:spTree>
  </p:cSld>
  <p:clrMapOvr>
    <a:masterClrMapping/>
  </p:clrMapOvr>
</p:sld>
</file>

<file path=ppt/slides/slide5.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2497995" y="3179457"/>
            <a:ext cx="9970232" cy="4696437"/>
          </a:xfrm>
          <a:prstGeom prst="rect">
            <a:avLst/>
          </a:prstGeom>
        </p:spPr>
        <p:txBody>
          <a:bodyPr wrap="square" lIns="91440" rIns="91440" tIns="45720" bIns="45720">
            <a:spAutoFit/>
          </a:bodyPr>
          <a:lstStyle/>
          <a:p>
            <a:pPr algn="l">
              <a:buNone/>
            </a:pPr>
            <a:r>
              <a:rPr lang="fr-FR" sz="2150">
                <a:solidFill>
                  <a:srgbClr val="111827"/>
                </a:solidFill>
                <a:latin typeface="Aptos"/>
              </a:rPr>
              <a:t>Le projet s’inscrit dans un contexte bancaire où la gestion du parc TPE doit être centralisée, fiable, traçable et sécurisée.</a:t>
            </a:r>
            <a:endParaRPr lang="fr-FR" sz="2150"/>
          </a:p>
          <a:p>
            <a:pPr algn="l">
              <a:buNone/>
            </a:pPr>
            <a:r>
              <a:rPr lang="fr-FR" sz="2150">
                <a:solidFill>
                  <a:srgbClr val="111827"/>
                </a:solidFill>
                <a:latin typeface="Aptos"/>
              </a:rPr>
              <a:t>La solution couvre le cycle de vie complet des terminaux : demande agence, validation monétique, affectation, mise en service, maintenance, suivi des taux et reporting.</a:t>
            </a:r>
            <a:endParaRPr lang="fr-FR" sz="2150"/>
          </a:p>
        </p:txBody>
      </p:sp>
      <p:sp>
        <p:nvSpPr>
          <p:cNvPr name="AutoShape 3" id="3"/>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sp>
        <p:nvSpPr>
          <p:cNvPr name="AutoShape 4" id="4"/>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9" id="9"/>
            <p:cNvSpPr txBox="true"/>
            <p:nvPr/>
          </p:nvSpPr>
          <p:spPr>
            <a:xfrm rot="0">
              <a:off x="0" y="447107"/>
              <a:ext cx="2083482" cy="1206270"/>
            </a:xfrm>
            <a:prstGeom prst="rect">
              <a:avLst/>
            </a:prstGeom>
          </p:spPr>
          <p:txBody>
            <a:bodyPr anchor="t" rtlCol="false" tIns="0" lIns="0" bIns="0" rIns="0">
              <a:spAutoFit/>
            </a:bodyPr>
            <a:lstStyle/>
            <a:p>
              <a:pPr algn="ctr" marL="0" indent="0" lvl="0">
                <a:lnSpc>
                  <a:spcPts val="7595"/>
                </a:lnSpc>
              </a:pPr>
              <a:r>
                <a:rPr lang="en-US" b="true" sz="5425">
                  <a:solidFill>
                    <a:srgbClr val="000000"/>
                  </a:solidFill>
                  <a:latin typeface="Open Sans Bold"/>
                  <a:ea typeface="Open Sans Bold"/>
                  <a:cs typeface="Open Sans Bold"/>
                  <a:sym typeface="Open Sans Bold"/>
                </a:rPr>
                <a:t>5</a:t>
              </a:r>
            </a:p>
          </p:txBody>
        </p:sp>
      </p:grpSp>
      <p:sp>
        <p:nvSpPr>
          <p:cNvPr name="Freeform 10" id="10"/>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Freeform 11" id="11"/>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ns3:svgBlip r:embed="rId3"/>
                </a:ext>
              </a:extLst>
            </a:blip>
            <a:stretch>
              <a:fillRect l="0" t="0" r="0" b="0"/>
            </a:stretch>
          </a:blipFill>
        </p:spPr>
      </p:sp>
      <p:sp>
        <p:nvSpPr>
          <p:cNvPr name="Freeform 12" id="12"/>
          <p:cNvSpPr/>
          <p:nvPr/>
        </p:nvSpPr>
        <p:spPr>
          <a:xfrm flipH="false" flipV="false" rot="0">
            <a:off x="12468227" y="2922354"/>
            <a:ext cx="4953540" cy="4953540"/>
          </a:xfrm>
          <a:custGeom>
            <a:avLst/>
            <a:gdLst/>
            <a:ahLst/>
            <a:cxnLst/>
            <a:rect r="r" b="b" t="t" l="l"/>
            <a:pathLst>
              <a:path h="4953540" w="4953540">
                <a:moveTo>
                  <a:pt x="0" y="0"/>
                </a:moveTo>
                <a:lnTo>
                  <a:pt x="4953540" y="0"/>
                </a:lnTo>
                <a:lnTo>
                  <a:pt x="4953540" y="4953540"/>
                </a:lnTo>
                <a:lnTo>
                  <a:pt x="0" y="4953540"/>
                </a:lnTo>
                <a:lnTo>
                  <a:pt x="0" y="0"/>
                </a:lnTo>
                <a:close/>
              </a:path>
            </a:pathLst>
          </a:custGeom>
          <a:blipFill>
            <a:blip r:embed="rId4"/>
            <a:stretch>
              <a:fillRect l="0" t="0" r="0" b="0"/>
            </a:stretch>
          </a:blipFill>
        </p:spPr>
      </p:sp>
      <p:sp>
        <p:nvSpPr>
          <p:cNvPr name="TextBox 13" id="13"/>
          <p:cNvSpPr txBox="true"/>
          <p:nvPr/>
        </p:nvSpPr>
        <p:spPr>
          <a:xfrm rot="0">
            <a:off x="3918390" y="876300"/>
            <a:ext cx="10451219" cy="1409153"/>
          </a:xfrm>
          <a:prstGeom prst="rect">
            <a:avLst/>
          </a:prstGeom>
        </p:spPr>
        <p:txBody>
          <a:bodyPr anchor="t" rtlCol="false" tIns="0" lIns="0" bIns="0" rIns="0">
            <a:spAutoFit/>
          </a:bodyPr>
          <a:lstStyle/>
          <a:p>
            <a:pPr algn="ctr" marL="0" indent="0" lvl="0">
              <a:lnSpc>
                <a:spcPts val="11580"/>
              </a:lnSpc>
            </a:pPr>
            <a:r>
              <a:rPr lang="en-US" sz="8271">
                <a:solidFill>
                  <a:srgbClr val="000000"/>
                </a:solidFill>
                <a:latin typeface="Alatsi"/>
                <a:ea typeface="Alatsi"/>
                <a:cs typeface="Alatsi"/>
                <a:sym typeface="Alatsi"/>
              </a:rPr>
              <a:t>ÉTUDES PRÉLIMINAIRES</a:t>
            </a:r>
          </a:p>
        </p:txBody>
      </p:sp>
    </p:spTree>
  </p:cSld>
  <p:clrMapOvr>
    <a:masterClrMapping/>
  </p:clrMapOvr>
</p:sld>
</file>

<file path=ppt/slides/slide6.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866775"/>
            <a:ext cx="16230600"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PROBLÉMATIQUE</a:t>
            </a:r>
          </a:p>
        </p:txBody>
      </p:sp>
      <p:sp>
        <p:nvSpPr>
          <p:cNvPr name="Freeform 3" id="3"/>
          <p:cNvSpPr/>
          <p:nvPr/>
        </p:nvSpPr>
        <p:spPr>
          <a:xfrm flipH="false" flipV="false" rot="0">
            <a:off x="13764167" y="5827621"/>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ns3:svgBlip r:embed="rId3"/>
                </a:ext>
              </a:extLst>
            </a:blip>
            <a:stretch>
              <a:fillRect l="0" t="0" r="0" b="0"/>
            </a:stretch>
          </a:blipFill>
        </p:spPr>
      </p:sp>
      <p:sp>
        <p:nvSpPr>
          <p:cNvPr name="AutoShape 4" id="4"/>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5" id="5"/>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6" id="6"/>
          <p:cNvGrpSpPr/>
          <p:nvPr/>
        </p:nvGrpSpPr>
        <p:grpSpPr>
          <a:xfrm rot="0">
            <a:off x="15859155" y="0"/>
            <a:ext cx="1562612" cy="1673225"/>
            <a:chOff x="0" y="0"/>
            <a:chExt cx="2083482" cy="2230967"/>
          </a:xfrm>
        </p:grpSpPr>
        <p:grpSp>
          <p:nvGrpSpPr>
            <p:cNvPr name="Group 7" id="7"/>
            <p:cNvGrpSpPr/>
            <p:nvPr/>
          </p:nvGrpSpPr>
          <p:grpSpPr>
            <a:xfrm rot="0">
              <a:off x="75599" y="0"/>
              <a:ext cx="1932284" cy="2230967"/>
              <a:chOff x="0" y="0"/>
              <a:chExt cx="703982" cy="812800"/>
            </a:xfrm>
          </p:grpSpPr>
          <p:sp>
            <p:nvSpPr>
              <p:cNvPr name="Freeform 8" id="8"/>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9" id="9"/>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0" id="10"/>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6</a:t>
              </a:r>
            </a:p>
          </p:txBody>
        </p:sp>
      </p:grpSp>
      <p:sp>
        <p:nvSpPr>
          <p:cNvPr name="Freeform 11" id="11"/>
          <p:cNvSpPr/>
          <p:nvPr/>
        </p:nvSpPr>
        <p:spPr>
          <a:xfrm flipH="false" flipV="false" rot="0">
            <a:off x="-2628900" y="-144908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TextBox 12" id="12"/>
          <p:cNvSpPr txBox="true"/>
          <p:nvPr/>
        </p:nvSpPr>
        <p:spPr>
          <a:xfrm rot="0">
            <a:off x="1787502" y="3504411"/>
            <a:ext cx="13170350" cy="4236998"/>
          </a:xfrm>
          <a:prstGeom prst="rect">
            <a:avLst/>
          </a:prstGeom>
        </p:spPr>
        <p:txBody>
          <a:bodyPr wrap="square" lIns="91440" rIns="91440" tIns="45720" bIns="45720">
            <a:spAutoFit/>
          </a:bodyPr>
          <a:lstStyle/>
          <a:p>
            <a:pPr algn="l" marL="342900" indent="-228600">
              <a:buChar char="•"/>
            </a:pPr>
            <a:r>
              <a:rPr lang="fr-FR" sz="2100">
                <a:solidFill>
                  <a:srgbClr val="1F2937"/>
                </a:solidFill>
                <a:latin typeface="Aptos"/>
              </a:rPr>
              <a:t>Processus de gestion des TPE encore majoritairement manuels</a:t>
            </a:r>
            <a:endParaRPr lang="fr-FR" sz="2100"/>
          </a:p>
          <a:p>
            <a:pPr algn="l" marL="342900" indent="-228600">
              <a:buChar char="•"/>
            </a:pPr>
            <a:r>
              <a:rPr lang="fr-FR" sz="2100">
                <a:solidFill>
                  <a:srgbClr val="1F2937"/>
                </a:solidFill>
                <a:latin typeface="Aptos"/>
              </a:rPr>
              <a:t>Risque élevé d’erreurs de saisie, de doublons et d’incohérences</a:t>
            </a:r>
            <a:endParaRPr lang="fr-FR" sz="2100"/>
          </a:p>
          <a:p>
            <a:pPr algn="l" marL="342900" indent="-228600">
              <a:buChar char="•"/>
            </a:pPr>
            <a:r>
              <a:rPr lang="fr-FR" sz="2100">
                <a:solidFill>
                  <a:srgbClr val="1F2937"/>
                </a:solidFill>
                <a:latin typeface="Aptos"/>
              </a:rPr>
              <a:t>Traçabilité insuffisante des validations, affectations et incidents</a:t>
            </a:r>
            <a:endParaRPr lang="fr-FR" sz="2100"/>
          </a:p>
          <a:p>
            <a:pPr algn="l" marL="342900" indent="-228600">
              <a:buChar char="•"/>
            </a:pPr>
            <a:r>
              <a:rPr lang="fr-FR" sz="2100">
                <a:solidFill>
                  <a:srgbClr val="1F2937"/>
                </a:solidFill>
                <a:latin typeface="Aptos"/>
              </a:rPr>
              <a:t>Manque de visibilité temps réel sur stock, pannes, disponibilité et KPI</a:t>
            </a:r>
            <a:endParaRPr lang="fr-FR" sz="2100"/>
          </a:p>
          <a:p>
            <a:pPr algn="l" marL="342900" indent="-228600">
              <a:buChar char="•"/>
            </a:pPr>
            <a:r>
              <a:rPr lang="fr-FR" sz="2100">
                <a:solidFill>
                  <a:srgbClr val="1F2937"/>
                </a:solidFill>
                <a:latin typeface="Aptos"/>
              </a:rPr>
              <a:t>Coordination difficile entre Agence, Monétique, Inputer et Authorizer</a:t>
            </a:r>
            <a:endParaRPr lang="fr-FR" sz="2100"/>
          </a:p>
        </p:txBody>
      </p:sp>
    </p:spTree>
  </p:cSld>
  <p:clrMapOvr>
    <a:masterClrMapping/>
  </p:clrMapOvr>
</p:sld>
</file>

<file path=ppt/slides/slide7.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0" y="1197716"/>
            <a:ext cx="16230600"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ÉTUDE ET CRITIQUE DE L'EXISTANT</a:t>
            </a:r>
          </a:p>
        </p:txBody>
      </p:sp>
      <p:sp>
        <p:nvSpPr>
          <p:cNvPr name="TextBox 3" id="3"/>
          <p:cNvSpPr txBox="true"/>
          <p:nvPr/>
        </p:nvSpPr>
        <p:spPr>
          <a:xfrm rot="0">
            <a:off x="302424" y="2906019"/>
            <a:ext cx="17327280" cy="5786055"/>
          </a:xfrm>
          <a:prstGeom prst="rect">
            <a:avLst/>
          </a:prstGeom>
        </p:spPr>
        <p:txBody>
          <a:bodyPr wrap="square" lIns="91440" rIns="91440" tIns="45720" bIns="45720">
            <a:spAutoFit/>
          </a:bodyPr>
          <a:lstStyle/>
          <a:p>
            <a:pPr algn="l" marL="342900" indent="-228600">
              <a:buChar char="•"/>
            </a:pPr>
            <a:r>
              <a:rPr lang="fr-FR" sz="1850">
                <a:solidFill>
                  <a:srgbClr val="1F2937"/>
                </a:solidFill>
                <a:latin typeface="Aptos"/>
              </a:rPr>
              <a:t>Données dispersées entre fichiers Excel, Access et documents papier</a:t>
            </a:r>
            <a:endParaRPr lang="fr-FR" sz="1850"/>
          </a:p>
          <a:p>
            <a:pPr algn="l" marL="342900" indent="-228600">
              <a:buChar char="•"/>
            </a:pPr>
            <a:r>
              <a:rPr lang="fr-FR" sz="1850">
                <a:solidFill>
                  <a:srgbClr val="1F2937"/>
                </a:solidFill>
                <a:latin typeface="Aptos"/>
              </a:rPr>
              <a:t>Traitements lents : demandes, validations et affectations difficiles à suivre</a:t>
            </a:r>
            <a:endParaRPr lang="fr-FR" sz="1850"/>
          </a:p>
          <a:p>
            <a:pPr algn="l" marL="342900" indent="-228600">
              <a:buChar char="•"/>
            </a:pPr>
            <a:r>
              <a:rPr lang="fr-FR" sz="1850">
                <a:solidFill>
                  <a:srgbClr val="1F2937"/>
                </a:solidFill>
                <a:latin typeface="Aptos"/>
              </a:rPr>
              <a:t>Historique incomplet sur les TPE, les pannes, les taux et les interventions</a:t>
            </a:r>
            <a:endParaRPr lang="fr-FR" sz="1850"/>
          </a:p>
          <a:p>
            <a:pPr algn="l" marL="342900" indent="-228600">
              <a:buChar char="•"/>
            </a:pPr>
            <a:r>
              <a:rPr lang="fr-FR" sz="1850">
                <a:solidFill>
                  <a:srgbClr val="1F2937"/>
                </a:solidFill>
                <a:latin typeface="Aptos"/>
              </a:rPr>
              <a:t>Gestion du stock peu efficace : disponibilité, panne, maintenance et hors service</a:t>
            </a:r>
            <a:endParaRPr lang="fr-FR" sz="1850"/>
          </a:p>
          <a:p>
            <a:pPr algn="l" marL="342900" indent="-228600">
              <a:buChar char="•"/>
            </a:pPr>
            <a:r>
              <a:rPr lang="fr-FR" sz="1850">
                <a:solidFill>
                  <a:srgbClr val="1F2937"/>
                </a:solidFill>
                <a:latin typeface="Aptos"/>
              </a:rPr>
              <a:t>Pilotage limité : absence de tableaux de bord consolidés et d’indicateurs fiables</a:t>
            </a:r>
            <a:endParaRPr lang="fr-FR" sz="1850"/>
          </a:p>
          <a:p>
            <a:pPr algn="l" marL="342900" indent="-228600">
              <a:buChar char="•"/>
            </a:pPr>
            <a:r>
              <a:rPr lang="fr-FR" sz="1850" b="1">
                <a:solidFill>
                  <a:srgbClr val="0F766E"/>
                </a:solidFill>
                <a:latin typeface="Aptos"/>
              </a:rPr>
              <a:t>Conclusion : besoin d’un système centralisé, automatisé et auditable</a:t>
            </a:r>
            <a:endParaRPr lang="fr-FR" sz="1850"/>
          </a:p>
        </p:txBody>
      </p:sp>
      <p:sp>
        <p:nvSpPr>
          <p:cNvPr name="Freeform 4" id="4"/>
          <p:cNvSpPr/>
          <p:nvPr/>
        </p:nvSpPr>
        <p:spPr>
          <a:xfrm flipH="false" flipV="false" rot="0">
            <a:off x="13764167" y="5827621"/>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ns3:svgBlip r:embed="rId3"/>
                </a:ext>
              </a:extLst>
            </a:blip>
            <a:stretch>
              <a:fillRect l="0" t="0" r="0" b="0"/>
            </a:stretch>
          </a:blipFill>
        </p:spPr>
      </p:sp>
      <p:sp>
        <p:nvSpPr>
          <p:cNvPr name="AutoShape 5" id="5"/>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6" id="6"/>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7" id="7"/>
          <p:cNvGrpSpPr/>
          <p:nvPr/>
        </p:nvGrpSpPr>
        <p:grpSpPr>
          <a:xfrm rot="0">
            <a:off x="15859155"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7</a:t>
              </a:r>
            </a:p>
          </p:txBody>
        </p:sp>
      </p:grpSp>
      <p:sp>
        <p:nvSpPr>
          <p:cNvPr name="Freeform 12" id="12"/>
          <p:cNvSpPr/>
          <p:nvPr/>
        </p:nvSpPr>
        <p:spPr>
          <a:xfrm flipH="false" flipV="false" rot="0">
            <a:off x="-2628900" y="-144908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Tree>
  </p:cSld>
  <p:clrMapOvr>
    <a:masterClrMapping/>
  </p:clrMapOvr>
</p:sld>
</file>

<file path=ppt/slides/slide8.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sp>
        <p:nvSpPr>
          <p:cNvPr name="AutoShape 3" id="3"/>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8</a:t>
              </a:r>
            </a:p>
          </p:txBody>
        </p:sp>
      </p:grpSp>
      <p:sp>
        <p:nvSpPr>
          <p:cNvPr name="Freeform 9" id="9"/>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Freeform 10" id="10"/>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ns3:svgBlip r:embed="rId3"/>
                </a:ext>
              </a:extLst>
            </a:blip>
            <a:stretch>
              <a:fillRect l="0" t="0" r="0" b="0"/>
            </a:stretch>
          </a:blipFill>
        </p:spPr>
      </p:sp>
      <p:sp>
        <p:nvSpPr>
          <p:cNvPr name="Freeform 11" id="11"/>
          <p:cNvSpPr/>
          <p:nvPr/>
        </p:nvSpPr>
        <p:spPr>
          <a:xfrm flipH="false" flipV="false" rot="0">
            <a:off x="1647332" y="4216850"/>
            <a:ext cx="16640668" cy="5735645"/>
          </a:xfrm>
          <a:custGeom>
            <a:avLst/>
            <a:gdLst/>
            <a:ahLst/>
            <a:cxnLst/>
            <a:rect r="r" b="b" t="t" l="l"/>
            <a:pathLst>
              <a:path h="5735645" w="16640668">
                <a:moveTo>
                  <a:pt x="0" y="0"/>
                </a:moveTo>
                <a:lnTo>
                  <a:pt x="16640668" y="0"/>
                </a:lnTo>
                <a:lnTo>
                  <a:pt x="16640668" y="5735646"/>
                </a:lnTo>
                <a:lnTo>
                  <a:pt x="0" y="5735646"/>
                </a:lnTo>
                <a:lnTo>
                  <a:pt x="0" y="0"/>
                </a:lnTo>
                <a:close/>
              </a:path>
            </a:pathLst>
          </a:custGeom>
          <a:blipFill>
            <a:blip r:embed="rId4"/>
            <a:stretch>
              <a:fillRect l="-2654" t="-30989" r="-249" b="0"/>
            </a:stretch>
          </a:blipFill>
        </p:spPr>
      </p:sp>
      <p:sp>
        <p:nvSpPr>
          <p:cNvPr name="Freeform 12" id="12"/>
          <p:cNvSpPr/>
          <p:nvPr/>
        </p:nvSpPr>
        <p:spPr>
          <a:xfrm flipH="false" flipV="false" rot="0">
            <a:off x="1451764" y="2317903"/>
            <a:ext cx="16631668" cy="1898947"/>
          </a:xfrm>
          <a:custGeom>
            <a:avLst/>
            <a:gdLst/>
            <a:ahLst/>
            <a:cxnLst/>
            <a:rect r="r" b="b" t="t" l="l"/>
            <a:pathLst>
              <a:path h="1898947" w="16631668">
                <a:moveTo>
                  <a:pt x="0" y="0"/>
                </a:moveTo>
                <a:lnTo>
                  <a:pt x="16631667" y="0"/>
                </a:lnTo>
                <a:lnTo>
                  <a:pt x="16631667" y="1898947"/>
                </a:lnTo>
                <a:lnTo>
                  <a:pt x="0" y="1898947"/>
                </a:lnTo>
                <a:lnTo>
                  <a:pt x="0" y="0"/>
                </a:lnTo>
                <a:close/>
              </a:path>
            </a:pathLst>
          </a:custGeom>
          <a:blipFill>
            <a:blip r:embed="rId5"/>
            <a:stretch>
              <a:fillRect l="-346" t="-453" r="0" b="-1715"/>
            </a:stretch>
          </a:blipFill>
        </p:spPr>
      </p:sp>
      <p:sp>
        <p:nvSpPr>
          <p:cNvPr name="TextBox 13" id="13"/>
          <p:cNvSpPr txBox="true"/>
          <p:nvPr/>
        </p:nvSpPr>
        <p:spPr>
          <a:xfrm rot="0">
            <a:off x="3918390" y="866775"/>
            <a:ext cx="10451219"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SOLUTION PROPOSÉE</a:t>
            </a:r>
          </a:p>
        </p:txBody>
      </p:sp>
      <p:sp>
        <p:nvSpPr>
          <p:cNvPr id="14" name="TextBox 14"/>
          <p:cNvSpPr txBox="1"/>
          <p:nvPr/>
        </p:nvSpPr>
        <p:spPr>
          <a:xfrm>
            <a:off x="2300000" y="2250000"/>
            <a:ext cx="14000000" cy="6100000"/>
          </a:xfrm>
          <a:prstGeom prst="rect">
            <a:avLst/>
          </a:prstGeom>
          <a:noFill/>
          <a:ln>
            <a:noFill/>
          </a:ln>
        </p:spPr>
        <p:txBody>
          <a:bodyPr wrap="square" lIns="91440" rIns="91440" tIns="45720" bIns="45720">
            <a:spAutoFit/>
          </a:bodyPr>
          <a:lstStyle/>
          <a:p>
            <a:pPr algn="l" marL="342900" indent="-228600">
              <a:buChar char="•"/>
            </a:pPr>
            <a:r>
              <a:rPr lang="fr-FR" sz="2150">
                <a:solidFill>
                  <a:srgbClr val="1F2937"/>
                </a:solidFill>
                <a:latin typeface="Aptos"/>
              </a:rPr>
              <a:t>Application web centralisée pour le parc TPE bancaire</a:t>
            </a:r>
            <a:endParaRPr lang="fr-FR" sz="2150"/>
          </a:p>
          <a:p>
            <a:pPr algn="l" marL="342900" indent="-228600">
              <a:buChar char="•"/>
            </a:pPr>
            <a:r>
              <a:rPr lang="fr-FR" sz="2150">
                <a:solidFill>
                  <a:srgbClr val="1F2937"/>
                </a:solidFill>
                <a:latin typeface="Aptos"/>
              </a:rPr>
              <a:t>Backend Spring Boot exposant des API REST sécurisées par JWT et RBAC</a:t>
            </a:r>
            <a:endParaRPr lang="fr-FR" sz="2150"/>
          </a:p>
          <a:p>
            <a:pPr algn="l" marL="342900" indent="-228600">
              <a:buChar char="•"/>
            </a:pPr>
            <a:r>
              <a:rPr lang="fr-FR" sz="2150">
                <a:solidFill>
                  <a:srgbClr val="1F2937"/>
                </a:solidFill>
                <a:latin typeface="Aptos"/>
              </a:rPr>
              <a:t>Frontend Angular pour Agence, Monétique, Inputer, Authorizer et Admin</a:t>
            </a:r>
            <a:endParaRPr lang="fr-FR" sz="2150"/>
          </a:p>
          <a:p>
            <a:pPr algn="l" marL="342900" indent="-228600">
              <a:buChar char="•"/>
            </a:pPr>
            <a:r>
              <a:rPr lang="fr-FR" sz="2150">
                <a:solidFill>
                  <a:srgbClr val="1F2937"/>
                </a:solidFill>
                <a:latin typeface="Aptos"/>
              </a:rPr>
              <a:t>Workflows digitalisés : demande -&gt; validation 4 yeux -&gt; affectation -&gt; suivi</a:t>
            </a:r>
            <a:endParaRPr lang="fr-FR" sz="2150"/>
          </a:p>
          <a:p>
            <a:pPr algn="l" marL="342900" indent="-228600">
              <a:buChar char="•"/>
            </a:pPr>
            <a:r>
              <a:rPr lang="fr-FR" sz="2150">
                <a:solidFill>
                  <a:srgbClr val="1F2937"/>
                </a:solidFill>
                <a:latin typeface="Aptos"/>
              </a:rPr>
              <a:t>Automatisation : génération TID, import Excel/CSV, traitement fichier bancaire</a:t>
            </a:r>
            <a:endParaRPr lang="fr-FR" sz="2150"/>
          </a:p>
          <a:p>
            <a:pPr algn="l" marL="342900" indent="-228600">
              <a:buChar char="•"/>
            </a:pPr>
            <a:r>
              <a:rPr lang="fr-FR" sz="2150">
                <a:solidFill>
                  <a:srgbClr val="1F2937"/>
                </a:solidFill>
                <a:latin typeface="Aptos"/>
              </a:rPr>
              <a:t>Pilotage : dashboards, indicateurs, exports et intégration Power BI</a:t>
            </a:r>
            <a:endParaRPr lang="fr-FR" sz="215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888516" y="866775"/>
            <a:ext cx="16230600"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OBJECTIFS DU PROJET</a:t>
            </a:r>
          </a:p>
        </p:txBody>
      </p:sp>
      <p:grpSp>
        <p:nvGrpSpPr>
          <p:cNvPr name="Group 3" id="3"/>
          <p:cNvGrpSpPr/>
          <p:nvPr/>
        </p:nvGrpSpPr>
        <p:grpSpPr>
          <a:xfrm rot="0">
            <a:off x="500144" y="3102810"/>
            <a:ext cx="8253259" cy="5517148"/>
            <a:chOff x="0" y="0"/>
            <a:chExt cx="2173698" cy="1453076"/>
          </a:xfrm>
        </p:grpSpPr>
        <p:sp>
          <p:nvSpPr>
            <p:cNvPr name="Freeform 4" id="4"/>
            <p:cNvSpPr/>
            <p:nvPr/>
          </p:nvSpPr>
          <p:spPr>
            <a:xfrm flipH="false" flipV="false" rot="0">
              <a:off x="0" y="0"/>
              <a:ext cx="2173698" cy="1453076"/>
            </a:xfrm>
            <a:custGeom>
              <a:avLst/>
              <a:gdLst/>
              <a:ahLst/>
              <a:cxnLst/>
              <a:rect r="r" b="b" t="t" l="l"/>
              <a:pathLst>
                <a:path h="1453076" w="2173698">
                  <a:moveTo>
                    <a:pt x="47840" y="0"/>
                  </a:moveTo>
                  <a:lnTo>
                    <a:pt x="2125857" y="0"/>
                  </a:lnTo>
                  <a:cubicBezTo>
                    <a:pt x="2138546" y="0"/>
                    <a:pt x="2150714" y="5040"/>
                    <a:pt x="2159686" y="14012"/>
                  </a:cubicBezTo>
                  <a:cubicBezTo>
                    <a:pt x="2168658" y="22984"/>
                    <a:pt x="2173698" y="35152"/>
                    <a:pt x="2173698" y="47840"/>
                  </a:cubicBezTo>
                  <a:lnTo>
                    <a:pt x="2173698" y="1405236"/>
                  </a:lnTo>
                  <a:cubicBezTo>
                    <a:pt x="2173698" y="1417924"/>
                    <a:pt x="2168658" y="1430092"/>
                    <a:pt x="2159686" y="1439064"/>
                  </a:cubicBezTo>
                  <a:cubicBezTo>
                    <a:pt x="2150714" y="1448036"/>
                    <a:pt x="2138546" y="1453076"/>
                    <a:pt x="2125857" y="1453076"/>
                  </a:cubicBezTo>
                  <a:lnTo>
                    <a:pt x="47840" y="1453076"/>
                  </a:lnTo>
                  <a:cubicBezTo>
                    <a:pt x="35152" y="1453076"/>
                    <a:pt x="22984" y="1448036"/>
                    <a:pt x="14012" y="1439064"/>
                  </a:cubicBezTo>
                  <a:cubicBezTo>
                    <a:pt x="5040" y="1430092"/>
                    <a:pt x="0" y="1417924"/>
                    <a:pt x="0" y="1405236"/>
                  </a:cubicBezTo>
                  <a:lnTo>
                    <a:pt x="0" y="47840"/>
                  </a:lnTo>
                  <a:cubicBezTo>
                    <a:pt x="0" y="35152"/>
                    <a:pt x="5040" y="22984"/>
                    <a:pt x="14012" y="14012"/>
                  </a:cubicBezTo>
                  <a:cubicBezTo>
                    <a:pt x="22984" y="5040"/>
                    <a:pt x="35152" y="0"/>
                    <a:pt x="47840" y="0"/>
                  </a:cubicBezTo>
                  <a:close/>
                </a:path>
              </a:pathLst>
            </a:custGeom>
            <a:solidFill>
              <a:srgbClr val="E9C7C6"/>
            </a:solidFill>
          </p:spPr>
        </p:sp>
        <p:sp>
          <p:nvSpPr>
            <p:cNvPr name="TextBox 5" id="5"/>
            <p:cNvSpPr txBox="true"/>
            <p:nvPr/>
          </p:nvSpPr>
          <p:spPr>
            <a:xfrm>
              <a:off x="0" y="-38100"/>
              <a:ext cx="2173698" cy="1491176"/>
            </a:xfrm>
            <a:prstGeom prst="rect">
              <a:avLst/>
            </a:prstGeom>
          </p:spPr>
          <p:txBody>
            <a:bodyPr anchor="ctr" rtlCol="false" tIns="50800" lIns="50800" bIns="50800" rIns="50800"/>
            <a:lstStyle/>
            <a:p>
              <a:pPr algn="ctr" marL="0" indent="0" lvl="0">
                <a:lnSpc>
                  <a:spcPts val="2659"/>
                </a:lnSpc>
              </a:pPr>
            </a:p>
          </p:txBody>
        </p:sp>
      </p:grpSp>
      <p:sp>
        <p:nvSpPr>
          <p:cNvPr name="TextBox 6" id="6"/>
          <p:cNvSpPr txBox="true"/>
          <p:nvPr/>
        </p:nvSpPr>
        <p:spPr>
          <a:xfrm rot="0">
            <a:off x="764422" y="3523674"/>
            <a:ext cx="7724703" cy="5734626"/>
          </a:xfrm>
          <a:prstGeom prst="rect">
            <a:avLst/>
          </a:prstGeom>
        </p:spPr>
        <p:txBody>
          <a:bodyPr anchor="t" rtlCol="false" tIns="0" lIns="0" bIns="0" rIns="0">
            <a:spAutoFit/>
          </a:bodyPr>
          <a:lstStyle/>
          <a:p>
            <a:pPr algn="l" marL="591827" indent="-295914" lvl="1">
              <a:lnSpc>
                <a:spcPts val="3837"/>
              </a:lnSpc>
              <a:buFont typeface="Arial"/>
              <a:buChar char="•"/>
            </a:pPr>
            <a:r>
              <a:rPr lang="en-US" sz="2741">
                <a:solidFill>
                  <a:srgbClr val="000000"/>
                </a:solidFill>
                <a:latin typeface="Alatsi"/>
                <a:ea typeface="Alatsi"/>
                <a:cs typeface="Alatsi"/>
                <a:sym typeface="Alatsi"/>
              </a:rPr>
              <a:t>Digitaliser et centraliser la gestion du parc TPE</a:t>
            </a:r>
          </a:p>
          <a:p>
            <a:pPr algn="l" marL="591827" indent="-295914" lvl="1">
              <a:lnSpc>
                <a:spcPts val="3837"/>
              </a:lnSpc>
              <a:buFont typeface="Arial"/>
              <a:buChar char="•"/>
            </a:pPr>
            <a:r>
              <a:rPr lang="en-US" sz="2741">
                <a:solidFill>
                  <a:srgbClr val="000000"/>
                </a:solidFill>
                <a:latin typeface="Alatsi"/>
                <a:ea typeface="Alatsi"/>
                <a:cs typeface="Alatsi"/>
                <a:sym typeface="Alatsi"/>
              </a:rPr>
              <a:t> </a:t>
            </a:r>
            <a:r>
              <a:rPr lang="en-US" sz="2741">
                <a:solidFill>
                  <a:srgbClr val="000000"/>
                </a:solidFill>
                <a:latin typeface="Alatsi"/>
                <a:ea typeface="Alatsi"/>
                <a:cs typeface="Alatsi"/>
                <a:sym typeface="Alatsi"/>
              </a:rPr>
              <a:t>Structurer le cycle de vie complet des TPE (demande, affectation, maintenance, suivi)</a:t>
            </a:r>
          </a:p>
          <a:p>
            <a:pPr algn="l" marL="591827" indent="-295914" lvl="1">
              <a:lnSpc>
                <a:spcPts val="3837"/>
              </a:lnSpc>
              <a:buFont typeface="Arial"/>
              <a:buChar char="•"/>
            </a:pPr>
            <a:r>
              <a:rPr lang="en-US" sz="2741">
                <a:solidFill>
                  <a:srgbClr val="000000"/>
                </a:solidFill>
                <a:latin typeface="Alatsi"/>
                <a:ea typeface="Alatsi"/>
                <a:cs typeface="Alatsi"/>
                <a:sym typeface="Alatsi"/>
              </a:rPr>
              <a:t> </a:t>
            </a:r>
            <a:r>
              <a:rPr lang="en-US" sz="2741">
                <a:solidFill>
                  <a:srgbClr val="000000"/>
                </a:solidFill>
                <a:latin typeface="Alatsi"/>
                <a:ea typeface="Alatsi"/>
                <a:cs typeface="Alatsi"/>
                <a:sym typeface="Alatsi"/>
              </a:rPr>
              <a:t>Réduire les traitements manuels et les délais opérationnels</a:t>
            </a:r>
          </a:p>
          <a:p>
            <a:pPr algn="l" marL="591827" indent="-295914" lvl="1">
              <a:lnSpc>
                <a:spcPts val="3837"/>
              </a:lnSpc>
              <a:buFont typeface="Arial"/>
              <a:buChar char="•"/>
            </a:pPr>
            <a:r>
              <a:rPr lang="en-US" sz="2741">
                <a:solidFill>
                  <a:srgbClr val="000000"/>
                </a:solidFill>
                <a:latin typeface="Alatsi"/>
                <a:ea typeface="Alatsi"/>
                <a:cs typeface="Alatsi"/>
                <a:sym typeface="Alatsi"/>
              </a:rPr>
              <a:t> </a:t>
            </a:r>
            <a:r>
              <a:rPr lang="en-US" sz="2741">
                <a:solidFill>
                  <a:srgbClr val="000000"/>
                </a:solidFill>
                <a:latin typeface="Alatsi"/>
                <a:ea typeface="Alatsi"/>
                <a:cs typeface="Alatsi"/>
                <a:sym typeface="Alatsi"/>
              </a:rPr>
              <a:t>Améliorer la traçabilité des actions et des incidents</a:t>
            </a:r>
          </a:p>
          <a:p>
            <a:pPr algn="l" marL="591827" indent="-295914" lvl="1">
              <a:lnSpc>
                <a:spcPts val="3837"/>
              </a:lnSpc>
              <a:buFont typeface="Arial"/>
              <a:buChar char="•"/>
            </a:pPr>
            <a:r>
              <a:rPr lang="en-US" sz="2741">
                <a:solidFill>
                  <a:srgbClr val="000000"/>
                </a:solidFill>
                <a:latin typeface="Alatsi"/>
                <a:ea typeface="Alatsi"/>
                <a:cs typeface="Alatsi"/>
                <a:sym typeface="Alatsi"/>
              </a:rPr>
              <a:t> </a:t>
            </a:r>
            <a:r>
              <a:rPr lang="en-US" sz="2741">
                <a:solidFill>
                  <a:srgbClr val="000000"/>
                </a:solidFill>
                <a:latin typeface="Alatsi"/>
                <a:ea typeface="Alatsi"/>
                <a:cs typeface="Alatsi"/>
                <a:sym typeface="Alatsi"/>
              </a:rPr>
              <a:t>Sécuriser l’accès via authentification et gestion des rôles</a:t>
            </a:r>
          </a:p>
          <a:p>
            <a:pPr algn="l">
              <a:lnSpc>
                <a:spcPts val="3837"/>
              </a:lnSpc>
            </a:pPr>
          </a:p>
          <a:p>
            <a:pPr algn="l">
              <a:lnSpc>
                <a:spcPts val="3837"/>
              </a:lnSpc>
            </a:pPr>
          </a:p>
          <a:p>
            <a:pPr algn="l" marL="0" indent="0" lvl="0">
              <a:lnSpc>
                <a:spcPts val="3837"/>
              </a:lnSpc>
            </a:pPr>
          </a:p>
        </p:txBody>
      </p:sp>
      <p:sp>
        <p:nvSpPr>
          <p:cNvPr name="Freeform 7" id="7"/>
          <p:cNvSpPr/>
          <p:nvPr/>
        </p:nvSpPr>
        <p:spPr>
          <a:xfrm flipH="false" flipV="false" rot="0">
            <a:off x="13417488" y="6142174"/>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9534597" y="3102810"/>
            <a:ext cx="8277570" cy="5517148"/>
            <a:chOff x="0" y="0"/>
            <a:chExt cx="2180101" cy="1453076"/>
          </a:xfrm>
        </p:grpSpPr>
        <p:sp>
          <p:nvSpPr>
            <p:cNvPr name="Freeform 9" id="9"/>
            <p:cNvSpPr/>
            <p:nvPr/>
          </p:nvSpPr>
          <p:spPr>
            <a:xfrm flipH="false" flipV="false" rot="0">
              <a:off x="0" y="0"/>
              <a:ext cx="2180101" cy="1453076"/>
            </a:xfrm>
            <a:custGeom>
              <a:avLst/>
              <a:gdLst/>
              <a:ahLst/>
              <a:cxnLst/>
              <a:rect r="r" b="b" t="t" l="l"/>
              <a:pathLst>
                <a:path h="1453076" w="2180101">
                  <a:moveTo>
                    <a:pt x="47700" y="0"/>
                  </a:moveTo>
                  <a:lnTo>
                    <a:pt x="2132401" y="0"/>
                  </a:lnTo>
                  <a:cubicBezTo>
                    <a:pt x="2158745" y="0"/>
                    <a:pt x="2180101" y="21356"/>
                    <a:pt x="2180101" y="47700"/>
                  </a:cubicBezTo>
                  <a:lnTo>
                    <a:pt x="2180101" y="1405376"/>
                  </a:lnTo>
                  <a:cubicBezTo>
                    <a:pt x="2180101" y="1431720"/>
                    <a:pt x="2158745" y="1453076"/>
                    <a:pt x="2132401" y="1453076"/>
                  </a:cubicBezTo>
                  <a:lnTo>
                    <a:pt x="47700" y="1453076"/>
                  </a:lnTo>
                  <a:cubicBezTo>
                    <a:pt x="21356" y="1453076"/>
                    <a:pt x="0" y="1431720"/>
                    <a:pt x="0" y="1405376"/>
                  </a:cubicBezTo>
                  <a:lnTo>
                    <a:pt x="0" y="47700"/>
                  </a:lnTo>
                  <a:cubicBezTo>
                    <a:pt x="0" y="21356"/>
                    <a:pt x="21356" y="0"/>
                    <a:pt x="47700" y="0"/>
                  </a:cubicBezTo>
                  <a:close/>
                </a:path>
              </a:pathLst>
            </a:custGeom>
            <a:solidFill>
              <a:srgbClr val="E9C7C6"/>
            </a:solidFill>
          </p:spPr>
        </p:sp>
        <p:sp>
          <p:nvSpPr>
            <p:cNvPr name="TextBox 10" id="10"/>
            <p:cNvSpPr txBox="true"/>
            <p:nvPr/>
          </p:nvSpPr>
          <p:spPr>
            <a:xfrm>
              <a:off x="0" y="-38100"/>
              <a:ext cx="2180101" cy="1491176"/>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10003816" y="3523674"/>
            <a:ext cx="7339132" cy="4273864"/>
          </a:xfrm>
          <a:prstGeom prst="rect">
            <a:avLst/>
          </a:prstGeom>
        </p:spPr>
        <p:txBody>
          <a:bodyPr anchor="t" rtlCol="false" tIns="0" lIns="0" bIns="0" rIns="0">
            <a:spAutoFit/>
          </a:bodyPr>
          <a:lstStyle/>
          <a:p>
            <a:pPr algn="l" marL="588480" indent="-294240" lvl="1">
              <a:lnSpc>
                <a:spcPts val="3815"/>
              </a:lnSpc>
              <a:buFont typeface="Arial"/>
              <a:buChar char="•"/>
            </a:pPr>
            <a:r>
              <a:rPr lang="en-US" sz="2725">
                <a:solidFill>
                  <a:srgbClr val="000000"/>
                </a:solidFill>
                <a:latin typeface="Alatsi"/>
                <a:ea typeface="Alatsi"/>
                <a:cs typeface="Alatsi"/>
                <a:sym typeface="Alatsi"/>
              </a:rPr>
              <a:t> Fiabiliser les données et éliminer les incohérences</a:t>
            </a:r>
          </a:p>
          <a:p>
            <a:pPr algn="l" marL="588480" indent="-294240" lvl="1">
              <a:lnSpc>
                <a:spcPts val="3815"/>
              </a:lnSpc>
              <a:buFont typeface="Arial"/>
              <a:buChar char="•"/>
            </a:pPr>
            <a:r>
              <a:rPr lang="en-US" sz="2725">
                <a:solidFill>
                  <a:srgbClr val="000000"/>
                </a:solidFill>
                <a:latin typeface="Alatsi"/>
                <a:ea typeface="Alatsi"/>
                <a:cs typeface="Alatsi"/>
                <a:sym typeface="Alatsi"/>
              </a:rPr>
              <a:t> </a:t>
            </a:r>
            <a:r>
              <a:rPr lang="en-US" sz="2725">
                <a:solidFill>
                  <a:srgbClr val="000000"/>
                </a:solidFill>
                <a:latin typeface="Alatsi"/>
                <a:ea typeface="Alatsi"/>
                <a:cs typeface="Alatsi"/>
                <a:sym typeface="Alatsi"/>
              </a:rPr>
              <a:t>Améliorer la disponibilité des TPE (pannes et maintenance)</a:t>
            </a:r>
          </a:p>
          <a:p>
            <a:pPr algn="l" marL="588480" indent="-294240" lvl="1">
              <a:lnSpc>
                <a:spcPts val="3815"/>
              </a:lnSpc>
              <a:buFont typeface="Arial"/>
              <a:buChar char="•"/>
            </a:pPr>
            <a:r>
              <a:rPr lang="en-US" sz="2725">
                <a:solidFill>
                  <a:srgbClr val="000000"/>
                </a:solidFill>
                <a:latin typeface="Alatsi"/>
                <a:ea typeface="Alatsi"/>
                <a:cs typeface="Alatsi"/>
                <a:sym typeface="Alatsi"/>
              </a:rPr>
              <a:t> </a:t>
            </a:r>
            <a:r>
              <a:rPr lang="en-US" sz="2725">
                <a:solidFill>
                  <a:srgbClr val="000000"/>
                </a:solidFill>
                <a:latin typeface="Alatsi"/>
                <a:ea typeface="Alatsi"/>
                <a:cs typeface="Alatsi"/>
                <a:sym typeface="Alatsi"/>
              </a:rPr>
              <a:t>Automatiser le traitement des fichiers bancaires et écritures comptables</a:t>
            </a:r>
          </a:p>
          <a:p>
            <a:pPr algn="l" marL="588480" indent="-294240" lvl="1">
              <a:lnSpc>
                <a:spcPts val="3815"/>
              </a:lnSpc>
              <a:buFont typeface="Arial"/>
              <a:buChar char="•"/>
            </a:pPr>
            <a:r>
              <a:rPr lang="en-US" sz="2725">
                <a:solidFill>
                  <a:srgbClr val="000000"/>
                </a:solidFill>
                <a:latin typeface="Alatsi"/>
                <a:ea typeface="Alatsi"/>
                <a:cs typeface="Alatsi"/>
                <a:sym typeface="Alatsi"/>
              </a:rPr>
              <a:t> </a:t>
            </a:r>
            <a:r>
              <a:rPr lang="en-US" sz="2725">
                <a:solidFill>
                  <a:srgbClr val="000000"/>
                </a:solidFill>
                <a:latin typeface="Alatsi"/>
                <a:ea typeface="Alatsi"/>
                <a:cs typeface="Alatsi"/>
                <a:sym typeface="Alatsi"/>
              </a:rPr>
              <a:t>Fournir des KPI et tableaux de bord pour le pilotage</a:t>
            </a:r>
          </a:p>
          <a:p>
            <a:pPr algn="l" marL="0" indent="0" lvl="0">
              <a:lnSpc>
                <a:spcPts val="3815"/>
              </a:lnSpc>
            </a:pPr>
          </a:p>
        </p:txBody>
      </p:sp>
      <p:sp>
        <p:nvSpPr>
          <p:cNvPr name="AutoShape 12" id="1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13" id="13"/>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14" id="14"/>
          <p:cNvGrpSpPr/>
          <p:nvPr/>
        </p:nvGrpSpPr>
        <p:grpSpPr>
          <a:xfrm rot="0">
            <a:off x="15859155" y="0"/>
            <a:ext cx="1562612" cy="1673225"/>
            <a:chOff x="0" y="0"/>
            <a:chExt cx="2083482" cy="2230967"/>
          </a:xfrm>
        </p:grpSpPr>
        <p:grpSp>
          <p:nvGrpSpPr>
            <p:cNvPr name="Group 15" id="15"/>
            <p:cNvGrpSpPr/>
            <p:nvPr/>
          </p:nvGrpSpPr>
          <p:grpSpPr>
            <a:xfrm rot="0">
              <a:off x="75599" y="0"/>
              <a:ext cx="1932284" cy="2230967"/>
              <a:chOff x="0" y="0"/>
              <a:chExt cx="703982" cy="812800"/>
            </a:xfrm>
          </p:grpSpPr>
          <p:sp>
            <p:nvSpPr>
              <p:cNvPr name="Freeform 16" id="1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7" id="17"/>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8" id="18"/>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9</a:t>
              </a:r>
            </a:p>
          </p:txBody>
        </p:sp>
      </p:grpSp>
      <p:sp>
        <p:nvSpPr>
          <p:cNvPr name="Freeform 19" id="19"/>
          <p:cNvSpPr/>
          <p:nvPr/>
        </p:nvSpPr>
        <p:spPr>
          <a:xfrm flipH="false" flipV="false" rot="0">
            <a:off x="-224313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554977" y="3843285"/>
            <a:ext cx="11627497" cy="1651020"/>
          </a:xfrm>
          <a:prstGeom prst="rect">
            <a:avLst/>
          </a:prstGeom>
        </p:spPr>
        <p:txBody>
          <a:bodyPr anchor="t" rtlCol="false" tIns="0" lIns="0" bIns="0" rIns="0">
            <a:spAutoFit/>
          </a:bodyPr>
          <a:lstStyle/>
          <a:p>
            <a:pPr algn="ctr" marL="0" indent="0" lvl="0">
              <a:lnSpc>
                <a:spcPts val="13559"/>
              </a:lnSpc>
            </a:pPr>
            <a:r>
              <a:rPr lang="en-US" sz="9685">
                <a:solidFill>
                  <a:srgbClr val="000000"/>
                </a:solidFill>
                <a:latin typeface="Alatsi"/>
                <a:ea typeface="Alatsi"/>
                <a:cs typeface="Alatsi"/>
                <a:sym typeface="Alatsi"/>
              </a:rPr>
              <a:t>ANALYSE DES BESOINS</a:t>
            </a:r>
          </a:p>
        </p:txBody>
      </p:sp>
      <p:sp>
        <p:nvSpPr>
          <p:cNvPr name="TextBox 3" id="3"/>
          <p:cNvSpPr txBox="true"/>
          <p:nvPr/>
        </p:nvSpPr>
        <p:spPr>
          <a:xfrm rot="0">
            <a:off x="5033857" y="6791228"/>
            <a:ext cx="10669737" cy="457284"/>
          </a:xfrm>
          <a:prstGeom prst="rect">
            <a:avLst/>
          </a:prstGeom>
        </p:spPr>
        <p:txBody>
          <a:bodyPr anchor="t" rtlCol="false" tIns="0" lIns="0" bIns="0" rIns="0">
            <a:spAutoFit/>
          </a:bodyPr>
          <a:lstStyle/>
          <a:p>
            <a:pPr algn="ctr" marL="0" indent="0" lvl="0">
              <a:lnSpc>
                <a:spcPts val="3798"/>
              </a:lnSpc>
            </a:pPr>
            <a:r>
              <a:rPr lang="en-US" sz="2712">
                <a:solidFill>
                  <a:srgbClr val="000000"/>
                </a:solidFill>
                <a:latin typeface="Alatsi"/>
                <a:ea typeface="Alatsi"/>
                <a:cs typeface="Alatsi"/>
                <a:sym typeface="Alatsi"/>
              </a:rPr>
              <a:t>Identification des exigences fonctionnelles et non fonctionnelles</a:t>
            </a:r>
          </a:p>
        </p:txBody>
      </p:sp>
      <p:grpSp>
        <p:nvGrpSpPr>
          <p:cNvPr name="Group 4" id="4"/>
          <p:cNvGrpSpPr/>
          <p:nvPr/>
        </p:nvGrpSpPr>
        <p:grpSpPr>
          <a:xfrm rot="0">
            <a:off x="-31071" y="0"/>
            <a:ext cx="4239083" cy="10287000"/>
            <a:chOff x="0" y="0"/>
            <a:chExt cx="5652111" cy="13716000"/>
          </a:xfrm>
        </p:grpSpPr>
        <p:grpSp>
          <p:nvGrpSpPr>
            <p:cNvPr name="Group 5" id="5"/>
            <p:cNvGrpSpPr/>
            <p:nvPr/>
          </p:nvGrpSpPr>
          <p:grpSpPr>
            <a:xfrm rot="0">
              <a:off x="2826056" y="0"/>
              <a:ext cx="2826056" cy="13716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1413028" y="0"/>
              <a:ext cx="2826056" cy="13716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0" y="0"/>
              <a:ext cx="2826056" cy="13716000"/>
              <a:chOff x="0" y="0"/>
              <a:chExt cx="558233" cy="2709333"/>
            </a:xfrm>
          </p:grpSpPr>
          <p:sp>
            <p:nvSpPr>
              <p:cNvPr name="Freeform 12" id="12"/>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3" id="13"/>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Freeform 14" id="14"/>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195534" y="447447"/>
            <a:ext cx="11954346"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BESOINS FONCTIONNELS</a:t>
            </a:r>
          </a:p>
        </p:txBody>
      </p:sp>
      <p:sp>
        <p:nvSpPr>
          <p:cNvPr name="AutoShape 3" id="3"/>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4" id="4"/>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9" id="9"/>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11</a:t>
              </a:r>
            </a:p>
          </p:txBody>
        </p:sp>
      </p:grpSp>
      <p:sp>
        <p:nvSpPr>
          <p:cNvPr name="Freeform 10" id="10"/>
          <p:cNvSpPr/>
          <p:nvPr/>
        </p:nvSpPr>
        <p:spPr>
          <a:xfrm flipH="false" flipV="false" rot="0">
            <a:off x="-2845001" y="24232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ns3:svgBlip r:embed="rId3"/>
                </a:ext>
              </a:extLst>
            </a:blip>
            <a:stretch>
              <a:fillRect l="0" t="0" r="0" b="0"/>
            </a:stretch>
          </a:blipFill>
        </p:spPr>
      </p:sp>
      <p:sp>
        <p:nvSpPr>
          <p:cNvPr name="Freeform 11" id="11"/>
          <p:cNvSpPr/>
          <p:nvPr/>
        </p:nvSpPr>
        <p:spPr>
          <a:xfrm flipH="false" flipV="false" rot="0">
            <a:off x="1609596" y="2254070"/>
            <a:ext cx="14540284" cy="6807198"/>
          </a:xfrm>
          <a:custGeom>
            <a:avLst/>
            <a:gdLst/>
            <a:ahLst/>
            <a:cxnLst/>
            <a:rect r="r" b="b" t="t" l="l"/>
            <a:pathLst>
              <a:path h="6807198" w="14540284">
                <a:moveTo>
                  <a:pt x="0" y="0"/>
                </a:moveTo>
                <a:lnTo>
                  <a:pt x="14540284" y="0"/>
                </a:lnTo>
                <a:lnTo>
                  <a:pt x="14540284" y="6807197"/>
                </a:lnTo>
                <a:lnTo>
                  <a:pt x="0" y="6807197"/>
                </a:lnTo>
                <a:lnTo>
                  <a:pt x="0" y="0"/>
                </a:lnTo>
                <a:close/>
              </a:path>
            </a:pathLst>
          </a:custGeom>
          <a:blipFill>
            <a:blip r:embed="rId4"/>
            <a:stretch>
              <a:fillRect l="-2162" t="0" r="-2162" b="0"/>
            </a:stretch>
          </a:blipFill>
        </p:spPr>
      </p:sp>
      <p:sp>
        <p:nvSpPr>
          <p:cNvPr id="12" name="TextBox 12"/>
          <p:cNvSpPr txBox="1"/>
          <p:nvPr/>
        </p:nvSpPr>
        <p:spPr>
          <a:xfrm>
            <a:off x="1450000" y="2320000"/>
            <a:ext cx="7600000" cy="6200000"/>
          </a:xfrm>
          <a:prstGeom prst="rect">
            <a:avLst/>
          </a:prstGeom>
          <a:noFill/>
          <a:ln>
            <a:noFill/>
          </a:ln>
        </p:spPr>
        <p:txBody>
          <a:bodyPr wrap="square" lIns="91440" rIns="91440" tIns="45720" bIns="45720">
            <a:spAutoFit/>
          </a:bodyPr>
          <a:lstStyle/>
          <a:p>
            <a:pPr algn="l">
              <a:buNone/>
            </a:pPr>
            <a:r>
              <a:rPr lang="fr-FR" sz="2300" b="1">
                <a:solidFill>
                  <a:srgbClr val="0F766E"/>
                </a:solidFill>
                <a:latin typeface="Aptos"/>
              </a:rPr>
              <a:t>Gestion du parc TPE</a:t>
            </a:r>
            <a:endParaRPr lang="fr-FR" sz="2300"/>
          </a:p>
          <a:p>
            <a:pPr algn="l" marL="342900" indent="-228600">
              <a:buChar char="•"/>
            </a:pPr>
            <a:r>
              <a:rPr lang="fr-FR" sz="1950">
                <a:solidFill>
                  <a:srgbClr val="1F2937"/>
                </a:solidFill>
                <a:latin typeface="Aptos"/>
              </a:rPr>
              <a:t>CRUD TPE physique et E-commerce</a:t>
            </a:r>
            <a:endParaRPr lang="fr-FR" sz="1950"/>
          </a:p>
          <a:p>
            <a:pPr algn="l" marL="342900" indent="-228600">
              <a:buChar char="•"/>
            </a:pPr>
            <a:r>
              <a:rPr lang="fr-FR" sz="1950">
                <a:solidFill>
                  <a:srgbClr val="1F2937"/>
                </a:solidFill>
                <a:latin typeface="Aptos"/>
              </a:rPr>
              <a:t>Statuts : disponible, réservé, affecté, panne, maintenance, hors service</a:t>
            </a:r>
            <a:endParaRPr lang="fr-FR" sz="1950"/>
          </a:p>
          <a:p>
            <a:pPr algn="l" marL="342900" indent="-228600">
              <a:buChar char="•"/>
            </a:pPr>
            <a:r>
              <a:rPr lang="fr-FR" sz="1950">
                <a:solidFill>
                  <a:srgbClr val="1F2937"/>
                </a:solidFill>
                <a:latin typeface="Aptos"/>
              </a:rPr>
              <a:t>Génération automatique du TID avec clé Luhn</a:t>
            </a:r>
            <a:endParaRPr lang="fr-FR" sz="1950"/>
          </a:p>
          <a:p>
            <a:pPr algn="l" marL="342900" indent="-228600">
              <a:buChar char="•"/>
            </a:pPr>
            <a:r>
              <a:rPr lang="fr-FR" sz="1950">
                <a:solidFill>
                  <a:srgbClr val="1F2937"/>
                </a:solidFill>
                <a:latin typeface="Aptos"/>
              </a:rPr>
              <a:t>Import massif et historique des changements</a:t>
            </a:r>
            <a:endParaRPr lang="fr-FR" sz="1950"/>
          </a:p>
          <a:p>
            <a:pPr algn="l">
              <a:buNone/>
            </a:pPr>
            <a:r>
              <a:rPr lang="fr-FR" sz="2300" b="1">
                <a:solidFill>
                  <a:srgbClr val="0F766E"/>
                </a:solidFill>
                <a:latin typeface="Aptos"/>
              </a:rPr>
              <a:t>Commerçants</a:t>
            </a:r>
            <a:endParaRPr lang="fr-FR" sz="2300"/>
          </a:p>
          <a:p>
            <a:pPr algn="l" marL="342900" indent="-228600">
              <a:buChar char="•"/>
            </a:pPr>
            <a:r>
              <a:rPr lang="fr-FR" sz="1950">
                <a:solidFill>
                  <a:srgbClr val="1F2937"/>
                </a:solidFill>
                <a:latin typeface="Aptos"/>
              </a:rPr>
              <a:t>Création, recherche, modification et suivi des TPE affectés</a:t>
            </a:r>
            <a:endParaRPr lang="fr-FR" sz="1950"/>
          </a:p>
        </p:txBody>
      </p:sp>
      <p:sp>
        <p:nvSpPr>
          <p:cNvPr id="13" name="TextBox 13"/>
          <p:cNvSpPr txBox="1"/>
          <p:nvPr/>
        </p:nvSpPr>
        <p:spPr>
          <a:xfrm>
            <a:off x="9600000" y="2320000"/>
            <a:ext cx="7600000" cy="6200000"/>
          </a:xfrm>
          <a:prstGeom prst="rect">
            <a:avLst/>
          </a:prstGeom>
          <a:noFill/>
          <a:ln>
            <a:noFill/>
          </a:ln>
        </p:spPr>
        <p:txBody>
          <a:bodyPr wrap="square" lIns="91440" rIns="91440" tIns="45720" bIns="45720">
            <a:spAutoFit/>
          </a:bodyPr>
          <a:lstStyle/>
          <a:p>
            <a:pPr algn="l">
              <a:buNone/>
            </a:pPr>
            <a:r>
              <a:rPr lang="fr-FR" sz="2300" b="1">
                <a:solidFill>
                  <a:srgbClr val="0F766E"/>
                </a:solidFill>
                <a:latin typeface="Aptos"/>
              </a:rPr>
              <a:t>Workflows métier</a:t>
            </a:r>
            <a:endParaRPr lang="fr-FR" sz="2300"/>
          </a:p>
          <a:p>
            <a:pPr algn="l" marL="342900" indent="-228600">
              <a:buChar char="•"/>
            </a:pPr>
            <a:r>
              <a:rPr lang="fr-FR" sz="1950">
                <a:solidFill>
                  <a:srgbClr val="1F2937"/>
                </a:solidFill>
                <a:latin typeface="Aptos"/>
              </a:rPr>
              <a:t>Demandes Agence : création, pièces jointes, validation monétique</a:t>
            </a:r>
            <a:endParaRPr lang="fr-FR" sz="1950"/>
          </a:p>
          <a:p>
            <a:pPr algn="l" marL="342900" indent="-228600">
              <a:buChar char="•"/>
            </a:pPr>
            <a:r>
              <a:rPr lang="fr-FR" sz="1950">
                <a:solidFill>
                  <a:srgbClr val="1F2937"/>
                </a:solidFill>
                <a:latin typeface="Aptos"/>
              </a:rPr>
              <a:t>Affectation TPE, mise en service et désaffectation</a:t>
            </a:r>
            <a:endParaRPr lang="fr-FR" sz="1950"/>
          </a:p>
          <a:p>
            <a:pPr algn="l" marL="342900" indent="-228600">
              <a:buChar char="•"/>
            </a:pPr>
            <a:r>
              <a:rPr lang="fr-FR" sz="1950">
                <a:solidFill>
                  <a:srgbClr val="1F2937"/>
                </a:solidFill>
                <a:latin typeface="Aptos"/>
              </a:rPr>
              <a:t>Pannes : déclaration, diagnostic, réparation, test, remplacement</a:t>
            </a:r>
            <a:endParaRPr lang="fr-FR" sz="1950"/>
          </a:p>
          <a:p>
            <a:pPr algn="l" marL="342900" indent="-228600">
              <a:buChar char="•"/>
            </a:pPr>
            <a:r>
              <a:rPr lang="fr-FR" sz="1950">
                <a:solidFill>
                  <a:srgbClr val="1F2937"/>
                </a:solidFill>
                <a:latin typeface="Aptos"/>
              </a:rPr>
              <a:t>Taux : saisie Inputer, validation Authorizer et règle 4 yeux</a:t>
            </a:r>
            <a:endParaRPr lang="fr-FR" sz="1950"/>
          </a:p>
          <a:p>
            <a:pPr algn="l">
              <a:buNone/>
            </a:pPr>
            <a:r>
              <a:rPr lang="fr-FR" sz="2300" b="1">
                <a:solidFill>
                  <a:srgbClr val="0F766E"/>
                </a:solidFill>
                <a:latin typeface="Aptos"/>
              </a:rPr>
              <a:t>Reporting</a:t>
            </a:r>
            <a:endParaRPr lang="fr-FR" sz="2300"/>
          </a:p>
          <a:p>
            <a:pPr algn="l" marL="342900" indent="-228600">
              <a:buChar char="•"/>
            </a:pPr>
            <a:r>
              <a:rPr lang="fr-FR" sz="1950">
                <a:solidFill>
                  <a:srgbClr val="1F2937"/>
                </a:solidFill>
                <a:latin typeface="Aptos"/>
              </a:rPr>
              <a:t>Dashboards, KPI, export, fichier bancaire et écritures comptables</a:t>
            </a:r>
            <a:endParaRPr lang="fr-FR" sz="1950"/>
          </a:p>
        </p:txBody>
      </p:sp>
    </p:spTree>
  </p:cSld>
  <p:clrMapOvr>
    <a:masterClrMapping/>
  </p:clrMapOvr>
</p:sld>
</file>

<file path=ppt/slides/slide12.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627362" y="0"/>
            <a:ext cx="937061" cy="10287000"/>
            <a:chOff x="0" y="0"/>
            <a:chExt cx="246798" cy="2709333"/>
          </a:xfrm>
        </p:grpSpPr>
        <p:sp>
          <p:nvSpPr>
            <p:cNvPr name="Freeform 3" id="3"/>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4" id="4"/>
            <p:cNvSpPr txBox="true"/>
            <p:nvPr/>
          </p:nvSpPr>
          <p:spPr>
            <a:xfrm>
              <a:off x="0" y="-38100"/>
              <a:ext cx="246798" cy="2747433"/>
            </a:xfrm>
            <a:prstGeom prst="rect">
              <a:avLst/>
            </a:prstGeom>
          </p:spPr>
          <p:txBody>
            <a:bodyPr anchor="ctr" rtlCol="false" tIns="50800" lIns="50800" bIns="50800" rIns="50800"/>
            <a:lstStyle/>
            <a:p>
              <a:pPr algn="ctr" marL="0" indent="0" lvl="0">
                <a:lnSpc>
                  <a:spcPts val="2659"/>
                </a:lnSpc>
              </a:pPr>
            </a:p>
          </p:txBody>
        </p:sp>
      </p:grpSp>
      <p:sp>
        <p:nvSpPr>
          <p:cNvPr name="AutoShape 5" id="5"/>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6" id="6"/>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7" id="7"/>
          <p:cNvGrpSpPr/>
          <p:nvPr/>
        </p:nvGrpSpPr>
        <p:grpSpPr>
          <a:xfrm rot="0">
            <a:off x="15859155"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0" y="447107"/>
              <a:ext cx="2083482" cy="1192854"/>
            </a:xfrm>
            <a:prstGeom prst="rect">
              <a:avLst/>
            </a:prstGeom>
          </p:spPr>
          <p:txBody>
            <a:bodyPr anchor="t" rtlCol="false" tIns="0" lIns="0" bIns="0" rIns="0">
              <a:spAutoFit/>
            </a:bodyPr>
            <a:lstStyle/>
            <a:p>
              <a:pPr algn="ctr" marL="0" indent="0" lvl="0">
                <a:lnSpc>
                  <a:spcPts val="7513"/>
                </a:lnSpc>
              </a:pPr>
              <a:r>
                <a:rPr lang="en-US" b="true" sz="5366">
                  <a:solidFill>
                    <a:srgbClr val="000000"/>
                  </a:solidFill>
                  <a:latin typeface="Open Sans Bold"/>
                  <a:ea typeface="Open Sans Bold"/>
                  <a:cs typeface="Open Sans Bold"/>
                  <a:sym typeface="Open Sans Bold"/>
                </a:rPr>
                <a:t>12</a:t>
              </a:r>
            </a:p>
          </p:txBody>
        </p:sp>
      </p:grpSp>
      <p:sp>
        <p:nvSpPr>
          <p:cNvPr name="Freeform 12" id="12"/>
          <p:cNvSpPr/>
          <p:nvPr/>
        </p:nvSpPr>
        <p:spPr>
          <a:xfrm flipH="false" flipV="false" rot="0">
            <a:off x="1263762" y="-145860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Freeform 13" id="13"/>
          <p:cNvSpPr/>
          <p:nvPr/>
        </p:nvSpPr>
        <p:spPr>
          <a:xfrm flipH="false" flipV="false" rot="0">
            <a:off x="1291328" y="2492710"/>
            <a:ext cx="16446395" cy="7585900"/>
          </a:xfrm>
          <a:custGeom>
            <a:avLst/>
            <a:gdLst/>
            <a:ahLst/>
            <a:cxnLst/>
            <a:rect r="r" b="b" t="t" l="l"/>
            <a:pathLst>
              <a:path h="7585900" w="16446395">
                <a:moveTo>
                  <a:pt x="0" y="0"/>
                </a:moveTo>
                <a:lnTo>
                  <a:pt x="16446395" y="0"/>
                </a:lnTo>
                <a:lnTo>
                  <a:pt x="16446395" y="7585900"/>
                </a:lnTo>
                <a:lnTo>
                  <a:pt x="0" y="7585900"/>
                </a:lnTo>
                <a:lnTo>
                  <a:pt x="0" y="0"/>
                </a:lnTo>
                <a:close/>
              </a:path>
            </a:pathLst>
          </a:custGeom>
          <a:blipFill>
            <a:blip r:embed="rId4"/>
            <a:stretch>
              <a:fillRect l="0" t="0" r="0" b="0"/>
            </a:stretch>
          </a:blipFill>
        </p:spPr>
      </p:sp>
      <p:sp>
        <p:nvSpPr>
          <p:cNvPr name="TextBox 14" id="14"/>
          <p:cNvSpPr txBox="true"/>
          <p:nvPr/>
        </p:nvSpPr>
        <p:spPr>
          <a:xfrm rot="0">
            <a:off x="2553980" y="866775"/>
            <a:ext cx="13180039" cy="1401888"/>
          </a:xfrm>
          <a:prstGeom prst="rect">
            <a:avLst/>
          </a:prstGeom>
        </p:spPr>
        <p:txBody>
          <a:bodyPr anchor="t" rtlCol="false" tIns="0" lIns="0" bIns="0" rIns="0">
            <a:spAutoFit/>
          </a:bodyPr>
          <a:lstStyle/>
          <a:p>
            <a:pPr algn="ctr" marL="0" indent="0" lvl="0">
              <a:lnSpc>
                <a:spcPts val="11455"/>
              </a:lnSpc>
            </a:pPr>
            <a:r>
              <a:rPr lang="en-US" sz="8182">
                <a:solidFill>
                  <a:srgbClr val="000000"/>
                </a:solidFill>
                <a:latin typeface="Alatsi"/>
                <a:ea typeface="Alatsi"/>
                <a:cs typeface="Alatsi"/>
                <a:sym typeface="Alatsi"/>
              </a:rPr>
              <a:t>BESOINS NON FONCTIONNELS</a:t>
            </a:r>
          </a:p>
        </p:txBody>
      </p:sp>
      <p:sp>
        <p:nvSpPr>
          <p:cNvPr id="15" name="TextBox 15"/>
          <p:cNvSpPr txBox="1"/>
          <p:nvPr/>
        </p:nvSpPr>
        <p:spPr>
          <a:xfrm>
            <a:off x="1450000" y="2320000"/>
            <a:ext cx="7600000" cy="6200000"/>
          </a:xfrm>
          <a:prstGeom prst="rect">
            <a:avLst/>
          </a:prstGeom>
          <a:noFill/>
          <a:ln>
            <a:noFill/>
          </a:ln>
        </p:spPr>
        <p:txBody>
          <a:bodyPr wrap="square" lIns="91440" rIns="91440" tIns="45720" bIns="45720">
            <a:spAutoFit/>
          </a:bodyPr>
          <a:lstStyle/>
          <a:p>
            <a:pPr algn="l">
              <a:buNone/>
            </a:pPr>
            <a:r>
              <a:rPr lang="fr-FR" sz="2300" b="1">
                <a:solidFill>
                  <a:srgbClr val="7C2D12"/>
                </a:solidFill>
                <a:latin typeface="Aptos"/>
              </a:rPr>
              <a:t>Sécurité</a:t>
            </a:r>
            <a:endParaRPr lang="fr-FR" sz="2300"/>
          </a:p>
          <a:p>
            <a:pPr algn="l" marL="342900" indent="-228600">
              <a:buChar char="•"/>
            </a:pPr>
            <a:r>
              <a:rPr lang="fr-FR" sz="1950">
                <a:solidFill>
                  <a:srgbClr val="1F2937"/>
                </a:solidFill>
                <a:latin typeface="Aptos"/>
              </a:rPr>
              <a:t>Authentification JWT et contrôle d’accès par rôles</a:t>
            </a:r>
            <a:endParaRPr lang="fr-FR" sz="1950"/>
          </a:p>
          <a:p>
            <a:pPr algn="l" marL="342900" indent="-228600">
              <a:buChar char="•"/>
            </a:pPr>
            <a:r>
              <a:rPr lang="fr-FR" sz="1950">
                <a:solidFill>
                  <a:srgbClr val="1F2937"/>
                </a:solidFill>
                <a:latin typeface="Aptos"/>
              </a:rPr>
              <a:t>Permissions granulaires par écran et par profil utilisateur</a:t>
            </a:r>
            <a:endParaRPr lang="fr-FR" sz="1950"/>
          </a:p>
          <a:p>
            <a:pPr algn="l" marL="342900" indent="-228600">
              <a:buChar char="•"/>
            </a:pPr>
            <a:r>
              <a:rPr lang="fr-FR" sz="1950">
                <a:solidFill>
                  <a:srgbClr val="1F2937"/>
                </a:solidFill>
                <a:latin typeface="Aptos"/>
              </a:rPr>
              <a:t>Règle 4 yeux pour les taux et validations sensibles</a:t>
            </a:r>
            <a:endParaRPr lang="fr-FR" sz="1950"/>
          </a:p>
          <a:p>
            <a:pPr algn="l">
              <a:buNone/>
            </a:pPr>
            <a:r>
              <a:rPr lang="fr-FR" sz="2300" b="1">
                <a:solidFill>
                  <a:srgbClr val="7C2D12"/>
                </a:solidFill>
                <a:latin typeface="Aptos"/>
              </a:rPr>
              <a:t>Audit et traçabilité</a:t>
            </a:r>
            <a:endParaRPr lang="fr-FR" sz="2300"/>
          </a:p>
          <a:p>
            <a:pPr algn="l" marL="342900" indent="-228600">
              <a:buChar char="•"/>
            </a:pPr>
            <a:r>
              <a:rPr lang="fr-FR" sz="1950">
                <a:solidFill>
                  <a:srgbClr val="1F2937"/>
                </a:solidFill>
                <a:latin typeface="Aptos"/>
              </a:rPr>
              <a:t>Journalisation des actions : qui, quoi, quand, résultat</a:t>
            </a:r>
            <a:endParaRPr lang="fr-FR" sz="1950"/>
          </a:p>
        </p:txBody>
      </p:sp>
      <p:sp>
        <p:nvSpPr>
          <p:cNvPr id="16" name="TextBox 16"/>
          <p:cNvSpPr txBox="1"/>
          <p:nvPr/>
        </p:nvSpPr>
        <p:spPr>
          <a:xfrm>
            <a:off x="9600000" y="2320000"/>
            <a:ext cx="7600000" cy="6200000"/>
          </a:xfrm>
          <a:prstGeom prst="rect">
            <a:avLst/>
          </a:prstGeom>
          <a:noFill/>
          <a:ln>
            <a:noFill/>
          </a:ln>
        </p:spPr>
        <p:txBody>
          <a:bodyPr wrap="square" lIns="91440" rIns="91440" tIns="45720" bIns="45720">
            <a:spAutoFit/>
          </a:bodyPr>
          <a:lstStyle/>
          <a:p>
            <a:pPr algn="l">
              <a:buNone/>
            </a:pPr>
            <a:r>
              <a:rPr lang="fr-FR" sz="2300" b="1">
                <a:solidFill>
                  <a:srgbClr val="7C2D12"/>
                </a:solidFill>
                <a:latin typeface="Aptos"/>
              </a:rPr>
              <a:t>Qualité logicielle</a:t>
            </a:r>
            <a:endParaRPr lang="fr-FR" sz="2300"/>
          </a:p>
          <a:p>
            <a:pPr algn="l" marL="342900" indent="-228600">
              <a:buChar char="•"/>
            </a:pPr>
            <a:r>
              <a:rPr lang="fr-FR" sz="1950">
                <a:solidFill>
                  <a:srgbClr val="1F2937"/>
                </a:solidFill>
                <a:latin typeface="Aptos"/>
              </a:rPr>
              <a:t>Architecture en couches : controller, service, repository, DTO, entity</a:t>
            </a:r>
            <a:endParaRPr lang="fr-FR" sz="1950"/>
          </a:p>
          <a:p>
            <a:pPr algn="l" marL="342900" indent="-228600">
              <a:buChar char="•"/>
            </a:pPr>
            <a:r>
              <a:rPr lang="fr-FR" sz="1950">
                <a:solidFill>
                  <a:srgbClr val="1F2937"/>
                </a:solidFill>
                <a:latin typeface="Aptos"/>
              </a:rPr>
              <a:t>Validation des données, gestion centralisée des exceptions</a:t>
            </a:r>
            <a:endParaRPr lang="fr-FR" sz="1950"/>
          </a:p>
          <a:p>
            <a:pPr algn="l" marL="342900" indent="-228600">
              <a:buChar char="•"/>
            </a:pPr>
            <a:r>
              <a:rPr lang="fr-FR" sz="1950">
                <a:solidFill>
                  <a:srgbClr val="1F2937"/>
                </a:solidFill>
                <a:latin typeface="Aptos"/>
              </a:rPr>
              <a:t>Maintenabilité via composants Angular et services REST</a:t>
            </a:r>
            <a:endParaRPr lang="fr-FR" sz="1950"/>
          </a:p>
          <a:p>
            <a:pPr algn="l">
              <a:buNone/>
            </a:pPr>
            <a:r>
              <a:rPr lang="fr-FR" sz="2300" b="1">
                <a:solidFill>
                  <a:srgbClr val="7C2D12"/>
                </a:solidFill>
                <a:latin typeface="Aptos"/>
              </a:rPr>
              <a:t>Performance et disponibilité</a:t>
            </a:r>
            <a:endParaRPr lang="fr-FR" sz="2300"/>
          </a:p>
          <a:p>
            <a:pPr algn="l" marL="342900" indent="-228600">
              <a:buChar char="•"/>
            </a:pPr>
            <a:r>
              <a:rPr lang="fr-FR" sz="1950">
                <a:solidFill>
                  <a:srgbClr val="1F2937"/>
                </a:solidFill>
                <a:latin typeface="Aptos"/>
              </a:rPr>
              <a:t>Pagination, recherche, indicateurs temps réel et suivi des SLA</a:t>
            </a:r>
            <a:endParaRPr lang="fr-FR" sz="1950"/>
          </a:p>
          <a:p>
            <a:pPr algn="l" marL="342900" indent="-228600">
              <a:buChar char="•"/>
            </a:pPr>
            <a:r>
              <a:rPr lang="fr-FR" sz="1950">
                <a:solidFill>
                  <a:srgbClr val="1F2937"/>
                </a:solidFill>
                <a:latin typeface="Aptos"/>
              </a:rPr>
              <a:t>Documentation Swagger/OpenAPI et tests automatisés</a:t>
            </a:r>
            <a:endParaRPr lang="fr-FR" sz="195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554977" y="3748035"/>
            <a:ext cx="11627497" cy="2506596"/>
          </a:xfrm>
          <a:prstGeom prst="rect">
            <a:avLst/>
          </a:prstGeom>
        </p:spPr>
        <p:txBody>
          <a:bodyPr anchor="t" rtlCol="false" tIns="0" lIns="0" bIns="0" rIns="0">
            <a:spAutoFit/>
          </a:bodyPr>
          <a:lstStyle/>
          <a:p>
            <a:pPr algn="ctr" marL="0" indent="0" lvl="0">
              <a:lnSpc>
                <a:spcPts val="20559"/>
              </a:lnSpc>
            </a:pPr>
            <a:r>
              <a:rPr lang="en-US" sz="14685">
                <a:solidFill>
                  <a:srgbClr val="000000"/>
                </a:solidFill>
                <a:latin typeface="Alatsi"/>
                <a:ea typeface="Alatsi"/>
                <a:cs typeface="Alatsi"/>
                <a:sym typeface="Alatsi"/>
              </a:rPr>
              <a:t>CONCEPTION</a:t>
            </a:r>
          </a:p>
        </p:txBody>
      </p:sp>
      <p:sp>
        <p:nvSpPr>
          <p:cNvPr name="TextBox 3" id="3"/>
          <p:cNvSpPr txBox="true"/>
          <p:nvPr/>
        </p:nvSpPr>
        <p:spPr>
          <a:xfrm rot="0">
            <a:off x="5033857" y="6762653"/>
            <a:ext cx="10669737" cy="679727"/>
          </a:xfrm>
          <a:prstGeom prst="rect">
            <a:avLst/>
          </a:prstGeom>
        </p:spPr>
        <p:txBody>
          <a:bodyPr anchor="t" rtlCol="false" tIns="0" lIns="0" bIns="0" rIns="0">
            <a:spAutoFit/>
          </a:bodyPr>
          <a:lstStyle/>
          <a:p>
            <a:pPr algn="ctr" marL="0" indent="0" lvl="0">
              <a:lnSpc>
                <a:spcPts val="5547"/>
              </a:lnSpc>
            </a:pPr>
            <a:r>
              <a:rPr lang="en-US" sz="3962">
                <a:solidFill>
                  <a:srgbClr val="000000"/>
                </a:solidFill>
                <a:latin typeface="Alatsi"/>
                <a:ea typeface="Alatsi"/>
                <a:cs typeface="Alatsi"/>
                <a:sym typeface="Alatsi"/>
              </a:rPr>
              <a:t>Architecture et Méthodologie de Développement</a:t>
            </a:r>
          </a:p>
        </p:txBody>
      </p:sp>
      <p:grpSp>
        <p:nvGrpSpPr>
          <p:cNvPr name="Group 4" id="4"/>
          <p:cNvGrpSpPr/>
          <p:nvPr/>
        </p:nvGrpSpPr>
        <p:grpSpPr>
          <a:xfrm rot="0">
            <a:off x="-31071" y="0"/>
            <a:ext cx="4239083" cy="10287000"/>
            <a:chOff x="0" y="0"/>
            <a:chExt cx="5652111" cy="13716000"/>
          </a:xfrm>
        </p:grpSpPr>
        <p:grpSp>
          <p:nvGrpSpPr>
            <p:cNvPr name="Group 5" id="5"/>
            <p:cNvGrpSpPr/>
            <p:nvPr/>
          </p:nvGrpSpPr>
          <p:grpSpPr>
            <a:xfrm rot="0">
              <a:off x="2826056" y="0"/>
              <a:ext cx="2826056" cy="13716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1413028" y="0"/>
              <a:ext cx="2826056" cy="13716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0" y="0"/>
              <a:ext cx="2826056" cy="13716000"/>
              <a:chOff x="0" y="0"/>
              <a:chExt cx="558233" cy="2709333"/>
            </a:xfrm>
          </p:grpSpPr>
          <p:sp>
            <p:nvSpPr>
              <p:cNvPr name="Freeform 12" id="12"/>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3" id="13"/>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Freeform 14" id="14"/>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4.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212451" y="281934"/>
            <a:ext cx="11986690" cy="1324876"/>
          </a:xfrm>
          <a:prstGeom prst="rect">
            <a:avLst/>
          </a:prstGeom>
        </p:spPr>
        <p:txBody>
          <a:bodyPr anchor="t" rtlCol="false" tIns="0" lIns="0" bIns="0" rIns="0">
            <a:spAutoFit/>
          </a:bodyPr>
          <a:lstStyle/>
          <a:p>
            <a:pPr algn="ctr" marL="0" indent="0" lvl="0">
              <a:lnSpc>
                <a:spcPts val="10814"/>
              </a:lnSpc>
            </a:pPr>
            <a:r>
              <a:rPr lang="en-US" sz="7724">
                <a:solidFill>
                  <a:srgbClr val="000000"/>
                </a:solidFill>
                <a:latin typeface="Alatsi"/>
                <a:ea typeface="Alatsi"/>
                <a:cs typeface="Alatsi"/>
                <a:sym typeface="Alatsi"/>
              </a:rPr>
              <a:t>TECHNOLOGIES UTILISÉES</a:t>
            </a:r>
          </a:p>
        </p:txBody>
      </p:sp>
      <p:sp>
        <p:nvSpPr>
          <p:cNvPr name="AutoShape 3" id="3"/>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4" id="4"/>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9" id="9"/>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13</a:t>
              </a:r>
            </a:p>
          </p:txBody>
        </p:sp>
      </p:grpSp>
      <p:sp>
        <p:nvSpPr>
          <p:cNvPr name="Freeform 10" id="10"/>
          <p:cNvSpPr/>
          <p:nvPr/>
        </p:nvSpPr>
        <p:spPr>
          <a:xfrm flipH="false" flipV="false" rot="0">
            <a:off x="-2845001" y="434334"/>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Freeform 11" id="11"/>
          <p:cNvSpPr/>
          <p:nvPr/>
        </p:nvSpPr>
        <p:spPr>
          <a:xfrm flipH="false" flipV="false" rot="0">
            <a:off x="3074761" y="1926643"/>
            <a:ext cx="13853474" cy="6824058"/>
          </a:xfrm>
          <a:custGeom>
            <a:avLst/>
            <a:gdLst/>
            <a:ahLst/>
            <a:cxnLst/>
            <a:rect r="r" b="b" t="t" l="l"/>
            <a:pathLst>
              <a:path h="6824058" w="13853474">
                <a:moveTo>
                  <a:pt x="0" y="0"/>
                </a:moveTo>
                <a:lnTo>
                  <a:pt x="13853474" y="0"/>
                </a:lnTo>
                <a:lnTo>
                  <a:pt x="13853474" y="6824057"/>
                </a:lnTo>
                <a:lnTo>
                  <a:pt x="0" y="6824057"/>
                </a:lnTo>
                <a:lnTo>
                  <a:pt x="0" y="0"/>
                </a:lnTo>
                <a:close/>
              </a:path>
            </a:pathLst>
          </a:custGeom>
          <a:blipFill>
            <a:blip r:embed="rId4"/>
            <a:stretch>
              <a:fillRect l="-1991" t="-13122" r="0" b="-2567"/>
            </a:stretch>
          </a:blipFill>
        </p:spPr>
      </p:sp>
      <p:sp>
        <p:nvSpPr>
          <p:cNvPr id="12" name="TextBox 12"/>
          <p:cNvSpPr txBox="1"/>
          <p:nvPr/>
        </p:nvSpPr>
        <p:spPr>
          <a:xfrm>
            <a:off x="1350000" y="8750000"/>
            <a:ext cx="15700000" cy="850000"/>
          </a:xfrm>
          <a:prstGeom prst="rect">
            <a:avLst/>
          </a:prstGeom>
          <a:noFill/>
          <a:ln>
            <a:noFill/>
          </a:ln>
        </p:spPr>
        <p:txBody>
          <a:bodyPr wrap="square" lIns="91440" rIns="91440" tIns="45720" bIns="45720">
            <a:spAutoFit/>
          </a:bodyPr>
          <a:lstStyle/>
          <a:p>
            <a:pPr algn="l">
              <a:buNone/>
            </a:pPr>
            <a:r>
              <a:rPr lang="fr-FR" sz="1550" b="1">
                <a:solidFill>
                  <a:srgbClr val="111827"/>
                </a:solidFill>
                <a:latin typeface="Aptos"/>
              </a:rPr>
              <a:t>Backend : Java 17, Spring Boot 3.2, Spring Security/JWT, JPA/Hibernate  |  Frontend : Angular 14, TypeScript, RxJS, Material Dashboard</a:t>
            </a:r>
            <a:endParaRPr lang="fr-FR" sz="1550"/>
          </a:p>
          <a:p>
            <a:pPr algn="l">
              <a:buNone/>
            </a:pPr>
            <a:r>
              <a:rPr lang="fr-FR" sz="1550">
                <a:solidFill>
                  <a:srgbClr val="374151"/>
                </a:solidFill>
                <a:latin typeface="Aptos"/>
              </a:rPr>
              <a:t>Données et intégrations : SQL Server, Apache POI, iText PDF, Swagger/OpenAPI, Power BI, Chart.js/Chartist</a:t>
            </a:r>
            <a:endParaRPr lang="fr-FR" sz="155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3" id="3"/>
          <p:cNvSpPr/>
          <p:nvPr/>
        </p:nvSpPr>
        <p:spPr>
          <a:xfrm>
            <a:off x="11430169" y="9061267"/>
            <a:ext cx="7105264" cy="19050"/>
          </a:xfrm>
          <a:prstGeom prst="line">
            <a:avLst/>
          </a:prstGeom>
          <a:ln cap="flat" w="114300">
            <a:solidFill>
              <a:srgbClr val="9FC3D0"/>
            </a:solidFill>
            <a:prstDash val="solid"/>
            <a:headEnd type="none" len="sm" w="sm"/>
            <a:tailEnd type="none" len="sm" w="sm"/>
          </a:ln>
        </p:spPr>
      </p:sp>
      <p:sp>
        <p:nvSpPr>
          <p:cNvPr name="Freeform 4" id="4"/>
          <p:cNvSpPr/>
          <p:nvPr/>
        </p:nvSpPr>
        <p:spPr>
          <a:xfrm flipH="false" flipV="false" rot="0">
            <a:off x="12982861" y="593323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3549373" y="-123890"/>
            <a:ext cx="12709263" cy="1405079"/>
          </a:xfrm>
          <a:prstGeom prst="rect">
            <a:avLst/>
          </a:prstGeom>
        </p:spPr>
        <p:txBody>
          <a:bodyPr anchor="t" rtlCol="false" tIns="0" lIns="0" bIns="0" rIns="0">
            <a:spAutoFit/>
          </a:bodyPr>
          <a:lstStyle/>
          <a:p>
            <a:pPr algn="ctr" marL="0" indent="0" lvl="0">
              <a:lnSpc>
                <a:spcPts val="11466"/>
              </a:lnSpc>
            </a:pPr>
            <a:r>
              <a:rPr lang="en-US" sz="8190">
                <a:solidFill>
                  <a:srgbClr val="000000"/>
                </a:solidFill>
                <a:latin typeface="Alatsi"/>
                <a:ea typeface="Alatsi"/>
                <a:cs typeface="Alatsi"/>
                <a:sym typeface="Alatsi"/>
              </a:rPr>
              <a:t>ARCHITECTURE PHYSIQUE</a:t>
            </a:r>
          </a:p>
        </p:txBody>
      </p:sp>
      <p:grpSp>
        <p:nvGrpSpPr>
          <p:cNvPr name="Group 6" id="6"/>
          <p:cNvGrpSpPr/>
          <p:nvPr/>
        </p:nvGrpSpPr>
        <p:grpSpPr>
          <a:xfrm rot="0">
            <a:off x="15859155" y="0"/>
            <a:ext cx="1562612" cy="1673225"/>
            <a:chOff x="0" y="0"/>
            <a:chExt cx="2083482" cy="2230967"/>
          </a:xfrm>
        </p:grpSpPr>
        <p:grpSp>
          <p:nvGrpSpPr>
            <p:cNvPr name="Group 7" id="7"/>
            <p:cNvGrpSpPr/>
            <p:nvPr/>
          </p:nvGrpSpPr>
          <p:grpSpPr>
            <a:xfrm rot="0">
              <a:off x="75599" y="0"/>
              <a:ext cx="1932284" cy="2230967"/>
              <a:chOff x="0" y="0"/>
              <a:chExt cx="703982" cy="812800"/>
            </a:xfrm>
          </p:grpSpPr>
          <p:sp>
            <p:nvSpPr>
              <p:cNvPr name="Freeform 8" id="8"/>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9" id="9"/>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0" id="10"/>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14</a:t>
              </a:r>
            </a:p>
          </p:txBody>
        </p:sp>
      </p:grpSp>
      <p:sp>
        <p:nvSpPr>
          <p:cNvPr name="Freeform 11" id="11"/>
          <p:cNvSpPr/>
          <p:nvPr/>
        </p:nvSpPr>
        <p:spPr>
          <a:xfrm flipH="false" flipV="false" rot="0">
            <a:off x="-3482681"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2987500" y="1540685"/>
            <a:ext cx="12313000" cy="7205631"/>
          </a:xfrm>
          <a:custGeom>
            <a:avLst/>
            <a:gdLst/>
            <a:ahLst/>
            <a:cxnLst/>
            <a:rect r="r" b="b" t="t" l="l"/>
            <a:pathLst>
              <a:path h="7205631" w="12313000">
                <a:moveTo>
                  <a:pt x="0" y="0"/>
                </a:moveTo>
                <a:lnTo>
                  <a:pt x="12313000" y="0"/>
                </a:lnTo>
                <a:lnTo>
                  <a:pt x="12313000" y="7205630"/>
                </a:lnTo>
                <a:lnTo>
                  <a:pt x="0" y="7205630"/>
                </a:lnTo>
                <a:lnTo>
                  <a:pt x="0" y="0"/>
                </a:lnTo>
                <a:close/>
              </a:path>
            </a:pathLst>
          </a:custGeom>
          <a:blipFill>
            <a:blip r:embed="rId4"/>
            <a:stretch>
              <a:fillRect l="0" t="-13848"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3" id="3"/>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15</a:t>
              </a:r>
            </a:p>
          </p:txBody>
        </p:sp>
      </p:grpSp>
      <p:sp>
        <p:nvSpPr>
          <p:cNvPr name="TextBox 9" id="9"/>
          <p:cNvSpPr txBox="true"/>
          <p:nvPr/>
        </p:nvSpPr>
        <p:spPr>
          <a:xfrm rot="0">
            <a:off x="4592227" y="230913"/>
            <a:ext cx="12048234" cy="1330896"/>
          </a:xfrm>
          <a:prstGeom prst="rect">
            <a:avLst/>
          </a:prstGeom>
        </p:spPr>
        <p:txBody>
          <a:bodyPr anchor="t" rtlCol="false" tIns="0" lIns="0" bIns="0" rIns="0">
            <a:spAutoFit/>
          </a:bodyPr>
          <a:lstStyle/>
          <a:p>
            <a:pPr algn="ctr" marL="0" indent="0" lvl="0">
              <a:lnSpc>
                <a:spcPts val="10870"/>
              </a:lnSpc>
            </a:pPr>
            <a:r>
              <a:rPr lang="en-US" sz="7764">
                <a:solidFill>
                  <a:srgbClr val="000000"/>
                </a:solidFill>
                <a:latin typeface="Alatsi"/>
                <a:ea typeface="Alatsi"/>
                <a:cs typeface="Alatsi"/>
                <a:sym typeface="Alatsi"/>
              </a:rPr>
              <a:t>ARCHITECTURE LOGIQUE</a:t>
            </a:r>
          </a:p>
        </p:txBody>
      </p:sp>
      <p:sp>
        <p:nvSpPr>
          <p:cNvPr name="Freeform 10" id="10"/>
          <p:cNvSpPr/>
          <p:nvPr/>
        </p:nvSpPr>
        <p:spPr>
          <a:xfrm flipH="false" flipV="false" rot="0">
            <a:off x="14982801" y="637964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64890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4303223" y="1673225"/>
            <a:ext cx="11182251" cy="7129940"/>
          </a:xfrm>
          <a:custGeom>
            <a:avLst/>
            <a:gdLst/>
            <a:ahLst/>
            <a:cxnLst/>
            <a:rect r="r" b="b" t="t" l="l"/>
            <a:pathLst>
              <a:path h="7129940" w="11182251">
                <a:moveTo>
                  <a:pt x="0" y="0"/>
                </a:moveTo>
                <a:lnTo>
                  <a:pt x="11182251" y="0"/>
                </a:lnTo>
                <a:lnTo>
                  <a:pt x="11182251" y="7129940"/>
                </a:lnTo>
                <a:lnTo>
                  <a:pt x="0" y="7129940"/>
                </a:lnTo>
                <a:lnTo>
                  <a:pt x="0" y="0"/>
                </a:lnTo>
                <a:close/>
              </a:path>
            </a:pathLst>
          </a:custGeom>
          <a:blipFill>
            <a:blip r:embed="rId4"/>
            <a:stretch>
              <a:fillRect l="-1599" t="-6053" r="-302" b="-425"/>
            </a:stretch>
          </a:blipFill>
        </p:spPr>
      </p:sp>
    </p:spTree>
  </p:cSld>
  <p:clrMapOvr>
    <a:masterClrMapping/>
  </p:clrMapOvr>
</p:sld>
</file>

<file path=ppt/slides/slide17.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3" id="3"/>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16</a:t>
              </a:r>
            </a:p>
          </p:txBody>
        </p:sp>
      </p:grpSp>
      <p:sp>
        <p:nvSpPr>
          <p:cNvPr name="Freeform 9" id="9"/>
          <p:cNvSpPr/>
          <p:nvPr/>
        </p:nvSpPr>
        <p:spPr>
          <a:xfrm flipH="false" flipV="false" rot="0">
            <a:off x="-1105593" y="-1343416"/>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Freeform 10" id="10"/>
          <p:cNvSpPr/>
          <p:nvPr/>
        </p:nvSpPr>
        <p:spPr>
          <a:xfrm flipH="false" flipV="false" rot="0">
            <a:off x="1713620" y="4476188"/>
            <a:ext cx="15708147" cy="5262229"/>
          </a:xfrm>
          <a:custGeom>
            <a:avLst/>
            <a:gdLst/>
            <a:ahLst/>
            <a:cxnLst/>
            <a:rect r="r" b="b" t="t" l="l"/>
            <a:pathLst>
              <a:path h="5262229" w="15708147">
                <a:moveTo>
                  <a:pt x="0" y="0"/>
                </a:moveTo>
                <a:lnTo>
                  <a:pt x="15708147" y="0"/>
                </a:lnTo>
                <a:lnTo>
                  <a:pt x="15708147" y="5262229"/>
                </a:lnTo>
                <a:lnTo>
                  <a:pt x="0" y="5262229"/>
                </a:lnTo>
                <a:lnTo>
                  <a:pt x="0" y="0"/>
                </a:lnTo>
                <a:close/>
              </a:path>
            </a:pathLst>
          </a:custGeom>
          <a:blipFill>
            <a:blip r:embed="rId4"/>
            <a:stretch>
              <a:fillRect l="0" t="0" r="0" b="0"/>
            </a:stretch>
          </a:blipFill>
        </p:spPr>
      </p:sp>
      <p:sp>
        <p:nvSpPr>
          <p:cNvPr name="TextBox 11" id="11"/>
          <p:cNvSpPr txBox="true"/>
          <p:nvPr/>
        </p:nvSpPr>
        <p:spPr>
          <a:xfrm rot="0">
            <a:off x="2376099" y="914400"/>
            <a:ext cx="13535803" cy="1975834"/>
          </a:xfrm>
          <a:prstGeom prst="rect">
            <a:avLst/>
          </a:prstGeom>
        </p:spPr>
        <p:txBody>
          <a:bodyPr wrap="square" lIns="91440" rIns="91440" tIns="45720" bIns="45720">
            <a:spAutoFit/>
          </a:bodyPr>
          <a:lstStyle/>
          <a:p>
            <a:pPr algn="c">
              <a:buNone/>
            </a:pPr>
            <a:r>
              <a:rPr lang="fr-FR" sz="3100" b="1">
                <a:solidFill>
                  <a:srgbClr val="111827"/>
                </a:solidFill>
                <a:latin typeface="Aptos"/>
              </a:rPr>
              <a:t>MÉTHODOLOGIE ADOPTÉE</a:t>
            </a:r>
            <a:endParaRPr lang="fr-FR" sz="3100"/>
          </a:p>
          <a:p>
            <a:pPr algn="c">
              <a:buNone/>
            </a:pPr>
            <a:r>
              <a:rPr lang="fr-FR" sz="2750" b="1">
                <a:solidFill>
                  <a:srgbClr val="0F766E"/>
                </a:solidFill>
                <a:latin typeface="Aptos"/>
              </a:rPr>
              <a:t>AGILE SCRUM</a:t>
            </a:r>
            <a:endParaRPr lang="fr-FR" sz="2750"/>
          </a:p>
        </p:txBody>
      </p:sp>
      <p:sp>
        <p:nvSpPr>
          <p:cNvPr name="TextBox 12" id="12"/>
          <p:cNvSpPr txBox="true"/>
          <p:nvPr/>
        </p:nvSpPr>
        <p:spPr>
          <a:xfrm rot="0">
            <a:off x="1441085" y="1948588"/>
            <a:ext cx="3959066" cy="944343"/>
          </a:xfrm>
          <a:prstGeom prst="rect">
            <a:avLst/>
          </a:prstGeom>
        </p:spPr>
        <p:txBody>
          <a:bodyPr wrap="square" lIns="91440" rIns="91440" tIns="45720" bIns="45720">
            <a:spAutoFit/>
          </a:bodyPr>
          <a:lstStyle/>
          <a:p>
            <a:pPr algn="l">
              <a:buNone/>
            </a:pPr>
            <a:r>
              <a:rPr lang="fr-FR" sz="2300" b="1">
                <a:solidFill>
                  <a:srgbClr val="111827"/>
                </a:solidFill>
                <a:latin typeface="Aptos"/>
              </a:rPr>
              <a:t>Pourquoi ?</a:t>
            </a:r>
            <a:endParaRPr lang="fr-FR" sz="2300"/>
          </a:p>
        </p:txBody>
      </p:sp>
      <p:sp>
        <p:nvSpPr>
          <p:cNvPr name="TextBox 13" id="13"/>
          <p:cNvSpPr txBox="true"/>
          <p:nvPr/>
        </p:nvSpPr>
        <p:spPr>
          <a:xfrm rot="0">
            <a:off x="1204970" y="3216781"/>
            <a:ext cx="16725447" cy="878304"/>
          </a:xfrm>
          <a:prstGeom prst="rect">
            <a:avLst/>
          </a:prstGeom>
        </p:spPr>
        <p:txBody>
          <a:bodyPr wrap="square" lIns="91440" rIns="91440" tIns="45720" bIns="45720">
            <a:spAutoFit/>
          </a:bodyPr>
          <a:lstStyle/>
          <a:p>
            <a:pPr algn="l">
              <a:buNone/>
            </a:pPr>
            <a:r>
              <a:rPr lang="fr-FR" sz="1950">
                <a:solidFill>
                  <a:srgbClr val="111827"/>
                </a:solidFill>
                <a:latin typeface="Aptos"/>
              </a:rPr>
              <a:t>Scrum a été retenu pour découper le projet en itérations courtes, valider progressivement les besoins métier et adapter la solution aux retours de la banque.</a:t>
            </a:r>
            <a:endParaRPr lang="fr-FR" sz="1950"/>
          </a:p>
        </p:txBody>
      </p:sp>
      <p:sp>
        <p:nvSpPr>
          <p:cNvPr name="TextBox 14" id="14"/>
          <p:cNvSpPr txBox="true"/>
          <p:nvPr/>
        </p:nvSpPr>
        <p:spPr>
          <a:xfrm rot="0">
            <a:off x="9139238" y="923925"/>
            <a:ext cx="9525" cy="944343"/>
          </a:xfrm>
          <a:prstGeom prst="rect">
            <a:avLst/>
          </a:prstGeom>
        </p:spPr>
        <p:txBody>
          <a:bodyPr anchor="t" rtlCol="false" tIns="0" lIns="0" bIns="0" rIns="0">
            <a:spAutoFit/>
          </a:bodyPr>
          <a:lstStyle/>
          <a:p>
            <a:pPr algn="ctr">
              <a:lnSpc>
                <a:spcPts val="7799"/>
              </a:lnSpc>
              <a:spcBef>
                <a:spcPct val="0"/>
              </a:spcBef>
            </a:pPr>
          </a:p>
        </p:txBody>
      </p:sp>
    </p:spTree>
  </p:cSld>
  <p:clrMapOvr>
    <a:masterClrMapping/>
  </p:clrMapOvr>
</p:sld>
</file>

<file path=ppt/slides/slide18.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3" id="3"/>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17</a:t>
              </a:r>
            </a:p>
          </p:txBody>
        </p:sp>
      </p:grpSp>
      <p:sp>
        <p:nvSpPr>
          <p:cNvPr name="Freeform 9" id="9"/>
          <p:cNvSpPr/>
          <p:nvPr/>
        </p:nvSpPr>
        <p:spPr>
          <a:xfrm flipH="false" flipV="false" rot="0">
            <a:off x="-1105593" y="-1343416"/>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Freeform 10" id="10"/>
          <p:cNvSpPr/>
          <p:nvPr/>
        </p:nvSpPr>
        <p:spPr>
          <a:xfrm flipH="false" flipV="false" rot="0">
            <a:off x="3470307" y="2107058"/>
            <a:ext cx="14192535" cy="7238193"/>
          </a:xfrm>
          <a:custGeom>
            <a:avLst/>
            <a:gdLst/>
            <a:ahLst/>
            <a:cxnLst/>
            <a:rect r="r" b="b" t="t" l="l"/>
            <a:pathLst>
              <a:path h="7238193" w="14192535">
                <a:moveTo>
                  <a:pt x="0" y="0"/>
                </a:moveTo>
                <a:lnTo>
                  <a:pt x="14192535" y="0"/>
                </a:lnTo>
                <a:lnTo>
                  <a:pt x="14192535" y="7238193"/>
                </a:lnTo>
                <a:lnTo>
                  <a:pt x="0" y="7238193"/>
                </a:lnTo>
                <a:lnTo>
                  <a:pt x="0" y="0"/>
                </a:lnTo>
                <a:close/>
              </a:path>
            </a:pathLst>
          </a:custGeom>
          <a:blipFill>
            <a:blip r:embed="rId4"/>
            <a:stretch>
              <a:fillRect l="0" t="0" r="0" b="0"/>
            </a:stretch>
          </a:blipFill>
        </p:spPr>
      </p:sp>
      <p:sp>
        <p:nvSpPr>
          <p:cNvPr name="TextBox 11" id="11"/>
          <p:cNvSpPr txBox="true"/>
          <p:nvPr/>
        </p:nvSpPr>
        <p:spPr>
          <a:xfrm rot="0">
            <a:off x="1321255" y="1231095"/>
            <a:ext cx="3937119" cy="703036"/>
          </a:xfrm>
          <a:prstGeom prst="rect">
            <a:avLst/>
          </a:prstGeom>
        </p:spPr>
        <p:txBody>
          <a:bodyPr wrap="square" lIns="91440" rIns="91440" tIns="45720" bIns="45720">
            <a:spAutoFit/>
          </a:bodyPr>
          <a:lstStyle/>
          <a:p>
            <a:pPr algn="l">
              <a:buNone/>
            </a:pPr>
            <a:r>
              <a:rPr lang="fr-FR" sz="2750" b="1">
                <a:solidFill>
                  <a:srgbClr val="111827"/>
                </a:solidFill>
                <a:latin typeface="Aptos"/>
              </a:rPr>
              <a:t>Sprint Backlog</a:t>
            </a:r>
            <a:endParaRPr lang="fr-FR" sz="2750"/>
          </a:p>
        </p:txBody>
      </p:sp>
      <p:sp>
        <p:nvSpPr>
          <p:cNvPr name="Freeform 12" id="12"/>
          <p:cNvSpPr/>
          <p:nvPr/>
        </p:nvSpPr>
        <p:spPr>
          <a:xfrm flipH="false" flipV="false" rot="0">
            <a:off x="122701" y="3838427"/>
            <a:ext cx="3347606" cy="2643833"/>
          </a:xfrm>
          <a:custGeom>
            <a:avLst/>
            <a:gdLst/>
            <a:ahLst/>
            <a:cxnLst/>
            <a:rect r="r" b="b" t="t" l="l"/>
            <a:pathLst>
              <a:path h="2643833" w="3347606">
                <a:moveTo>
                  <a:pt x="0" y="0"/>
                </a:moveTo>
                <a:lnTo>
                  <a:pt x="3347606" y="0"/>
                </a:lnTo>
                <a:lnTo>
                  <a:pt x="3347606" y="2643833"/>
                </a:lnTo>
                <a:lnTo>
                  <a:pt x="0" y="2643833"/>
                </a:lnTo>
                <a:lnTo>
                  <a:pt x="0" y="0"/>
                </a:lnTo>
                <a:close/>
              </a:path>
            </a:pathLst>
          </a:custGeom>
          <a:blipFill>
            <a:blip r:embed="rId5"/>
            <a:stretch>
              <a:fillRect l="-3123" t="0" r="-6171" b="0"/>
            </a:stretch>
          </a:blipFill>
        </p:spPr>
      </p:sp>
      <p:sp>
        <p:nvSpPr>
          <p:cNvPr id="13" name="TextBox 13"/>
          <p:cNvSpPr txBox="1"/>
          <p:nvPr/>
        </p:nvSpPr>
        <p:spPr>
          <a:xfrm>
            <a:off x="1450000" y="2400000"/>
            <a:ext cx="15300000" cy="5900000"/>
          </a:xfrm>
          <a:prstGeom prst="rect">
            <a:avLst/>
          </a:prstGeom>
          <a:noFill/>
          <a:ln>
            <a:noFill/>
          </a:ln>
        </p:spPr>
        <p:txBody>
          <a:bodyPr wrap="square" lIns="91440" rIns="91440" tIns="45720" bIns="45720">
            <a:spAutoFit/>
          </a:bodyPr>
          <a:lstStyle/>
          <a:p>
            <a:pPr algn="l" marL="342900" indent="-228600">
              <a:buChar char="•"/>
            </a:pPr>
            <a:r>
              <a:rPr lang="fr-FR" sz="1950">
                <a:solidFill>
                  <a:srgbClr val="1F2937"/>
                </a:solidFill>
                <a:latin typeface="Aptos"/>
              </a:rPr>
              <a:t>Sprint 1 - Cadrage et socle technique : entités métier, base de données, authentification JWT, rôles</a:t>
            </a:r>
            <a:endParaRPr lang="fr-FR" sz="1950"/>
          </a:p>
          <a:p>
            <a:pPr algn="l" marL="342900" indent="-228600">
              <a:buChar char="•"/>
            </a:pPr>
            <a:r>
              <a:rPr lang="fr-FR" sz="1950">
                <a:solidFill>
                  <a:srgbClr val="1F2937"/>
                </a:solidFill>
                <a:latin typeface="Aptos"/>
              </a:rPr>
              <a:t>Sprint 2 - Gestion TPE et commerçants : CRUD, statuts, import, génération TID, historique</a:t>
            </a:r>
            <a:endParaRPr lang="fr-FR" sz="1950"/>
          </a:p>
          <a:p>
            <a:pPr algn="l" marL="342900" indent="-228600">
              <a:buChar char="•"/>
            </a:pPr>
            <a:r>
              <a:rPr lang="fr-FR" sz="1950">
                <a:solidFill>
                  <a:srgbClr val="1F2937"/>
                </a:solidFill>
                <a:latin typeface="Aptos"/>
              </a:rPr>
              <a:t>Sprint 3 - Workflows opérationnels : demandes Agence, validation Monétique, affectation et mise en service</a:t>
            </a:r>
            <a:endParaRPr lang="fr-FR" sz="1950"/>
          </a:p>
          <a:p>
            <a:pPr algn="l" marL="342900" indent="-228600">
              <a:buChar char="•"/>
            </a:pPr>
            <a:r>
              <a:rPr lang="fr-FR" sz="1950">
                <a:solidFill>
                  <a:srgbClr val="1F2937"/>
                </a:solidFill>
                <a:latin typeface="Aptos"/>
              </a:rPr>
              <a:t>Sprint 4 - Contrôle et maintenance : pannes, taux avec règle 4 yeux, fichiers bancaires, écritures comptables</a:t>
            </a:r>
            <a:endParaRPr lang="fr-FR" sz="1950"/>
          </a:p>
          <a:p>
            <a:pPr algn="l" marL="342900" indent="-228600">
              <a:buChar char="•"/>
            </a:pPr>
            <a:r>
              <a:rPr lang="fr-FR" sz="1950">
                <a:solidFill>
                  <a:srgbClr val="1F2937"/>
                </a:solidFill>
                <a:latin typeface="Aptos"/>
              </a:rPr>
              <a:t>Sprint 5 - Pilotage et finalisation : dashboards, Power BI, permissions par écran, tests, corrections et documentation</a:t>
            </a:r>
            <a:endParaRPr lang="fr-FR" sz="1950"/>
          </a:p>
        </p:txBody>
      </p:sp>
    </p:spTree>
  </p:cSld>
  <p:clrMapOvr>
    <a:masterClrMapping/>
  </p:clrMapOvr>
</p:sld>
</file>

<file path=ppt/slides/slide19.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627362" y="0"/>
            <a:ext cx="937061" cy="10287000"/>
            <a:chOff x="0" y="0"/>
            <a:chExt cx="246798" cy="2709333"/>
          </a:xfrm>
        </p:grpSpPr>
        <p:sp>
          <p:nvSpPr>
            <p:cNvPr name="Freeform 3" id="3"/>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4" id="4"/>
            <p:cNvSpPr txBox="true"/>
            <p:nvPr/>
          </p:nvSpPr>
          <p:spPr>
            <a:xfrm>
              <a:off x="0" y="-38100"/>
              <a:ext cx="246798" cy="2747433"/>
            </a:xfrm>
            <a:prstGeom prst="rect">
              <a:avLst/>
            </a:prstGeom>
          </p:spPr>
          <p:txBody>
            <a:bodyPr anchor="ctr" rtlCol="false" tIns="50800" lIns="50800" bIns="50800" rIns="50800"/>
            <a:lstStyle/>
            <a:p>
              <a:pPr algn="ctr" marL="0" indent="0" lvl="0">
                <a:lnSpc>
                  <a:spcPts val="2659"/>
                </a:lnSpc>
              </a:pPr>
            </a:p>
          </p:txBody>
        </p:sp>
      </p:grpSp>
      <p:sp>
        <p:nvSpPr>
          <p:cNvPr name="AutoShape 5" id="5"/>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6" id="6"/>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7" id="7"/>
          <p:cNvGrpSpPr/>
          <p:nvPr/>
        </p:nvGrpSpPr>
        <p:grpSpPr>
          <a:xfrm rot="0">
            <a:off x="15859155"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18</a:t>
              </a:r>
            </a:p>
          </p:txBody>
        </p:sp>
      </p:grpSp>
      <p:sp>
        <p:nvSpPr>
          <p:cNvPr name="Freeform 12" id="12"/>
          <p:cNvSpPr/>
          <p:nvPr/>
        </p:nvSpPr>
        <p:spPr>
          <a:xfrm flipH="false" flipV="false" rot="0">
            <a:off x="1263762" y="-145860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Freeform 13" id="13"/>
          <p:cNvSpPr/>
          <p:nvPr/>
        </p:nvSpPr>
        <p:spPr>
          <a:xfrm flipH="false" flipV="false" rot="0">
            <a:off x="11804788"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Freeform 14" id="14"/>
          <p:cNvSpPr/>
          <p:nvPr/>
        </p:nvSpPr>
        <p:spPr>
          <a:xfrm flipH="false" flipV="false" rot="0">
            <a:off x="7642648" y="611374"/>
            <a:ext cx="6518884" cy="9675523"/>
          </a:xfrm>
          <a:custGeom>
            <a:avLst/>
            <a:gdLst/>
            <a:ahLst/>
            <a:cxnLst/>
            <a:rect r="r" b="b" t="t" l="l"/>
            <a:pathLst>
              <a:path h="9675523" w="6518884">
                <a:moveTo>
                  <a:pt x="0" y="0"/>
                </a:moveTo>
                <a:lnTo>
                  <a:pt x="6518883" y="0"/>
                </a:lnTo>
                <a:lnTo>
                  <a:pt x="6518883" y="9675523"/>
                </a:lnTo>
                <a:lnTo>
                  <a:pt x="0" y="9675523"/>
                </a:lnTo>
                <a:lnTo>
                  <a:pt x="0" y="0"/>
                </a:lnTo>
                <a:close/>
              </a:path>
            </a:pathLst>
          </a:custGeom>
          <a:blipFill>
            <a:blip r:embed="rId4">
              <a:extLst>
                <a:ext uri="{96DAC541-7B7A-43D3-8B79-37D633B846F1}">
                  <ns3:svgBlip r:embed="rId5"/>
                </a:ext>
              </a:extLst>
            </a:blip>
            <a:stretch>
              <a:fillRect l="0" t="0" r="0" b="0"/>
            </a:stretch>
          </a:blipFill>
        </p:spPr>
      </p:sp>
      <p:sp>
        <p:nvSpPr>
          <p:cNvPr name="TextBox 15" id="15"/>
          <p:cNvSpPr txBox="true"/>
          <p:nvPr/>
        </p:nvSpPr>
        <p:spPr>
          <a:xfrm rot="0">
            <a:off x="7534874" y="109687"/>
            <a:ext cx="8324281" cy="919013"/>
          </a:xfrm>
          <a:prstGeom prst="rect">
            <a:avLst/>
          </a:prstGeom>
        </p:spPr>
        <p:txBody>
          <a:bodyPr anchor="t" rtlCol="false" tIns="0" lIns="0" bIns="0" rIns="0">
            <a:spAutoFit/>
          </a:bodyPr>
          <a:lstStyle/>
          <a:p>
            <a:pPr algn="ctr" marL="0" indent="0" lvl="0">
              <a:lnSpc>
                <a:spcPts val="7510"/>
              </a:lnSpc>
            </a:pPr>
            <a:r>
              <a:rPr lang="en-US" sz="5364">
                <a:solidFill>
                  <a:srgbClr val="000000"/>
                </a:solidFill>
                <a:latin typeface="Alatsi"/>
                <a:ea typeface="Alatsi"/>
                <a:cs typeface="Alatsi"/>
                <a:sym typeface="Alatsi"/>
              </a:rPr>
              <a:t>DIAGRAMMES UML</a:t>
            </a:r>
          </a:p>
        </p:txBody>
      </p:sp>
      <p:sp>
        <p:nvSpPr>
          <p:cNvPr name="TextBox 16" id="16"/>
          <p:cNvSpPr txBox="true"/>
          <p:nvPr/>
        </p:nvSpPr>
        <p:spPr>
          <a:xfrm rot="0">
            <a:off x="727736" y="3808664"/>
            <a:ext cx="5517164" cy="1862605"/>
          </a:xfrm>
          <a:prstGeom prst="rect">
            <a:avLst/>
          </a:prstGeom>
        </p:spPr>
        <p:txBody>
          <a:bodyPr wrap="square" lIns="91440" rIns="91440" tIns="45720" bIns="45720">
            <a:spAutoFit/>
          </a:bodyPr>
          <a:lstStyle/>
          <a:p>
            <a:pPr algn="l">
              <a:buNone/>
            </a:pPr>
            <a:r>
              <a:rPr lang="fr-FR" sz="2150" b="1">
                <a:solidFill>
                  <a:srgbClr val="111827"/>
                </a:solidFill>
                <a:latin typeface="Aptos"/>
              </a:rPr>
              <a:t>Diagramme de cas
d’utilisation global</a:t>
            </a:r>
            <a:endParaRPr lang="fr-FR" sz="2150"/>
          </a:p>
        </p:txBody>
      </p:sp>
    </p:spTree>
  </p:cSld>
  <p:clrMapOvr>
    <a:masterClrMapping/>
  </p:clrMapOvr>
</p:sld>
</file>

<file path=ppt/slides/slide20.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627362" y="0"/>
            <a:ext cx="937061" cy="10287000"/>
            <a:chOff x="0" y="0"/>
            <a:chExt cx="246798" cy="2709333"/>
          </a:xfrm>
        </p:grpSpPr>
        <p:sp>
          <p:nvSpPr>
            <p:cNvPr name="Freeform 3" id="3"/>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4" id="4"/>
            <p:cNvSpPr txBox="true"/>
            <p:nvPr/>
          </p:nvSpPr>
          <p:spPr>
            <a:xfrm>
              <a:off x="0" y="-38100"/>
              <a:ext cx="246798" cy="2747433"/>
            </a:xfrm>
            <a:prstGeom prst="rect">
              <a:avLst/>
            </a:prstGeom>
          </p:spPr>
          <p:txBody>
            <a:bodyPr anchor="ctr" rtlCol="false" tIns="50800" lIns="50800" bIns="50800" rIns="50800"/>
            <a:lstStyle/>
            <a:p>
              <a:pPr algn="ctr" marL="0" indent="0" lvl="0">
                <a:lnSpc>
                  <a:spcPts val="2659"/>
                </a:lnSpc>
              </a:pPr>
            </a:p>
          </p:txBody>
        </p:sp>
      </p:grpSp>
      <p:sp>
        <p:nvSpPr>
          <p:cNvPr name="AutoShape 5" id="5"/>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6" id="6"/>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7" id="7"/>
          <p:cNvGrpSpPr/>
          <p:nvPr/>
        </p:nvGrpSpPr>
        <p:grpSpPr>
          <a:xfrm rot="0">
            <a:off x="15859155"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19</a:t>
              </a:r>
            </a:p>
          </p:txBody>
        </p:sp>
      </p:grpSp>
      <p:sp>
        <p:nvSpPr>
          <p:cNvPr name="Freeform 12" id="12"/>
          <p:cNvSpPr/>
          <p:nvPr/>
        </p:nvSpPr>
        <p:spPr>
          <a:xfrm flipH="false" flipV="false" rot="0">
            <a:off x="11804788"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Freeform 13" id="13"/>
          <p:cNvSpPr/>
          <p:nvPr/>
        </p:nvSpPr>
        <p:spPr>
          <a:xfrm flipH="false" flipV="false" rot="0">
            <a:off x="7181770" y="255276"/>
            <a:ext cx="7857820" cy="9776448"/>
          </a:xfrm>
          <a:custGeom>
            <a:avLst/>
            <a:gdLst/>
            <a:ahLst/>
            <a:cxnLst/>
            <a:rect r="r" b="b" t="t" l="l"/>
            <a:pathLst>
              <a:path h="9776448" w="7857820">
                <a:moveTo>
                  <a:pt x="0" y="0"/>
                </a:moveTo>
                <a:lnTo>
                  <a:pt x="7857820" y="0"/>
                </a:lnTo>
                <a:lnTo>
                  <a:pt x="7857820" y="9776448"/>
                </a:lnTo>
                <a:lnTo>
                  <a:pt x="0" y="9776448"/>
                </a:lnTo>
                <a:lnTo>
                  <a:pt x="0" y="0"/>
                </a:lnTo>
                <a:close/>
              </a:path>
            </a:pathLst>
          </a:custGeom>
          <a:blipFill>
            <a:blip r:embed="rId4"/>
            <a:stretch>
              <a:fillRect l="0" t="0" r="0" b="0"/>
            </a:stretch>
          </a:blipFill>
        </p:spPr>
      </p:sp>
      <p:sp>
        <p:nvSpPr>
          <p:cNvPr name="TextBox 14" id="14"/>
          <p:cNvSpPr txBox="true"/>
          <p:nvPr/>
        </p:nvSpPr>
        <p:spPr>
          <a:xfrm rot="0">
            <a:off x="0" y="3739731"/>
            <a:ext cx="6972635" cy="1862605"/>
          </a:xfrm>
          <a:prstGeom prst="rect">
            <a:avLst/>
          </a:prstGeom>
        </p:spPr>
        <p:txBody>
          <a:bodyPr wrap="square" lIns="91440" rIns="91440" tIns="45720" bIns="45720">
            <a:spAutoFit/>
          </a:bodyPr>
          <a:lstStyle/>
          <a:p>
            <a:pPr algn="l">
              <a:buNone/>
            </a:pPr>
            <a:r>
              <a:rPr lang="fr-FR" sz="2150" b="1">
                <a:solidFill>
                  <a:srgbClr val="111827"/>
                </a:solidFill>
                <a:latin typeface="Aptos"/>
              </a:rPr>
              <a:t>Diagramme de classes
d’analyse</a:t>
            </a:r>
            <a:endParaRPr lang="fr-FR" sz="215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627362" y="0"/>
            <a:ext cx="937061" cy="10287000"/>
            <a:chOff x="0" y="0"/>
            <a:chExt cx="246798" cy="2709333"/>
          </a:xfrm>
        </p:grpSpPr>
        <p:sp>
          <p:nvSpPr>
            <p:cNvPr name="Freeform 3" id="3"/>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4" id="4"/>
            <p:cNvSpPr txBox="true"/>
            <p:nvPr/>
          </p:nvSpPr>
          <p:spPr>
            <a:xfrm>
              <a:off x="0" y="-38100"/>
              <a:ext cx="246798" cy="2747433"/>
            </a:xfrm>
            <a:prstGeom prst="rect">
              <a:avLst/>
            </a:prstGeom>
          </p:spPr>
          <p:txBody>
            <a:bodyPr anchor="ctr" rtlCol="false" tIns="50800" lIns="50800" bIns="50800" rIns="50800"/>
            <a:lstStyle/>
            <a:p>
              <a:pPr algn="ctr" marL="0" indent="0" lvl="0">
                <a:lnSpc>
                  <a:spcPts val="2659"/>
                </a:lnSpc>
              </a:pPr>
            </a:p>
          </p:txBody>
        </p:sp>
      </p:grpSp>
      <p:sp>
        <p:nvSpPr>
          <p:cNvPr name="AutoShape 5" id="5"/>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6" id="6"/>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7" id="7"/>
          <p:cNvGrpSpPr/>
          <p:nvPr/>
        </p:nvGrpSpPr>
        <p:grpSpPr>
          <a:xfrm rot="0">
            <a:off x="16477994"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20</a:t>
              </a:r>
            </a:p>
          </p:txBody>
        </p:sp>
      </p:grpSp>
      <p:sp>
        <p:nvSpPr>
          <p:cNvPr name="Freeform 12" id="12"/>
          <p:cNvSpPr/>
          <p:nvPr/>
        </p:nvSpPr>
        <p:spPr>
          <a:xfrm flipH="false" flipV="false" rot="0">
            <a:off x="3393542" y="417720"/>
            <a:ext cx="12314737" cy="9451561"/>
          </a:xfrm>
          <a:custGeom>
            <a:avLst/>
            <a:gdLst/>
            <a:ahLst/>
            <a:cxnLst/>
            <a:rect r="r" b="b" t="t" l="l"/>
            <a:pathLst>
              <a:path h="9451561" w="12314737">
                <a:moveTo>
                  <a:pt x="0" y="0"/>
                </a:moveTo>
                <a:lnTo>
                  <a:pt x="12314737" y="0"/>
                </a:lnTo>
                <a:lnTo>
                  <a:pt x="12314737" y="9451560"/>
                </a:lnTo>
                <a:lnTo>
                  <a:pt x="0" y="9451560"/>
                </a:lnTo>
                <a:lnTo>
                  <a:pt x="0" y="0"/>
                </a:lnTo>
                <a:close/>
              </a:path>
            </a:pathLst>
          </a:custGeom>
          <a:blipFill>
            <a:blip r:embed="rId2"/>
            <a:stretch>
              <a:fillRect l="0" t="0" r="0" b="0"/>
            </a:stretch>
          </a:blipFill>
        </p:spPr>
      </p:sp>
      <p:sp>
        <p:nvSpPr>
          <p:cNvPr name="TextBox 13" id="13"/>
          <p:cNvSpPr txBox="true"/>
          <p:nvPr/>
        </p:nvSpPr>
        <p:spPr>
          <a:xfrm rot="0">
            <a:off x="-184974" y="4168854"/>
            <a:ext cx="3578516" cy="1441590"/>
          </a:xfrm>
          <a:prstGeom prst="rect">
            <a:avLst/>
          </a:prstGeom>
        </p:spPr>
        <p:txBody>
          <a:bodyPr wrap="square" lIns="91440" rIns="91440" tIns="45720" bIns="45720">
            <a:spAutoFit/>
          </a:bodyPr>
          <a:lstStyle/>
          <a:p>
            <a:pPr algn="l">
              <a:buNone/>
            </a:pPr>
            <a:r>
              <a:rPr lang="fr-FR" sz="2150" b="1">
                <a:solidFill>
                  <a:srgbClr val="111827"/>
                </a:solidFill>
                <a:latin typeface="Aptos"/>
              </a:rPr>
              <a:t>Diagramme de
composants</a:t>
            </a:r>
            <a:endParaRPr lang="fr-FR" sz="215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627362" y="0"/>
            <a:ext cx="937061" cy="10287000"/>
            <a:chOff x="0" y="0"/>
            <a:chExt cx="246798" cy="2709333"/>
          </a:xfrm>
        </p:grpSpPr>
        <p:sp>
          <p:nvSpPr>
            <p:cNvPr name="Freeform 3" id="3"/>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4" id="4"/>
            <p:cNvSpPr txBox="true"/>
            <p:nvPr/>
          </p:nvSpPr>
          <p:spPr>
            <a:xfrm>
              <a:off x="0" y="-38100"/>
              <a:ext cx="246798" cy="2747433"/>
            </a:xfrm>
            <a:prstGeom prst="rect">
              <a:avLst/>
            </a:prstGeom>
          </p:spPr>
          <p:txBody>
            <a:bodyPr anchor="ctr" rtlCol="false" tIns="50800" lIns="50800" bIns="50800" rIns="50800"/>
            <a:lstStyle/>
            <a:p>
              <a:pPr algn="ctr" marL="0" indent="0" lvl="0">
                <a:lnSpc>
                  <a:spcPts val="2659"/>
                </a:lnSpc>
              </a:pPr>
            </a:p>
          </p:txBody>
        </p:sp>
      </p:grpSp>
      <p:sp>
        <p:nvSpPr>
          <p:cNvPr name="AutoShape 5" id="5"/>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sp>
        <p:nvSpPr>
          <p:cNvPr name="AutoShape 6" id="6"/>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grpSp>
        <p:nvGrpSpPr>
          <p:cNvPr name="Group 7" id="7"/>
          <p:cNvGrpSpPr/>
          <p:nvPr/>
        </p:nvGrpSpPr>
        <p:grpSpPr>
          <a:xfrm rot="0">
            <a:off x="16477994"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21</a:t>
              </a:r>
            </a:p>
          </p:txBody>
        </p:sp>
      </p:grpSp>
      <p:sp>
        <p:nvSpPr>
          <p:cNvPr name="Freeform 12" id="12"/>
          <p:cNvSpPr/>
          <p:nvPr/>
        </p:nvSpPr>
        <p:spPr>
          <a:xfrm flipH="false" flipV="false" rot="0">
            <a:off x="11804788"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2873563" y="143836"/>
            <a:ext cx="13354694" cy="9999327"/>
          </a:xfrm>
          <a:custGeom>
            <a:avLst/>
            <a:gdLst/>
            <a:ahLst/>
            <a:cxnLst/>
            <a:rect r="r" b="b" t="t" l="l"/>
            <a:pathLst>
              <a:path h="9999327" w="13354694">
                <a:moveTo>
                  <a:pt x="0" y="0"/>
                </a:moveTo>
                <a:lnTo>
                  <a:pt x="13354694" y="0"/>
                </a:lnTo>
                <a:lnTo>
                  <a:pt x="13354694" y="9999328"/>
                </a:lnTo>
                <a:lnTo>
                  <a:pt x="0" y="9999328"/>
                </a:lnTo>
                <a:lnTo>
                  <a:pt x="0" y="0"/>
                </a:lnTo>
                <a:close/>
              </a:path>
            </a:pathLst>
          </a:custGeom>
          <a:blipFill>
            <a:blip r:embed="rId4"/>
            <a:stretch>
              <a:fillRect l="0" t="0" r="0" b="0"/>
            </a:stretch>
          </a:blipFill>
        </p:spPr>
      </p:sp>
      <p:sp>
        <p:nvSpPr>
          <p:cNvPr name="TextBox 14" id="14"/>
          <p:cNvSpPr txBox="true"/>
          <p:nvPr/>
        </p:nvSpPr>
        <p:spPr>
          <a:xfrm rot="0">
            <a:off x="0" y="5076825"/>
            <a:ext cx="2623826" cy="1249285"/>
          </a:xfrm>
          <a:prstGeom prst="rect">
            <a:avLst/>
          </a:prstGeom>
        </p:spPr>
        <p:txBody>
          <a:bodyPr anchor="t" rtlCol="false" tIns="0" lIns="0" bIns="0" rIns="0">
            <a:spAutoFit/>
          </a:bodyPr>
          <a:lstStyle/>
          <a:p>
            <a:pPr algn="ctr">
              <a:lnSpc>
                <a:spcPts val="5015"/>
              </a:lnSpc>
              <a:spcBef>
                <a:spcPct val="0"/>
              </a:spcBef>
            </a:pPr>
            <a:r>
              <a:rPr lang="en-US" sz="3582">
                <a:solidFill>
                  <a:srgbClr val="000000"/>
                </a:solidFill>
                <a:latin typeface="Alatsi"/>
                <a:ea typeface="Alatsi"/>
                <a:cs typeface="Alatsi"/>
                <a:sym typeface="Alatsi"/>
              </a:rPr>
              <a:t>Diagramme de séquence</a:t>
            </a:r>
          </a:p>
        </p:txBody>
      </p:sp>
      <p:sp>
        <p:nvSpPr>
          <p:cNvPr name="TextBox 15" id="15"/>
          <p:cNvSpPr txBox="true"/>
          <p:nvPr/>
        </p:nvSpPr>
        <p:spPr>
          <a:xfrm rot="0">
            <a:off x="210788" y="3494709"/>
            <a:ext cx="2662775" cy="1663065"/>
          </a:xfrm>
          <a:prstGeom prst="rect">
            <a:avLst/>
          </a:prstGeom>
        </p:spPr>
        <p:txBody>
          <a:bodyPr anchor="t" rtlCol="false" tIns="0" lIns="0" bIns="0" rIns="0">
            <a:spAutoFit/>
          </a:bodyPr>
          <a:lstStyle/>
          <a:p>
            <a:pPr algn="ctr">
              <a:lnSpc>
                <a:spcPts val="3359"/>
              </a:lnSpc>
              <a:spcBef>
                <a:spcPct val="0"/>
              </a:spcBef>
            </a:pPr>
            <a:r>
              <a:rPr lang="en-US" b="true" sz="2399">
                <a:solidFill>
                  <a:srgbClr val="EC3433"/>
                </a:solidFill>
                <a:latin typeface="Abhaya Libre Bold"/>
                <a:ea typeface="Abhaya Libre Bold"/>
                <a:cs typeface="Abhaya Libre Bold"/>
                <a:sym typeface="Abhaya Libre Bold"/>
              </a:rPr>
              <a:t>Validation et affectation d’une demande TPE</a:t>
            </a:r>
          </a:p>
          <a:p>
            <a:pPr algn="ctr">
              <a:lnSpc>
                <a:spcPts val="3359"/>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554977" y="3748035"/>
            <a:ext cx="11627497" cy="2514704"/>
          </a:xfrm>
          <a:prstGeom prst="rect">
            <a:avLst/>
          </a:prstGeom>
        </p:spPr>
        <p:txBody>
          <a:bodyPr anchor="t" rtlCol="false" tIns="0" lIns="0" bIns="0" rIns="0">
            <a:spAutoFit/>
          </a:bodyPr>
          <a:lstStyle/>
          <a:p>
            <a:pPr algn="ctr" marL="0" indent="0" lvl="0">
              <a:lnSpc>
                <a:spcPts val="20573"/>
              </a:lnSpc>
            </a:pPr>
            <a:r>
              <a:rPr lang="en-US" sz="14695">
                <a:solidFill>
                  <a:srgbClr val="000000"/>
                </a:solidFill>
                <a:latin typeface="Alatsi"/>
                <a:ea typeface="Alatsi"/>
                <a:cs typeface="Alatsi"/>
                <a:sym typeface="Alatsi"/>
              </a:rPr>
              <a:t>RÉALISATION</a:t>
            </a:r>
          </a:p>
        </p:txBody>
      </p:sp>
      <p:sp>
        <p:nvSpPr>
          <p:cNvPr name="TextBox 3" id="3"/>
          <p:cNvSpPr txBox="true"/>
          <p:nvPr/>
        </p:nvSpPr>
        <p:spPr>
          <a:xfrm rot="0">
            <a:off x="5033857" y="6762653"/>
            <a:ext cx="10669737" cy="703169"/>
          </a:xfrm>
          <a:prstGeom prst="rect">
            <a:avLst/>
          </a:prstGeom>
        </p:spPr>
        <p:txBody>
          <a:bodyPr anchor="t" rtlCol="false" tIns="0" lIns="0" bIns="0" rIns="0">
            <a:spAutoFit/>
          </a:bodyPr>
          <a:lstStyle/>
          <a:p>
            <a:pPr algn="ctr" marL="0" indent="0" lvl="0">
              <a:lnSpc>
                <a:spcPts val="5763"/>
              </a:lnSpc>
            </a:pPr>
            <a:r>
              <a:rPr lang="en-US" sz="4116">
                <a:solidFill>
                  <a:srgbClr val="000000"/>
                </a:solidFill>
                <a:latin typeface="Alatsi"/>
                <a:ea typeface="Alatsi"/>
                <a:cs typeface="Alatsi"/>
                <a:sym typeface="Alatsi"/>
              </a:rPr>
              <a:t>Développement et Mise en Œuvre</a:t>
            </a:r>
          </a:p>
        </p:txBody>
      </p:sp>
      <p:grpSp>
        <p:nvGrpSpPr>
          <p:cNvPr name="Group 4" id="4"/>
          <p:cNvGrpSpPr/>
          <p:nvPr/>
        </p:nvGrpSpPr>
        <p:grpSpPr>
          <a:xfrm rot="0">
            <a:off x="-31071" y="0"/>
            <a:ext cx="4239083" cy="10287000"/>
            <a:chOff x="0" y="0"/>
            <a:chExt cx="5652111" cy="13716000"/>
          </a:xfrm>
        </p:grpSpPr>
        <p:grpSp>
          <p:nvGrpSpPr>
            <p:cNvPr name="Group 5" id="5"/>
            <p:cNvGrpSpPr/>
            <p:nvPr/>
          </p:nvGrpSpPr>
          <p:grpSpPr>
            <a:xfrm rot="0">
              <a:off x="2826056" y="0"/>
              <a:ext cx="2826056" cy="13716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1413028" y="0"/>
              <a:ext cx="2826056" cy="13716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0" y="0"/>
              <a:ext cx="2826056" cy="13716000"/>
              <a:chOff x="0" y="0"/>
              <a:chExt cx="558233" cy="2709333"/>
            </a:xfrm>
          </p:grpSpPr>
          <p:sp>
            <p:nvSpPr>
              <p:cNvPr name="Freeform 12" id="12"/>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3" id="13"/>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Freeform 14" id="14"/>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4.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3" id="3"/>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23</a:t>
              </a:r>
            </a:p>
          </p:txBody>
        </p:sp>
      </p:grpSp>
      <p:sp>
        <p:nvSpPr>
          <p:cNvPr name="Freeform 9" id="9"/>
          <p:cNvSpPr/>
          <p:nvPr/>
        </p:nvSpPr>
        <p:spPr>
          <a:xfrm flipH="false" flipV="false" rot="0">
            <a:off x="-2628900" y="-144908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TextBox 10" id="10"/>
          <p:cNvSpPr txBox="true"/>
          <p:nvPr/>
        </p:nvSpPr>
        <p:spPr>
          <a:xfrm rot="0">
            <a:off x="5968128" y="2395880"/>
            <a:ext cx="6813653" cy="3894323"/>
          </a:xfrm>
          <a:prstGeom prst="rect">
            <a:avLst/>
          </a:prstGeom>
        </p:spPr>
        <p:txBody>
          <a:bodyPr wrap="square" lIns="91440" rIns="91440" tIns="45720" bIns="45720">
            <a:spAutoFit/>
          </a:bodyPr>
          <a:lstStyle/>
          <a:p>
            <a:pPr algn="c">
              <a:buNone/>
            </a:pPr>
            <a:r>
              <a:rPr lang="fr-FR" sz="3000" b="1">
                <a:solidFill>
                  <a:srgbClr val="111827"/>
                </a:solidFill>
                <a:latin typeface="Aptos"/>
              </a:rPr>
              <a:t>DÉMONSTRATION</a:t>
            </a:r>
            <a:endParaRPr lang="fr-FR" sz="3000"/>
          </a:p>
        </p:txBody>
      </p:sp>
      <p:sp>
        <p:nvSpPr>
          <p:cNvPr id="11" name="TextBox 11"/>
          <p:cNvSpPr txBox="1"/>
          <p:nvPr/>
        </p:nvSpPr>
        <p:spPr>
          <a:xfrm>
            <a:off x="2250000" y="3550000"/>
            <a:ext cx="13900000" cy="4300000"/>
          </a:xfrm>
          <a:prstGeom prst="rect">
            <a:avLst/>
          </a:prstGeom>
          <a:noFill/>
          <a:ln>
            <a:noFill/>
          </a:ln>
        </p:spPr>
        <p:txBody>
          <a:bodyPr wrap="square" lIns="91440" rIns="91440" tIns="45720" bIns="45720">
            <a:spAutoFit/>
          </a:bodyPr>
          <a:lstStyle/>
          <a:p>
            <a:pPr algn="l" marL="342900" indent="-228600">
              <a:buChar char="•"/>
            </a:pPr>
            <a:r>
              <a:rPr lang="fr-FR" sz="2000">
                <a:solidFill>
                  <a:srgbClr val="1F2937"/>
                </a:solidFill>
                <a:latin typeface="Aptos"/>
              </a:rPr>
              <a:t>Connexion selon le rôle utilisateur : Agence, Monétique, Inputer, Authorizer ou Admin</a:t>
            </a:r>
            <a:endParaRPr lang="fr-FR" sz="2000"/>
          </a:p>
          <a:p>
            <a:pPr algn="l" marL="342900" indent="-228600">
              <a:buChar char="•"/>
            </a:pPr>
            <a:r>
              <a:rPr lang="fr-FR" sz="2000">
                <a:solidFill>
                  <a:srgbClr val="1F2937"/>
                </a:solidFill>
                <a:latin typeface="Aptos"/>
              </a:rPr>
              <a:t>Création d’une demande TPE et saisie des informations commerçant</a:t>
            </a:r>
            <a:endParaRPr lang="fr-FR" sz="2000"/>
          </a:p>
          <a:p>
            <a:pPr algn="l" marL="342900" indent="-228600">
              <a:buChar char="•"/>
            </a:pPr>
            <a:r>
              <a:rPr lang="fr-FR" sz="2000">
                <a:solidFill>
                  <a:srgbClr val="1F2937"/>
                </a:solidFill>
                <a:latin typeface="Aptos"/>
              </a:rPr>
              <a:t>Validation monétique avec règle 4 yeux puis affectation du terminal</a:t>
            </a:r>
            <a:endParaRPr lang="fr-FR" sz="2000"/>
          </a:p>
          <a:p>
            <a:pPr algn="l" marL="342900" indent="-228600">
              <a:buChar char="•"/>
            </a:pPr>
            <a:r>
              <a:rPr lang="fr-FR" sz="2000">
                <a:solidFill>
                  <a:srgbClr val="1F2937"/>
                </a:solidFill>
                <a:latin typeface="Aptos"/>
              </a:rPr>
              <a:t>Suivi du stock, des pannes, des taux et des tableaux de bord</a:t>
            </a:r>
            <a:endParaRPr lang="fr-FR" sz="2000"/>
          </a:p>
          <a:p>
            <a:pPr algn="l" marL="342900" indent="-228600">
              <a:buChar char="•"/>
            </a:pPr>
            <a:r>
              <a:rPr lang="fr-FR" sz="2000">
                <a:solidFill>
                  <a:srgbClr val="1F2937"/>
                </a:solidFill>
                <a:latin typeface="Aptos"/>
              </a:rPr>
              <a:t>Import/export TPE et traitement du fichier bancaire</a:t>
            </a:r>
            <a:endParaRPr lang="fr-FR" sz="20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554977" y="3890910"/>
            <a:ext cx="11627497" cy="1194633"/>
          </a:xfrm>
          <a:prstGeom prst="rect">
            <a:avLst/>
          </a:prstGeom>
        </p:spPr>
        <p:txBody>
          <a:bodyPr anchor="t" rtlCol="false" tIns="0" lIns="0" bIns="0" rIns="0">
            <a:spAutoFit/>
          </a:bodyPr>
          <a:lstStyle/>
          <a:p>
            <a:pPr algn="ctr" marL="0" indent="0" lvl="0">
              <a:lnSpc>
                <a:spcPts val="9790"/>
              </a:lnSpc>
            </a:pPr>
            <a:r>
              <a:rPr lang="en-US" sz="6993">
                <a:solidFill>
                  <a:srgbClr val="000000"/>
                </a:solidFill>
                <a:latin typeface="Alatsi"/>
                <a:ea typeface="Alatsi"/>
                <a:cs typeface="Alatsi"/>
                <a:sym typeface="Alatsi"/>
              </a:rPr>
              <a:t>CONCLUSION ET PERSPECTIVES</a:t>
            </a:r>
          </a:p>
        </p:txBody>
      </p:sp>
      <p:grpSp>
        <p:nvGrpSpPr>
          <p:cNvPr name="Group 3" id="3"/>
          <p:cNvGrpSpPr/>
          <p:nvPr/>
        </p:nvGrpSpPr>
        <p:grpSpPr>
          <a:xfrm rot="0">
            <a:off x="-31071" y="0"/>
            <a:ext cx="4239083" cy="10287000"/>
            <a:chOff x="0" y="0"/>
            <a:chExt cx="5652111" cy="13716000"/>
          </a:xfrm>
        </p:grpSpPr>
        <p:grpSp>
          <p:nvGrpSpPr>
            <p:cNvPr name="Group 4" id="4"/>
            <p:cNvGrpSpPr/>
            <p:nvPr/>
          </p:nvGrpSpPr>
          <p:grpSpPr>
            <a:xfrm rot="0">
              <a:off x="2826056" y="0"/>
              <a:ext cx="2826056" cy="13716000"/>
              <a:chOff x="0" y="0"/>
              <a:chExt cx="558233" cy="2709333"/>
            </a:xfrm>
          </p:grpSpPr>
          <p:sp>
            <p:nvSpPr>
              <p:cNvPr name="Freeform 5" id="5"/>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6" id="6"/>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7" id="7"/>
            <p:cNvGrpSpPr/>
            <p:nvPr/>
          </p:nvGrpSpPr>
          <p:grpSpPr>
            <a:xfrm rot="0">
              <a:off x="1413028" y="0"/>
              <a:ext cx="2826056" cy="13716000"/>
              <a:chOff x="0" y="0"/>
              <a:chExt cx="558233" cy="2709333"/>
            </a:xfrm>
          </p:grpSpPr>
          <p:sp>
            <p:nvSpPr>
              <p:cNvPr name="Freeform 8" id="8"/>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9" id="9"/>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0" y="0"/>
              <a:ext cx="2826056" cy="13716000"/>
              <a:chOff x="0" y="0"/>
              <a:chExt cx="558233" cy="2709333"/>
            </a:xfrm>
          </p:grpSpPr>
          <p:sp>
            <p:nvSpPr>
              <p:cNvPr name="Freeform 11" id="11"/>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2" id="12"/>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Freeform 13" id="13"/>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866775"/>
            <a:ext cx="16230600"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CONCLUSION</a:t>
            </a:r>
          </a:p>
        </p:txBody>
      </p:sp>
      <p:grpSp>
        <p:nvGrpSpPr>
          <p:cNvPr name="Group 3" id="3"/>
          <p:cNvGrpSpPr/>
          <p:nvPr/>
        </p:nvGrpSpPr>
        <p:grpSpPr>
          <a:xfrm rot="0">
            <a:off x="1028700" y="2869098"/>
            <a:ext cx="15475119" cy="5583826"/>
            <a:chOff x="0" y="0"/>
            <a:chExt cx="4075752" cy="1470637"/>
          </a:xfrm>
        </p:grpSpPr>
        <p:sp>
          <p:nvSpPr>
            <p:cNvPr name="Freeform 4" id="4"/>
            <p:cNvSpPr/>
            <p:nvPr/>
          </p:nvSpPr>
          <p:spPr>
            <a:xfrm flipH="false" flipV="false" rot="0">
              <a:off x="0" y="0"/>
              <a:ext cx="4075752" cy="1470637"/>
            </a:xfrm>
            <a:custGeom>
              <a:avLst/>
              <a:gdLst/>
              <a:ahLst/>
              <a:cxnLst/>
              <a:rect r="r" b="b" t="t" l="l"/>
              <a:pathLst>
                <a:path h="1470637" w="4075752">
                  <a:moveTo>
                    <a:pt x="25514" y="0"/>
                  </a:moveTo>
                  <a:lnTo>
                    <a:pt x="4050237" y="0"/>
                  </a:lnTo>
                  <a:cubicBezTo>
                    <a:pt x="4057004" y="0"/>
                    <a:pt x="4063494" y="2688"/>
                    <a:pt x="4068279" y="7473"/>
                  </a:cubicBezTo>
                  <a:cubicBezTo>
                    <a:pt x="4073063" y="12258"/>
                    <a:pt x="4075752" y="18748"/>
                    <a:pt x="4075752" y="25514"/>
                  </a:cubicBezTo>
                  <a:lnTo>
                    <a:pt x="4075752" y="1445123"/>
                  </a:lnTo>
                  <a:cubicBezTo>
                    <a:pt x="4075752" y="1451890"/>
                    <a:pt x="4073063" y="1458379"/>
                    <a:pt x="4068279" y="1463164"/>
                  </a:cubicBezTo>
                  <a:cubicBezTo>
                    <a:pt x="4063494" y="1467949"/>
                    <a:pt x="4057004" y="1470637"/>
                    <a:pt x="4050237" y="1470637"/>
                  </a:cubicBezTo>
                  <a:lnTo>
                    <a:pt x="25514" y="1470637"/>
                  </a:lnTo>
                  <a:cubicBezTo>
                    <a:pt x="18748" y="1470637"/>
                    <a:pt x="12258" y="1467949"/>
                    <a:pt x="7473" y="1463164"/>
                  </a:cubicBezTo>
                  <a:cubicBezTo>
                    <a:pt x="2688" y="1458379"/>
                    <a:pt x="0" y="1451890"/>
                    <a:pt x="0" y="1445123"/>
                  </a:cubicBezTo>
                  <a:lnTo>
                    <a:pt x="0" y="25514"/>
                  </a:lnTo>
                  <a:cubicBezTo>
                    <a:pt x="0" y="18748"/>
                    <a:pt x="2688" y="12258"/>
                    <a:pt x="7473" y="7473"/>
                  </a:cubicBezTo>
                  <a:cubicBezTo>
                    <a:pt x="12258" y="2688"/>
                    <a:pt x="18748" y="0"/>
                    <a:pt x="25514" y="0"/>
                  </a:cubicBezTo>
                  <a:close/>
                </a:path>
              </a:pathLst>
            </a:custGeom>
            <a:solidFill>
              <a:srgbClr val="E9C7C6"/>
            </a:solidFill>
          </p:spPr>
        </p:sp>
        <p:sp>
          <p:nvSpPr>
            <p:cNvPr name="TextBox 5" id="5"/>
            <p:cNvSpPr txBox="true"/>
            <p:nvPr/>
          </p:nvSpPr>
          <p:spPr>
            <a:xfrm>
              <a:off x="0" y="-38100"/>
              <a:ext cx="4075752" cy="1508737"/>
            </a:xfrm>
            <a:prstGeom prst="rect">
              <a:avLst/>
            </a:prstGeom>
          </p:spPr>
          <p:txBody>
            <a:bodyPr anchor="ctr" rtlCol="false" tIns="50800" lIns="50800" bIns="50800" rIns="50800"/>
            <a:lstStyle/>
            <a:p>
              <a:pPr algn="ctr" marL="0" indent="0" lvl="0">
                <a:lnSpc>
                  <a:spcPts val="2659"/>
                </a:lnSpc>
              </a:pPr>
            </a:p>
          </p:txBody>
        </p:sp>
      </p:grpSp>
      <p:sp>
        <p:nvSpPr>
          <p:cNvPr name="TextBox 6" id="6"/>
          <p:cNvSpPr txBox="true"/>
          <p:nvPr/>
        </p:nvSpPr>
        <p:spPr>
          <a:xfrm rot="0">
            <a:off x="1028700" y="3246785"/>
            <a:ext cx="15089357" cy="5152118"/>
          </a:xfrm>
          <a:prstGeom prst="rect">
            <a:avLst/>
          </a:prstGeom>
        </p:spPr>
        <p:txBody>
          <a:bodyPr anchor="t" rtlCol="false" tIns="0" lIns="0" bIns="0" rIns="0">
            <a:spAutoFit/>
          </a:bodyPr>
          <a:lstStyle/>
          <a:p>
            <a:pPr algn="l" marL="709719" indent="-354859" lvl="1">
              <a:lnSpc>
                <a:spcPts val="4602"/>
              </a:lnSpc>
              <a:buFont typeface="Arial"/>
              <a:buChar char="•"/>
            </a:pPr>
            <a:r>
              <a:rPr lang="en-US" sz="3287">
                <a:solidFill>
                  <a:srgbClr val="000000"/>
                </a:solidFill>
                <a:latin typeface="Alatsi"/>
                <a:ea typeface="Alatsi"/>
                <a:cs typeface="Alatsi"/>
                <a:sym typeface="Alatsi"/>
              </a:rPr>
              <a:t>La solution couvre le cycle complet de gestion des TPE : demande, affectation, suivi des pannes, ajustement des taux et traçabilité.</a:t>
            </a:r>
          </a:p>
          <a:p>
            <a:pPr algn="l" marL="709719" indent="-354859" lvl="1">
              <a:lnSpc>
                <a:spcPts val="4602"/>
              </a:lnSpc>
              <a:buFont typeface="Arial"/>
              <a:buChar char="•"/>
            </a:pPr>
            <a:r>
              <a:rPr lang="en-US" sz="3287">
                <a:solidFill>
                  <a:srgbClr val="000000"/>
                </a:solidFill>
                <a:latin typeface="Alatsi"/>
                <a:ea typeface="Alatsi"/>
                <a:cs typeface="Alatsi"/>
                <a:sym typeface="Alatsi"/>
              </a:rPr>
              <a:t>L’architecture est structurée par couches (domaine, services, persistance, sécurité, intégration, frontend), ce qui facilite la maintenance et l’évolution.</a:t>
            </a:r>
          </a:p>
          <a:p>
            <a:pPr algn="l" marL="709719" indent="-354859" lvl="1">
              <a:lnSpc>
                <a:spcPts val="4602"/>
              </a:lnSpc>
              <a:buFont typeface="Arial"/>
              <a:buChar char="•"/>
            </a:pPr>
            <a:r>
              <a:rPr lang="en-US" sz="3287">
                <a:solidFill>
                  <a:srgbClr val="000000"/>
                </a:solidFill>
                <a:latin typeface="Alatsi"/>
                <a:ea typeface="Alatsi"/>
                <a:cs typeface="Alatsi"/>
                <a:sym typeface="Alatsi"/>
              </a:rPr>
              <a:t>La modélisation métier améliore la cohérence des données, la qualité de service et la visibilité opérationnelle.</a:t>
            </a:r>
          </a:p>
          <a:p>
            <a:pPr algn="l" marL="709719" indent="-354859" lvl="1">
              <a:lnSpc>
                <a:spcPts val="4602"/>
              </a:lnSpc>
              <a:buFont typeface="Arial"/>
              <a:buChar char="•"/>
            </a:pPr>
            <a:r>
              <a:rPr lang="en-US" sz="3287">
                <a:solidFill>
                  <a:srgbClr val="000000"/>
                </a:solidFill>
                <a:latin typeface="Alatsi"/>
                <a:ea typeface="Alatsi"/>
                <a:cs typeface="Alatsi"/>
                <a:sym typeface="Alatsi"/>
              </a:rPr>
              <a:t>Le projet répond à un besoin concret de digitalisation et de pilotage des activités TPE.</a:t>
            </a:r>
          </a:p>
          <a:p>
            <a:pPr algn="l" marL="0" indent="0" lvl="0">
              <a:lnSpc>
                <a:spcPts val="4602"/>
              </a:lnSpc>
            </a:pPr>
          </a:p>
        </p:txBody>
      </p:sp>
      <p:sp>
        <p:nvSpPr>
          <p:cNvPr name="AutoShape 7" id="7"/>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8" id="8"/>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9" id="9"/>
          <p:cNvGrpSpPr/>
          <p:nvPr/>
        </p:nvGrpSpPr>
        <p:grpSpPr>
          <a:xfrm rot="0">
            <a:off x="15859155" y="0"/>
            <a:ext cx="1562612" cy="1673225"/>
            <a:chOff x="0" y="0"/>
            <a:chExt cx="2083482" cy="2230967"/>
          </a:xfrm>
        </p:grpSpPr>
        <p:grpSp>
          <p:nvGrpSpPr>
            <p:cNvPr name="Group 10" id="10"/>
            <p:cNvGrpSpPr/>
            <p:nvPr/>
          </p:nvGrpSpPr>
          <p:grpSpPr>
            <a:xfrm rot="0">
              <a:off x="75599" y="0"/>
              <a:ext cx="1932284" cy="2230967"/>
              <a:chOff x="0" y="0"/>
              <a:chExt cx="703982" cy="812800"/>
            </a:xfrm>
          </p:grpSpPr>
          <p:sp>
            <p:nvSpPr>
              <p:cNvPr name="Freeform 11" id="11"/>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2" id="12"/>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13" id="13"/>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25</a:t>
              </a:r>
            </a:p>
          </p:txBody>
        </p:sp>
      </p:grpSp>
      <p:sp>
        <p:nvSpPr>
          <p:cNvPr name="Freeform 14" id="14"/>
          <p:cNvSpPr/>
          <p:nvPr/>
        </p:nvSpPr>
        <p:spPr>
          <a:xfrm flipH="false" flipV="false" rot="0">
            <a:off x="-224313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7.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768597" y="1511300"/>
            <a:ext cx="16230600" cy="1451128"/>
          </a:xfrm>
          <a:prstGeom prst="rect">
            <a:avLst/>
          </a:prstGeom>
        </p:spPr>
        <p:txBody>
          <a:bodyPr anchor="t" rtlCol="false" tIns="0" lIns="0" bIns="0" rIns="0">
            <a:spAutoFit/>
          </a:bodyPr>
          <a:lstStyle/>
          <a:p>
            <a:pPr algn="ctr" marL="0" indent="0" lvl="0">
              <a:lnSpc>
                <a:spcPts val="11891"/>
              </a:lnSpc>
            </a:pPr>
            <a:r>
              <a:rPr lang="en-US" sz="8493">
                <a:solidFill>
                  <a:srgbClr val="000000"/>
                </a:solidFill>
                <a:latin typeface="Alatsi"/>
                <a:ea typeface="Alatsi"/>
                <a:cs typeface="Alatsi"/>
                <a:sym typeface="Alatsi"/>
              </a:rPr>
              <a:t>PERSPECTIVES D'ÉVOLUTION</a:t>
            </a:r>
          </a:p>
        </p:txBody>
      </p:sp>
      <p:sp>
        <p:nvSpPr>
          <p:cNvPr name="AutoShape 3" id="3"/>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4" id="4"/>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marL="0" indent="0" lvl="0">
                  <a:lnSpc>
                    <a:spcPts val="2659"/>
                  </a:lnSpc>
                </a:pPr>
              </a:p>
            </p:txBody>
          </p:sp>
        </p:grpSp>
        <p:sp>
          <p:nvSpPr>
            <p:cNvPr name="TextBox 9" id="9"/>
            <p:cNvSpPr txBox="true"/>
            <p:nvPr/>
          </p:nvSpPr>
          <p:spPr>
            <a:xfrm rot="0">
              <a:off x="0" y="447107"/>
              <a:ext cx="2083482" cy="1232111"/>
            </a:xfrm>
            <a:prstGeom prst="rect">
              <a:avLst/>
            </a:prstGeom>
          </p:spPr>
          <p:txBody>
            <a:bodyPr anchor="t" rtlCol="false" tIns="0" lIns="0" bIns="0" rIns="0">
              <a:spAutoFit/>
            </a:bodyPr>
            <a:lstStyle/>
            <a:p>
              <a:pPr algn="ctr" marL="0" indent="0" lvl="0">
                <a:lnSpc>
                  <a:spcPts val="7799"/>
                </a:lnSpc>
              </a:pPr>
              <a:r>
                <a:rPr lang="en-US" b="true" sz="5571">
                  <a:solidFill>
                    <a:srgbClr val="000000"/>
                  </a:solidFill>
                  <a:latin typeface="Open Sans Bold"/>
                  <a:ea typeface="Open Sans Bold"/>
                  <a:cs typeface="Open Sans Bold"/>
                  <a:sym typeface="Open Sans Bold"/>
                </a:rPr>
                <a:t>26</a:t>
              </a:r>
            </a:p>
          </p:txBody>
        </p:sp>
      </p:grpSp>
      <p:sp>
        <p:nvSpPr>
          <p:cNvPr name="Freeform 10" id="10"/>
          <p:cNvSpPr/>
          <p:nvPr/>
        </p:nvSpPr>
        <p:spPr>
          <a:xfrm flipH="false" flipV="false" rot="0">
            <a:off x="-224313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TextBox 11" id="11"/>
          <p:cNvSpPr txBox="true"/>
          <p:nvPr/>
        </p:nvSpPr>
        <p:spPr>
          <a:xfrm rot="0">
            <a:off x="1768597" y="3334823"/>
            <a:ext cx="15089357" cy="5726444"/>
          </a:xfrm>
          <a:prstGeom prst="rect">
            <a:avLst/>
          </a:prstGeom>
        </p:spPr>
        <p:txBody>
          <a:bodyPr wrap="square" lIns="91440" rIns="91440" tIns="45720" bIns="45720">
            <a:spAutoFit/>
          </a:bodyPr>
          <a:lstStyle/>
          <a:p>
            <a:pPr algn="l" marL="342900" indent="-228600">
              <a:buChar char="•"/>
            </a:pPr>
            <a:r>
              <a:rPr lang="fr-FR" sz="1850">
                <a:solidFill>
                  <a:srgbClr val="1F2937"/>
                </a:solidFill>
                <a:latin typeface="Aptos"/>
              </a:rPr>
              <a:t>Application mobile pour techniciens terrain : diagnostic, photos, statut d’intervention</a:t>
            </a:r>
            <a:endParaRPr lang="fr-FR" sz="1850"/>
          </a:p>
          <a:p>
            <a:pPr algn="l" marL="342900" indent="-228600">
              <a:buChar char="•"/>
            </a:pPr>
            <a:r>
              <a:rPr lang="fr-FR" sz="1850">
                <a:solidFill>
                  <a:srgbClr val="1F2937"/>
                </a:solidFill>
                <a:latin typeface="Aptos"/>
              </a:rPr>
              <a:t>Notifications temps réel via WebSockets pour demandes, pannes et validations</a:t>
            </a:r>
            <a:endParaRPr lang="fr-FR" sz="1850"/>
          </a:p>
          <a:p>
            <a:pPr algn="l" marL="342900" indent="-228600">
              <a:buChar char="•"/>
            </a:pPr>
            <a:r>
              <a:rPr lang="fr-FR" sz="1850">
                <a:solidFill>
                  <a:srgbClr val="1F2937"/>
                </a:solidFill>
                <a:latin typeface="Aptos"/>
              </a:rPr>
              <a:t>Module de facturation automatique des loyers commerçants et rapprochement comptable</a:t>
            </a:r>
            <a:endParaRPr lang="fr-FR" sz="1850"/>
          </a:p>
          <a:p>
            <a:pPr algn="l" marL="342900" indent="-228600">
              <a:buChar char="•"/>
            </a:pPr>
            <a:r>
              <a:rPr lang="fr-FR" sz="1850">
                <a:solidFill>
                  <a:srgbClr val="1F2937"/>
                </a:solidFill>
                <a:latin typeface="Aptos"/>
              </a:rPr>
              <a:t>Espace self-service commerçant pour suivi des demandes et déclaration de pannes</a:t>
            </a:r>
            <a:endParaRPr lang="fr-FR" sz="1850"/>
          </a:p>
          <a:p>
            <a:pPr algn="l" marL="342900" indent="-228600">
              <a:buChar char="•"/>
            </a:pPr>
            <a:r>
              <a:rPr lang="fr-FR" sz="1850">
                <a:solidFill>
                  <a:srgbClr val="1F2937"/>
                </a:solidFill>
                <a:latin typeface="Aptos"/>
              </a:rPr>
              <a:t>Analytics avancés : prévision des pannes, alertes stock et indicateurs SLA</a:t>
            </a:r>
            <a:endParaRPr lang="fr-FR" sz="1850"/>
          </a:p>
          <a:p>
            <a:pPr algn="l" marL="342900" indent="-228600">
              <a:buChar char="•"/>
            </a:pPr>
            <a:r>
              <a:rPr lang="fr-FR" sz="1850">
                <a:solidFill>
                  <a:srgbClr val="1F2937"/>
                </a:solidFill>
                <a:latin typeface="Aptos"/>
              </a:rPr>
              <a:t>Renforcement DevOps : CI/CD, tests automatisés et supervision applicative</a:t>
            </a:r>
            <a:endParaRPr lang="fr-FR" sz="1850"/>
          </a:p>
        </p:txBody>
      </p:sp>
    </p:spTree>
  </p:cSld>
  <p:clrMapOvr>
    <a:masterClrMapping/>
  </p:clrMapOvr>
</p:sld>
</file>

<file path=ppt/slides/slide28.xml><?xml version="1.0" encoding="utf-8"?>
<p:sld xmlns:a="http://schemas.openxmlformats.org/drawingml/2006/main" xmlns:ns3="http://schemas.microsoft.com/office/drawing/2016/SVG/main" xmlns:p="http://schemas.openxmlformats.org/presentation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5109899" y="3821836"/>
            <a:ext cx="11627497" cy="1321664"/>
          </a:xfrm>
          <a:prstGeom prst="rect">
            <a:avLst/>
          </a:prstGeom>
        </p:spPr>
        <p:txBody>
          <a:bodyPr anchor="t" rtlCol="false" tIns="0" lIns="0" bIns="0" rIns="0">
            <a:spAutoFit/>
          </a:bodyPr>
          <a:lstStyle/>
          <a:p>
            <a:pPr algn="ctr" marL="0" indent="0" lvl="0">
              <a:lnSpc>
                <a:spcPts val="10759"/>
              </a:lnSpc>
            </a:pPr>
            <a:r>
              <a:rPr lang="en-US" sz="7685">
                <a:solidFill>
                  <a:srgbClr val="000000"/>
                </a:solidFill>
                <a:latin typeface="Alatsi"/>
                <a:ea typeface="Alatsi"/>
                <a:cs typeface="Alatsi"/>
                <a:sym typeface="Alatsi"/>
              </a:rPr>
              <a:t>MERCI DE VOTRE ATTENTION</a:t>
            </a:r>
          </a:p>
        </p:txBody>
      </p:sp>
      <p:grpSp>
        <p:nvGrpSpPr>
          <p:cNvPr name="Group 3" id="3"/>
          <p:cNvGrpSpPr/>
          <p:nvPr/>
        </p:nvGrpSpPr>
        <p:grpSpPr>
          <a:xfrm rot="0">
            <a:off x="-31071" y="0"/>
            <a:ext cx="4239083" cy="10287000"/>
            <a:chOff x="0" y="0"/>
            <a:chExt cx="5652111" cy="13716000"/>
          </a:xfrm>
        </p:grpSpPr>
        <p:grpSp>
          <p:nvGrpSpPr>
            <p:cNvPr name="Group 4" id="4"/>
            <p:cNvGrpSpPr/>
            <p:nvPr/>
          </p:nvGrpSpPr>
          <p:grpSpPr>
            <a:xfrm rot="0">
              <a:off x="2826056" y="0"/>
              <a:ext cx="2826056" cy="13716000"/>
              <a:chOff x="0" y="0"/>
              <a:chExt cx="558233" cy="2709333"/>
            </a:xfrm>
          </p:grpSpPr>
          <p:sp>
            <p:nvSpPr>
              <p:cNvPr name="Freeform 5" id="5"/>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6" id="6"/>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7" id="7"/>
            <p:cNvGrpSpPr/>
            <p:nvPr/>
          </p:nvGrpSpPr>
          <p:grpSpPr>
            <a:xfrm rot="0">
              <a:off x="1413028" y="0"/>
              <a:ext cx="2826056" cy="13716000"/>
              <a:chOff x="0" y="0"/>
              <a:chExt cx="558233" cy="2709333"/>
            </a:xfrm>
          </p:grpSpPr>
          <p:sp>
            <p:nvSpPr>
              <p:cNvPr name="Freeform 8" id="8"/>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9" id="9"/>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0" y="0"/>
              <a:ext cx="2826056" cy="13716000"/>
              <a:chOff x="0" y="0"/>
              <a:chExt cx="558233" cy="2709333"/>
            </a:xfrm>
          </p:grpSpPr>
          <p:sp>
            <p:nvSpPr>
              <p:cNvPr name="Freeform 11" id="11"/>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2" id="12"/>
              <p:cNvSpPr txBox="true"/>
              <p:nvPr/>
            </p:nvSpPr>
            <p:spPr>
              <a:xfrm>
                <a:off x="0" y="-47625"/>
                <a:ext cx="558233" cy="2756958"/>
              </a:xfrm>
              <a:prstGeom prst="rect">
                <a:avLst/>
              </a:prstGeom>
            </p:spPr>
            <p:txBody>
              <a:bodyPr anchor="ctr" rtlCol="false" tIns="50800" lIns="50800" bIns="50800" rIns="50800"/>
              <a:lstStyle/>
              <a:p>
                <a:pPr algn="ctr" marL="0" indent="0" lvl="0">
                  <a:lnSpc>
                    <a:spcPts val="2659"/>
                  </a:lnSpc>
                </a:pPr>
              </a:p>
            </p:txBody>
          </p:sp>
        </p:grpSp>
      </p:grpSp>
      <p:sp>
        <p:nvSpPr>
          <p:cNvPr name="Freeform 13" id="13"/>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Freeform 14" id="14"/>
          <p:cNvSpPr/>
          <p:nvPr/>
        </p:nvSpPr>
        <p:spPr>
          <a:xfrm flipH="false" flipV="false" rot="0">
            <a:off x="11625052" y="-144908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ns3:svgBlip r:embed="rId3"/>
                </a:ext>
              </a:extLst>
            </a:blip>
            <a:stretch>
              <a:fillRect l="0" t="0" r="0" b="0"/>
            </a:stretch>
          </a:blipFill>
        </p:spPr>
      </p:sp>
      <p:sp>
        <p:nvSpPr>
          <p:cNvPr name="TextBox 15" id="15"/>
          <p:cNvSpPr txBox="true"/>
          <p:nvPr/>
        </p:nvSpPr>
        <p:spPr>
          <a:xfrm rot="0">
            <a:off x="6754770" y="5918383"/>
            <a:ext cx="8478800" cy="2107828"/>
          </a:xfrm>
          <a:prstGeom prst="rect">
            <a:avLst/>
          </a:prstGeom>
        </p:spPr>
        <p:txBody>
          <a:bodyPr wrap="square" lIns="91440" rIns="91440" tIns="45720" bIns="45720">
            <a:spAutoFit/>
          </a:bodyPr>
          <a:lstStyle/>
          <a:p>
            <a:pPr algn="l">
              <a:buNone/>
            </a:pPr>
            <a:r>
              <a:rPr lang="fr-FR" sz="1900">
                <a:solidFill>
                  <a:srgbClr val="374151"/>
                </a:solidFill>
                <a:latin typeface="Aptos"/>
              </a:rPr>
              <a:t>Réalisé par : Nessim Ayadi</a:t>
            </a:r>
            <a:endParaRPr lang="fr-FR" sz="1900"/>
          </a:p>
          <a:p>
            <a:pPr algn="l">
              <a:buNone/>
            </a:pPr>
            <a:r>
              <a:rPr lang="fr-FR" sz="1900">
                <a:solidFill>
                  <a:srgbClr val="374151"/>
                </a:solidFill>
                <a:latin typeface="Aptos"/>
              </a:rPr>
              <a:t>Encadrant académique : Kmar Fersi</a:t>
            </a:r>
            <a:endParaRPr lang="fr-FR" sz="1900"/>
          </a:p>
          <a:p>
            <a:pPr algn="l">
              <a:buNone/>
            </a:pPr>
            <a:r>
              <a:rPr lang="fr-FR" sz="1900">
                <a:solidFill>
                  <a:srgbClr val="374151"/>
                </a:solidFill>
                <a:latin typeface="Aptos"/>
              </a:rPr>
              <a:t>Encadrant professionnel : Mr. Alaa Laamouri</a:t>
            </a:r>
            <a:endParaRPr lang="fr-FR" sz="1900"/>
          </a:p>
        </p:txBody>
      </p:sp>
      <p:sp>
        <p:nvSpPr>
          <p:cNvPr name="Freeform 16" id="16"/>
          <p:cNvSpPr/>
          <p:nvPr/>
        </p:nvSpPr>
        <p:spPr>
          <a:xfrm flipH="false" flipV="false" rot="0">
            <a:off x="14760771" y="641152"/>
            <a:ext cx="3527229" cy="2327971"/>
          </a:xfrm>
          <a:custGeom>
            <a:avLst/>
            <a:gdLst/>
            <a:ahLst/>
            <a:cxnLst/>
            <a:rect r="r" b="b" t="t" l="l"/>
            <a:pathLst>
              <a:path h="2327971" w="3527229">
                <a:moveTo>
                  <a:pt x="0" y="0"/>
                </a:moveTo>
                <a:lnTo>
                  <a:pt x="3527229" y="0"/>
                </a:lnTo>
                <a:lnTo>
                  <a:pt x="3527229" y="2327971"/>
                </a:lnTo>
                <a:lnTo>
                  <a:pt x="0" y="2327971"/>
                </a:lnTo>
                <a:lnTo>
                  <a:pt x="0" y="0"/>
                </a:lnTo>
                <a:close/>
              </a:path>
            </a:pathLst>
          </a:custGeom>
          <a:blipFill>
            <a:blip r:embed="rId4"/>
            <a:stretch>
              <a:fillRect l="0" t="0" r="0" b="0"/>
            </a:stretch>
          </a:blipFill>
        </p:spPr>
      </p:sp>
      <p:sp>
        <p:nvSpPr>
          <p:cNvPr name="Freeform 17" id="17"/>
          <p:cNvSpPr/>
          <p:nvPr/>
        </p:nvSpPr>
        <p:spPr>
          <a:xfrm flipH="false" flipV="false" rot="0">
            <a:off x="4554977" y="1400925"/>
            <a:ext cx="4399587" cy="808424"/>
          </a:xfrm>
          <a:custGeom>
            <a:avLst/>
            <a:gdLst/>
            <a:ahLst/>
            <a:cxnLst/>
            <a:rect r="r" b="b" t="t" l="l"/>
            <a:pathLst>
              <a:path h="808424" w="4399587">
                <a:moveTo>
                  <a:pt x="0" y="0"/>
                </a:moveTo>
                <a:lnTo>
                  <a:pt x="4399586" y="0"/>
                </a:lnTo>
                <a:lnTo>
                  <a:pt x="4399586" y="808424"/>
                </a:lnTo>
                <a:lnTo>
                  <a:pt x="0" y="808424"/>
                </a:lnTo>
                <a:lnTo>
                  <a:pt x="0" y="0"/>
                </a:lnTo>
                <a:close/>
              </a:path>
            </a:pathLst>
          </a:custGeom>
          <a:blipFill>
            <a:blip r:embed="rId5"/>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DAHHZRfHK4Y</dc:identifier>
  <dcterms:modified xsi:type="dcterms:W3CDTF">2011-08-01T06:04:30Z</dcterms:modified>
  <cp:revision>1</cp:revision>
  <dc:title>Projet de Fin d’Études — Présentation Générale</dc:title>
</cp:coreProperties>
</file>