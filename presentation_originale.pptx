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x="18288000" cy="10287000"/>
  <p:notesSz cx="6858000" cy="9144000"/>
  <p:embeddedFontLst>
    <p:embeddedFont>
      <p:font typeface="Alatsi" charset="1" panose="00000500000000000000"/>
      <p:regular r:id="rId34"/>
    </p:embeddedFont>
    <p:embeddedFont>
      <p:font typeface="Sondos Bold" charset="1" panose="00000800000000000000"/>
      <p:regular r:id="rId35"/>
    </p:embeddedFont>
    <p:embeddedFont>
      <p:font typeface="Open Sans Bold" charset="1" panose="020B0806030504020204"/>
      <p:regular r:id="rId36"/>
    </p:embeddedFont>
    <p:embeddedFont>
      <p:font typeface="Abhaya Libre Bold" charset="1" panose="02000803000000000000"/>
      <p:regular r:id="rId37"/>
    </p:embeddedFont>
    <p:embeddedFont>
      <p:font typeface="Abhaya Libre" charset="1" panose="02000503000000000000"/>
      <p:regular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0.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2.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3.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4.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5.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6.png" Type="http://schemas.openxmlformats.org/officeDocument/2006/relationships/image"/><Relationship Id="rId5" Target="../media/image17.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0.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2.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grpSp>
        <p:nvGrpSpPr>
          <p:cNvPr name="Group 2" id="2"/>
          <p:cNvGrpSpPr/>
          <p:nvPr/>
        </p:nvGrpSpPr>
        <p:grpSpPr>
          <a:xfrm rot="0">
            <a:off x="-31071" y="0"/>
            <a:ext cx="4239083" cy="10287000"/>
            <a:chOff x="0" y="0"/>
            <a:chExt cx="5652111" cy="13716000"/>
          </a:xfrm>
        </p:grpSpPr>
        <p:grpSp>
          <p:nvGrpSpPr>
            <p:cNvPr name="Group 3" id="3"/>
            <p:cNvGrpSpPr/>
            <p:nvPr/>
          </p:nvGrpSpPr>
          <p:grpSpPr>
            <a:xfrm rot="0">
              <a:off x="2826056" y="0"/>
              <a:ext cx="2826056" cy="13716000"/>
              <a:chOff x="0" y="0"/>
              <a:chExt cx="558233" cy="2709333"/>
            </a:xfrm>
          </p:grpSpPr>
          <p:sp>
            <p:nvSpPr>
              <p:cNvPr name="Freeform 4" id="4"/>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E9E0D9"/>
              </a:solidFill>
            </p:spPr>
          </p:sp>
          <p:sp>
            <p:nvSpPr>
              <p:cNvPr name="TextBox 5" id="5"/>
              <p:cNvSpPr txBox="true"/>
              <p:nvPr/>
            </p:nvSpPr>
            <p:spPr>
              <a:xfrm>
                <a:off x="0" y="-47625"/>
                <a:ext cx="558233" cy="2756958"/>
              </a:xfrm>
              <a:prstGeom prst="rect">
                <a:avLst/>
              </a:prstGeom>
            </p:spPr>
            <p:txBody>
              <a:bodyPr anchor="ctr" rtlCol="false" tIns="50800" lIns="50800" bIns="50800" rIns="50800"/>
              <a:lstStyle/>
              <a:p>
                <a:pPr algn="ctr" marL="0" indent="0" lvl="0">
                  <a:lnSpc>
                    <a:spcPts val="2659"/>
                  </a:lnSpc>
                </a:pPr>
              </a:p>
            </p:txBody>
          </p:sp>
        </p:grpSp>
        <p:grpSp>
          <p:nvGrpSpPr>
            <p:cNvPr name="Group 6" id="6"/>
            <p:cNvGrpSpPr/>
            <p:nvPr/>
          </p:nvGrpSpPr>
          <p:grpSpPr>
            <a:xfrm rot="0">
              <a:off x="1413028" y="0"/>
              <a:ext cx="2826056" cy="13716000"/>
              <a:chOff x="0" y="0"/>
              <a:chExt cx="558233" cy="2709333"/>
            </a:xfrm>
          </p:grpSpPr>
          <p:sp>
            <p:nvSpPr>
              <p:cNvPr name="Freeform 7" id="7"/>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9FC3D0"/>
              </a:solidFill>
            </p:spPr>
          </p:sp>
          <p:sp>
            <p:nvSpPr>
              <p:cNvPr name="TextBox 8" id="8"/>
              <p:cNvSpPr txBox="true"/>
              <p:nvPr/>
            </p:nvSpPr>
            <p:spPr>
              <a:xfrm>
                <a:off x="0" y="-47625"/>
                <a:ext cx="558233" cy="2756958"/>
              </a:xfrm>
              <a:prstGeom prst="rect">
                <a:avLst/>
              </a:prstGeom>
            </p:spPr>
            <p:txBody>
              <a:bodyPr anchor="ctr" rtlCol="false" tIns="50800" lIns="50800" bIns="50800" rIns="50800"/>
              <a:lstStyle/>
              <a:p>
                <a:pPr algn="ctr" marL="0" indent="0" lvl="0">
                  <a:lnSpc>
                    <a:spcPts val="2659"/>
                  </a:lnSpc>
                </a:pPr>
              </a:p>
            </p:txBody>
          </p:sp>
        </p:grpSp>
        <p:grpSp>
          <p:nvGrpSpPr>
            <p:cNvPr name="Group 9" id="9"/>
            <p:cNvGrpSpPr/>
            <p:nvPr/>
          </p:nvGrpSpPr>
          <p:grpSpPr>
            <a:xfrm rot="0">
              <a:off x="0" y="0"/>
              <a:ext cx="2826056" cy="13716000"/>
              <a:chOff x="0" y="0"/>
              <a:chExt cx="558233" cy="2709333"/>
            </a:xfrm>
          </p:grpSpPr>
          <p:sp>
            <p:nvSpPr>
              <p:cNvPr name="Freeform 10" id="10"/>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E9C7C6"/>
              </a:solidFill>
            </p:spPr>
          </p:sp>
          <p:sp>
            <p:nvSpPr>
              <p:cNvPr name="TextBox 11" id="11"/>
              <p:cNvSpPr txBox="true"/>
              <p:nvPr/>
            </p:nvSpPr>
            <p:spPr>
              <a:xfrm>
                <a:off x="0" y="-47625"/>
                <a:ext cx="558233" cy="2756958"/>
              </a:xfrm>
              <a:prstGeom prst="rect">
                <a:avLst/>
              </a:prstGeom>
            </p:spPr>
            <p:txBody>
              <a:bodyPr anchor="ctr" rtlCol="false" tIns="50800" lIns="50800" bIns="50800" rIns="50800"/>
              <a:lstStyle/>
              <a:p>
                <a:pPr algn="ctr" marL="0" indent="0" lvl="0">
                  <a:lnSpc>
                    <a:spcPts val="2659"/>
                  </a:lnSpc>
                </a:pPr>
              </a:p>
            </p:txBody>
          </p:sp>
        </p:grpSp>
      </p:grpSp>
      <p:sp>
        <p:nvSpPr>
          <p:cNvPr name="TextBox 12" id="12"/>
          <p:cNvSpPr txBox="true"/>
          <p:nvPr/>
        </p:nvSpPr>
        <p:spPr>
          <a:xfrm rot="0">
            <a:off x="6241693" y="2386159"/>
            <a:ext cx="8534002" cy="2617104"/>
          </a:xfrm>
          <a:prstGeom prst="rect">
            <a:avLst/>
          </a:prstGeom>
        </p:spPr>
        <p:txBody>
          <a:bodyPr anchor="t" rtlCol="false" tIns="0" lIns="0" bIns="0" rIns="0">
            <a:spAutoFit/>
          </a:bodyPr>
          <a:lstStyle/>
          <a:p>
            <a:pPr algn="ctr" marL="0" indent="0" lvl="0">
              <a:lnSpc>
                <a:spcPts val="10046"/>
              </a:lnSpc>
            </a:pPr>
            <a:r>
              <a:rPr lang="en-US" sz="10357">
                <a:solidFill>
                  <a:srgbClr val="000000"/>
                </a:solidFill>
                <a:latin typeface="Alatsi"/>
                <a:ea typeface="Alatsi"/>
                <a:cs typeface="Alatsi"/>
                <a:sym typeface="Alatsi"/>
              </a:rPr>
              <a:t>PROJET DE FIN D’ÉTUDES</a:t>
            </a:r>
          </a:p>
        </p:txBody>
      </p:sp>
      <p:sp>
        <p:nvSpPr>
          <p:cNvPr name="Freeform 13" id="13"/>
          <p:cNvSpPr/>
          <p:nvPr/>
        </p:nvSpPr>
        <p:spPr>
          <a:xfrm flipH="false" flipV="false" rot="0">
            <a:off x="12646898" y="-210192"/>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4" id="14"/>
          <p:cNvSpPr txBox="true"/>
          <p:nvPr/>
        </p:nvSpPr>
        <p:spPr>
          <a:xfrm rot="0">
            <a:off x="6377637" y="9463799"/>
            <a:ext cx="6882108" cy="528163"/>
          </a:xfrm>
          <a:prstGeom prst="rect">
            <a:avLst/>
          </a:prstGeom>
        </p:spPr>
        <p:txBody>
          <a:bodyPr anchor="t" rtlCol="false" tIns="0" lIns="0" bIns="0" rIns="0">
            <a:spAutoFit/>
          </a:bodyPr>
          <a:lstStyle/>
          <a:p>
            <a:pPr algn="ctr" marL="0" indent="0" lvl="0">
              <a:lnSpc>
                <a:spcPts val="4373"/>
              </a:lnSpc>
            </a:pPr>
            <a:r>
              <a:rPr lang="en-US" sz="3124">
                <a:solidFill>
                  <a:srgbClr val="000000"/>
                </a:solidFill>
                <a:latin typeface="Alatsi"/>
                <a:ea typeface="Alatsi"/>
                <a:cs typeface="Alatsi"/>
                <a:sym typeface="Alatsi"/>
              </a:rPr>
              <a:t>Anné</a:t>
            </a:r>
            <a:r>
              <a:rPr lang="en-US" sz="3124">
                <a:solidFill>
                  <a:srgbClr val="000000"/>
                </a:solidFill>
                <a:latin typeface="Alatsi"/>
                <a:ea typeface="Alatsi"/>
                <a:cs typeface="Alatsi"/>
                <a:sym typeface="Alatsi"/>
              </a:rPr>
              <a:t>e universitaire 2025-2026</a:t>
            </a:r>
          </a:p>
        </p:txBody>
      </p:sp>
      <p:sp>
        <p:nvSpPr>
          <p:cNvPr name="Freeform 15" id="15"/>
          <p:cNvSpPr/>
          <p:nvPr/>
        </p:nvSpPr>
        <p:spPr>
          <a:xfrm flipH="false" flipV="false" rot="0">
            <a:off x="11118095" y="9258300"/>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7610648" y="5143500"/>
            <a:ext cx="5796092" cy="1065032"/>
          </a:xfrm>
          <a:custGeom>
            <a:avLst/>
            <a:gdLst/>
            <a:ahLst/>
            <a:cxnLst/>
            <a:rect r="r" b="b" t="t" l="l"/>
            <a:pathLst>
              <a:path h="1065032" w="5796092">
                <a:moveTo>
                  <a:pt x="0" y="0"/>
                </a:moveTo>
                <a:lnTo>
                  <a:pt x="5796092" y="0"/>
                </a:lnTo>
                <a:lnTo>
                  <a:pt x="5796092" y="1065032"/>
                </a:lnTo>
                <a:lnTo>
                  <a:pt x="0" y="1065032"/>
                </a:lnTo>
                <a:lnTo>
                  <a:pt x="0" y="0"/>
                </a:lnTo>
                <a:close/>
              </a:path>
            </a:pathLst>
          </a:custGeom>
          <a:blipFill>
            <a:blip r:embed="rId4"/>
            <a:stretch>
              <a:fillRect l="0" t="0" r="0" b="0"/>
            </a:stretch>
          </a:blipFill>
        </p:spPr>
      </p:sp>
      <p:sp>
        <p:nvSpPr>
          <p:cNvPr name="Freeform 17" id="17"/>
          <p:cNvSpPr/>
          <p:nvPr/>
        </p:nvSpPr>
        <p:spPr>
          <a:xfrm flipH="false" flipV="false" rot="0">
            <a:off x="14775695" y="-210192"/>
            <a:ext cx="3527229" cy="2327971"/>
          </a:xfrm>
          <a:custGeom>
            <a:avLst/>
            <a:gdLst/>
            <a:ahLst/>
            <a:cxnLst/>
            <a:rect r="r" b="b" t="t" l="l"/>
            <a:pathLst>
              <a:path h="2327971" w="3527229">
                <a:moveTo>
                  <a:pt x="0" y="0"/>
                </a:moveTo>
                <a:lnTo>
                  <a:pt x="3527229" y="0"/>
                </a:lnTo>
                <a:lnTo>
                  <a:pt x="3527229" y="2327971"/>
                </a:lnTo>
                <a:lnTo>
                  <a:pt x="0" y="2327971"/>
                </a:lnTo>
                <a:lnTo>
                  <a:pt x="0" y="0"/>
                </a:lnTo>
                <a:close/>
              </a:path>
            </a:pathLst>
          </a:custGeom>
          <a:blipFill>
            <a:blip r:embed="rId5"/>
            <a:stretch>
              <a:fillRect l="0" t="0" r="0" b="0"/>
            </a:stretch>
          </a:blipFill>
        </p:spPr>
      </p:sp>
      <p:sp>
        <p:nvSpPr>
          <p:cNvPr name="TextBox 18" id="18"/>
          <p:cNvSpPr txBox="true"/>
          <p:nvPr/>
        </p:nvSpPr>
        <p:spPr>
          <a:xfrm rot="0">
            <a:off x="5738284" y="6881125"/>
            <a:ext cx="8478800" cy="2107828"/>
          </a:xfrm>
          <a:prstGeom prst="rect">
            <a:avLst/>
          </a:prstGeom>
        </p:spPr>
        <p:txBody>
          <a:bodyPr anchor="t" rtlCol="false" tIns="0" lIns="0" bIns="0" rIns="0">
            <a:spAutoFit/>
          </a:bodyPr>
          <a:lstStyle/>
          <a:p>
            <a:pPr algn="ctr" marL="0" indent="0" lvl="0">
              <a:lnSpc>
                <a:spcPts val="4260"/>
              </a:lnSpc>
            </a:pPr>
            <a:r>
              <a:rPr lang="en-US" b="true" sz="3043">
                <a:solidFill>
                  <a:srgbClr val="27364C"/>
                </a:solidFill>
                <a:latin typeface="Sondos Bold"/>
                <a:ea typeface="Sondos Bold"/>
                <a:cs typeface="Sondos Bold"/>
                <a:sym typeface="Sondos Bold"/>
              </a:rPr>
              <a:t>Présenté par : Nessim Ayadi</a:t>
            </a:r>
          </a:p>
          <a:p>
            <a:pPr algn="ctr" marL="0" indent="0" lvl="0">
              <a:lnSpc>
                <a:spcPts val="4260"/>
              </a:lnSpc>
            </a:pPr>
            <a:r>
              <a:rPr lang="en-US" b="true" sz="3043">
                <a:solidFill>
                  <a:srgbClr val="27364C"/>
                </a:solidFill>
                <a:latin typeface="Sondos Bold"/>
                <a:ea typeface="Sondos Bold"/>
                <a:cs typeface="Sondos Bold"/>
                <a:sym typeface="Sondos Bold"/>
              </a:rPr>
              <a:t>Encadrant Academic :  Kmar Fersi</a:t>
            </a:r>
          </a:p>
          <a:p>
            <a:pPr algn="ctr" marL="0" indent="0" lvl="0">
              <a:lnSpc>
                <a:spcPts val="4260"/>
              </a:lnSpc>
            </a:pPr>
            <a:r>
              <a:rPr lang="en-US" b="true" sz="3043">
                <a:solidFill>
                  <a:srgbClr val="27364C"/>
                </a:solidFill>
                <a:latin typeface="Sondos Bold"/>
                <a:ea typeface="Sondos Bold"/>
                <a:cs typeface="Sondos Bold"/>
                <a:sym typeface="Sondos Bold"/>
              </a:rPr>
              <a:t>Encadrant supervisor : Mr. Alaa Laamouri</a:t>
            </a:r>
          </a:p>
          <a:p>
            <a:pPr algn="ctr" marL="0" indent="0" lvl="0">
              <a:lnSpc>
                <a:spcPts val="4260"/>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0">
            <a:off x="1028700" y="866775"/>
            <a:ext cx="16230600" cy="1451128"/>
          </a:xfrm>
          <a:prstGeom prst="rect">
            <a:avLst/>
          </a:prstGeom>
        </p:spPr>
        <p:txBody>
          <a:bodyPr anchor="t" rtlCol="false" tIns="0" lIns="0" bIns="0" rIns="0">
            <a:spAutoFit/>
          </a:bodyPr>
          <a:lstStyle/>
          <a:p>
            <a:pPr algn="ctr" marL="0" indent="0" lvl="0">
              <a:lnSpc>
                <a:spcPts val="11891"/>
              </a:lnSpc>
            </a:pPr>
            <a:r>
              <a:rPr lang="en-US" sz="8493">
                <a:solidFill>
                  <a:srgbClr val="000000"/>
                </a:solidFill>
                <a:latin typeface="Alatsi"/>
                <a:ea typeface="Alatsi"/>
                <a:cs typeface="Alatsi"/>
                <a:sym typeface="Alatsi"/>
              </a:rPr>
              <a:t>PLAN DE LA PRÉSENTATION</a:t>
            </a:r>
          </a:p>
        </p:txBody>
      </p:sp>
      <p:grpSp>
        <p:nvGrpSpPr>
          <p:cNvPr name="Group 3" id="3"/>
          <p:cNvGrpSpPr/>
          <p:nvPr/>
        </p:nvGrpSpPr>
        <p:grpSpPr>
          <a:xfrm rot="0">
            <a:off x="627362" y="0"/>
            <a:ext cx="937061" cy="10287000"/>
            <a:chOff x="0" y="0"/>
            <a:chExt cx="246798" cy="2709333"/>
          </a:xfrm>
        </p:grpSpPr>
        <p:sp>
          <p:nvSpPr>
            <p:cNvPr name="Freeform 4" id="4"/>
            <p:cNvSpPr/>
            <p:nvPr/>
          </p:nvSpPr>
          <p:spPr>
            <a:xfrm flipH="false" flipV="false" rot="0">
              <a:off x="0" y="0"/>
              <a:ext cx="246798" cy="2709333"/>
            </a:xfrm>
            <a:custGeom>
              <a:avLst/>
              <a:gdLst/>
              <a:ahLst/>
              <a:cxnLst/>
              <a:rect r="r" b="b" t="t" l="l"/>
              <a:pathLst>
                <a:path h="2709333" w="246798">
                  <a:moveTo>
                    <a:pt x="0" y="0"/>
                  </a:moveTo>
                  <a:lnTo>
                    <a:pt x="246798" y="0"/>
                  </a:lnTo>
                  <a:lnTo>
                    <a:pt x="246798" y="2709333"/>
                  </a:lnTo>
                  <a:lnTo>
                    <a:pt x="0" y="2709333"/>
                  </a:lnTo>
                  <a:close/>
                </a:path>
              </a:pathLst>
            </a:custGeom>
            <a:solidFill>
              <a:srgbClr val="F6F3EB"/>
            </a:solidFill>
          </p:spPr>
        </p:sp>
        <p:sp>
          <p:nvSpPr>
            <p:cNvPr name="TextBox 5" id="5"/>
            <p:cNvSpPr txBox="true"/>
            <p:nvPr/>
          </p:nvSpPr>
          <p:spPr>
            <a:xfrm>
              <a:off x="0" y="-38100"/>
              <a:ext cx="246798" cy="2747433"/>
            </a:xfrm>
            <a:prstGeom prst="rect">
              <a:avLst/>
            </a:prstGeom>
          </p:spPr>
          <p:txBody>
            <a:bodyPr anchor="ctr" rtlCol="false" tIns="50800" lIns="50800" bIns="50800" rIns="50800"/>
            <a:lstStyle/>
            <a:p>
              <a:pPr algn="ctr" marL="0" indent="0" lvl="0">
                <a:lnSpc>
                  <a:spcPts val="2659"/>
                </a:lnSpc>
              </a:pPr>
            </a:p>
          </p:txBody>
        </p:sp>
      </p:grpSp>
      <p:sp>
        <p:nvSpPr>
          <p:cNvPr name="AutoShape 6" id="6"/>
          <p:cNvSpPr/>
          <p:nvPr/>
        </p:nvSpPr>
        <p:spPr>
          <a:xfrm flipH="true" flipV="true">
            <a:off x="1085850" y="7289441"/>
            <a:ext cx="5403" cy="2997456"/>
          </a:xfrm>
          <a:prstGeom prst="line">
            <a:avLst/>
          </a:prstGeom>
          <a:ln cap="flat" w="114300">
            <a:solidFill>
              <a:srgbClr val="9FC3D0"/>
            </a:solidFill>
            <a:prstDash val="solid"/>
            <a:headEnd type="none" len="sm" w="sm"/>
            <a:tailEnd type="none" len="sm" w="sm"/>
          </a:ln>
        </p:spPr>
      </p:sp>
      <p:sp>
        <p:nvSpPr>
          <p:cNvPr name="AutoShape 7" id="7"/>
          <p:cNvSpPr/>
          <p:nvPr/>
        </p:nvSpPr>
        <p:spPr>
          <a:xfrm flipH="true" flipV="true">
            <a:off x="1090490" y="-104525"/>
            <a:ext cx="5403" cy="2997456"/>
          </a:xfrm>
          <a:prstGeom prst="line">
            <a:avLst/>
          </a:prstGeom>
          <a:ln cap="flat" w="114300">
            <a:solidFill>
              <a:srgbClr val="9FC3D0"/>
            </a:solidFill>
            <a:prstDash val="solid"/>
            <a:headEnd type="none" len="sm" w="sm"/>
            <a:tailEnd type="none" len="sm" w="sm"/>
          </a:ln>
        </p:spPr>
      </p:sp>
      <p:grpSp>
        <p:nvGrpSpPr>
          <p:cNvPr name="Group 8" id="8"/>
          <p:cNvGrpSpPr/>
          <p:nvPr/>
        </p:nvGrpSpPr>
        <p:grpSpPr>
          <a:xfrm rot="0">
            <a:off x="15859155" y="0"/>
            <a:ext cx="1562612" cy="1673225"/>
            <a:chOff x="0" y="0"/>
            <a:chExt cx="2083482" cy="2230967"/>
          </a:xfrm>
        </p:grpSpPr>
        <p:grpSp>
          <p:nvGrpSpPr>
            <p:cNvPr name="Group 9" id="9"/>
            <p:cNvGrpSpPr/>
            <p:nvPr/>
          </p:nvGrpSpPr>
          <p:grpSpPr>
            <a:xfrm rot="0">
              <a:off x="75599" y="0"/>
              <a:ext cx="1932284" cy="2230967"/>
              <a:chOff x="0" y="0"/>
              <a:chExt cx="703982" cy="812800"/>
            </a:xfrm>
          </p:grpSpPr>
          <p:sp>
            <p:nvSpPr>
              <p:cNvPr name="Freeform 10" id="10"/>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11" id="11"/>
              <p:cNvSpPr txBox="true"/>
              <p:nvPr/>
            </p:nvSpPr>
            <p:spPr>
              <a:xfrm>
                <a:off x="0" y="-47625"/>
                <a:ext cx="703982" cy="733425"/>
              </a:xfrm>
              <a:prstGeom prst="rect">
                <a:avLst/>
              </a:prstGeom>
            </p:spPr>
            <p:txBody>
              <a:bodyPr anchor="ctr" rtlCol="false" tIns="50800" lIns="50800" bIns="50800" rIns="50800"/>
              <a:lstStyle/>
              <a:p>
                <a:pPr algn="ctr" marL="0" indent="0" lvl="0">
                  <a:lnSpc>
                    <a:spcPts val="2659"/>
                  </a:lnSpc>
                </a:pPr>
              </a:p>
            </p:txBody>
          </p:sp>
        </p:grpSp>
        <p:sp>
          <p:nvSpPr>
            <p:cNvPr name="TextBox 12" id="12"/>
            <p:cNvSpPr txBox="true"/>
            <p:nvPr/>
          </p:nvSpPr>
          <p:spPr>
            <a:xfrm rot="0">
              <a:off x="0" y="447107"/>
              <a:ext cx="2083482" cy="1232111"/>
            </a:xfrm>
            <a:prstGeom prst="rect">
              <a:avLst/>
            </a:prstGeom>
          </p:spPr>
          <p:txBody>
            <a:bodyPr anchor="t" rtlCol="false" tIns="0" lIns="0" bIns="0" rIns="0">
              <a:spAutoFit/>
            </a:bodyPr>
            <a:lstStyle/>
            <a:p>
              <a:pPr algn="ctr" marL="0" indent="0" lvl="0">
                <a:lnSpc>
                  <a:spcPts val="7799"/>
                </a:lnSpc>
              </a:pPr>
              <a:r>
                <a:rPr lang="en-US" b="true" sz="5571">
                  <a:solidFill>
                    <a:srgbClr val="000000"/>
                  </a:solidFill>
                  <a:latin typeface="Open Sans Bold"/>
                  <a:ea typeface="Open Sans Bold"/>
                  <a:cs typeface="Open Sans Bold"/>
                  <a:sym typeface="Open Sans Bold"/>
                </a:rPr>
                <a:t>2</a:t>
              </a:r>
            </a:p>
          </p:txBody>
        </p:sp>
      </p:grpSp>
      <p:sp>
        <p:nvSpPr>
          <p:cNvPr name="Freeform 13" id="13"/>
          <p:cNvSpPr/>
          <p:nvPr/>
        </p:nvSpPr>
        <p:spPr>
          <a:xfrm flipH="false" flipV="false" rot="0">
            <a:off x="9697545" y="8788169"/>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564423" y="-1641171"/>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2315964" y="2317903"/>
            <a:ext cx="17361968" cy="7341053"/>
          </a:xfrm>
          <a:custGeom>
            <a:avLst/>
            <a:gdLst/>
            <a:ahLst/>
            <a:cxnLst/>
            <a:rect r="r" b="b" t="t" l="l"/>
            <a:pathLst>
              <a:path h="7341053" w="17361968">
                <a:moveTo>
                  <a:pt x="0" y="0"/>
                </a:moveTo>
                <a:lnTo>
                  <a:pt x="17361968" y="0"/>
                </a:lnTo>
                <a:lnTo>
                  <a:pt x="17361968" y="7341053"/>
                </a:lnTo>
                <a:lnTo>
                  <a:pt x="0" y="7341053"/>
                </a:lnTo>
                <a:lnTo>
                  <a:pt x="0" y="0"/>
                </a:lnTo>
                <a:close/>
              </a:path>
            </a:pathLst>
          </a:custGeom>
          <a:blipFill>
            <a:blip r:embed="rId4"/>
            <a:stretch>
              <a:fillRect l="0" t="-21951" r="0" b="-11082"/>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0">
            <a:off x="4554977" y="3871860"/>
            <a:ext cx="11627497" cy="1400066"/>
          </a:xfrm>
          <a:prstGeom prst="rect">
            <a:avLst/>
          </a:prstGeom>
        </p:spPr>
        <p:txBody>
          <a:bodyPr anchor="t" rtlCol="false" tIns="0" lIns="0" bIns="0" rIns="0">
            <a:spAutoFit/>
          </a:bodyPr>
          <a:lstStyle/>
          <a:p>
            <a:pPr algn="ctr" marL="0" indent="0" lvl="0">
              <a:lnSpc>
                <a:spcPts val="11513"/>
              </a:lnSpc>
            </a:pPr>
            <a:r>
              <a:rPr lang="en-US" sz="8223">
                <a:solidFill>
                  <a:srgbClr val="000000"/>
                </a:solidFill>
                <a:latin typeface="Alatsi"/>
                <a:ea typeface="Alatsi"/>
                <a:cs typeface="Alatsi"/>
                <a:sym typeface="Alatsi"/>
              </a:rPr>
              <a:t>INTRODUCTION GÉNÉRALE</a:t>
            </a:r>
          </a:p>
        </p:txBody>
      </p:sp>
      <p:sp>
        <p:nvSpPr>
          <p:cNvPr name="TextBox 3" id="3"/>
          <p:cNvSpPr txBox="true"/>
          <p:nvPr/>
        </p:nvSpPr>
        <p:spPr>
          <a:xfrm rot="0">
            <a:off x="5033857" y="6762653"/>
            <a:ext cx="10669737" cy="696406"/>
          </a:xfrm>
          <a:prstGeom prst="rect">
            <a:avLst/>
          </a:prstGeom>
        </p:spPr>
        <p:txBody>
          <a:bodyPr anchor="t" rtlCol="false" tIns="0" lIns="0" bIns="0" rIns="0">
            <a:spAutoFit/>
          </a:bodyPr>
          <a:lstStyle/>
          <a:p>
            <a:pPr algn="ctr" marL="0" indent="0" lvl="0">
              <a:lnSpc>
                <a:spcPts val="5758"/>
              </a:lnSpc>
            </a:pPr>
            <a:r>
              <a:rPr lang="en-US" sz="4113">
                <a:solidFill>
                  <a:srgbClr val="000000"/>
                </a:solidFill>
                <a:latin typeface="Alatsi"/>
                <a:ea typeface="Alatsi"/>
                <a:cs typeface="Alatsi"/>
                <a:sym typeface="Alatsi"/>
              </a:rPr>
              <a:t>Projet de Fin d'Études</a:t>
            </a:r>
          </a:p>
        </p:txBody>
      </p:sp>
      <p:sp>
        <p:nvSpPr>
          <p:cNvPr name="TextBox 4" id="4"/>
          <p:cNvSpPr txBox="true"/>
          <p:nvPr/>
        </p:nvSpPr>
        <p:spPr>
          <a:xfrm rot="0">
            <a:off x="6927671" y="1846941"/>
            <a:ext cx="6882108" cy="528163"/>
          </a:xfrm>
          <a:prstGeom prst="rect">
            <a:avLst/>
          </a:prstGeom>
        </p:spPr>
        <p:txBody>
          <a:bodyPr anchor="t" rtlCol="false" tIns="0" lIns="0" bIns="0" rIns="0">
            <a:spAutoFit/>
          </a:bodyPr>
          <a:lstStyle/>
          <a:p>
            <a:pPr algn="ctr" marL="0" indent="0" lvl="0">
              <a:lnSpc>
                <a:spcPts val="4373"/>
              </a:lnSpc>
            </a:pPr>
            <a:r>
              <a:rPr lang="en-US" sz="3124">
                <a:solidFill>
                  <a:srgbClr val="000000"/>
                </a:solidFill>
                <a:latin typeface="Alatsi"/>
                <a:ea typeface="Alatsi"/>
                <a:cs typeface="Alatsi"/>
                <a:sym typeface="Alatsi"/>
              </a:rPr>
              <a:t>Partie 01</a:t>
            </a:r>
          </a:p>
        </p:txBody>
      </p:sp>
      <p:grpSp>
        <p:nvGrpSpPr>
          <p:cNvPr name="Group 5" id="5"/>
          <p:cNvGrpSpPr/>
          <p:nvPr/>
        </p:nvGrpSpPr>
        <p:grpSpPr>
          <a:xfrm rot="0">
            <a:off x="-31071" y="0"/>
            <a:ext cx="4239083" cy="10287000"/>
            <a:chOff x="0" y="0"/>
            <a:chExt cx="5652111" cy="13716000"/>
          </a:xfrm>
        </p:grpSpPr>
        <p:grpSp>
          <p:nvGrpSpPr>
            <p:cNvPr name="Group 6" id="6"/>
            <p:cNvGrpSpPr/>
            <p:nvPr/>
          </p:nvGrpSpPr>
          <p:grpSpPr>
            <a:xfrm rot="0">
              <a:off x="2826056" y="0"/>
              <a:ext cx="2826056" cy="13716000"/>
              <a:chOff x="0" y="0"/>
              <a:chExt cx="558233" cy="2709333"/>
            </a:xfrm>
          </p:grpSpPr>
          <p:sp>
            <p:nvSpPr>
              <p:cNvPr name="Freeform 7" id="7"/>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E9E0D9"/>
              </a:solidFill>
            </p:spPr>
          </p:sp>
          <p:sp>
            <p:nvSpPr>
              <p:cNvPr name="TextBox 8" id="8"/>
              <p:cNvSpPr txBox="true"/>
              <p:nvPr/>
            </p:nvSpPr>
            <p:spPr>
              <a:xfrm>
                <a:off x="0" y="-47625"/>
                <a:ext cx="558233" cy="2756958"/>
              </a:xfrm>
              <a:prstGeom prst="rect">
                <a:avLst/>
              </a:prstGeom>
            </p:spPr>
            <p:txBody>
              <a:bodyPr anchor="ctr" rtlCol="false" tIns="50800" lIns="50800" bIns="50800" rIns="50800"/>
              <a:lstStyle/>
              <a:p>
                <a:pPr algn="ctr" marL="0" indent="0" lvl="0">
                  <a:lnSpc>
                    <a:spcPts val="2659"/>
                  </a:lnSpc>
                </a:pPr>
              </a:p>
            </p:txBody>
          </p:sp>
        </p:grpSp>
        <p:grpSp>
          <p:nvGrpSpPr>
            <p:cNvPr name="Group 9" id="9"/>
            <p:cNvGrpSpPr/>
            <p:nvPr/>
          </p:nvGrpSpPr>
          <p:grpSpPr>
            <a:xfrm rot="0">
              <a:off x="1413028" y="0"/>
              <a:ext cx="2826056" cy="13716000"/>
              <a:chOff x="0" y="0"/>
              <a:chExt cx="558233" cy="2709333"/>
            </a:xfrm>
          </p:grpSpPr>
          <p:sp>
            <p:nvSpPr>
              <p:cNvPr name="Freeform 10" id="10"/>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9FC3D0"/>
              </a:solidFill>
            </p:spPr>
          </p:sp>
          <p:sp>
            <p:nvSpPr>
              <p:cNvPr name="TextBox 11" id="11"/>
              <p:cNvSpPr txBox="true"/>
              <p:nvPr/>
            </p:nvSpPr>
            <p:spPr>
              <a:xfrm>
                <a:off x="0" y="-47625"/>
                <a:ext cx="558233" cy="2756958"/>
              </a:xfrm>
              <a:prstGeom prst="rect">
                <a:avLst/>
              </a:prstGeom>
            </p:spPr>
            <p:txBody>
              <a:bodyPr anchor="ctr" rtlCol="false" tIns="50800" lIns="50800" bIns="50800" rIns="50800"/>
              <a:lstStyle/>
              <a:p>
                <a:pPr algn="ctr" marL="0" indent="0" lvl="0">
                  <a:lnSpc>
                    <a:spcPts val="2659"/>
                  </a:lnSpc>
                </a:pPr>
              </a:p>
            </p:txBody>
          </p:sp>
        </p:grpSp>
        <p:grpSp>
          <p:nvGrpSpPr>
            <p:cNvPr name="Group 12" id="12"/>
            <p:cNvGrpSpPr/>
            <p:nvPr/>
          </p:nvGrpSpPr>
          <p:grpSpPr>
            <a:xfrm rot="0">
              <a:off x="0" y="0"/>
              <a:ext cx="2826056" cy="13716000"/>
              <a:chOff x="0" y="0"/>
              <a:chExt cx="558233" cy="2709333"/>
            </a:xfrm>
          </p:grpSpPr>
          <p:sp>
            <p:nvSpPr>
              <p:cNvPr name="Freeform 13" id="13"/>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E9C7C6"/>
              </a:solidFill>
            </p:spPr>
          </p:sp>
          <p:sp>
            <p:nvSpPr>
              <p:cNvPr name="TextBox 14" id="14"/>
              <p:cNvSpPr txBox="true"/>
              <p:nvPr/>
            </p:nvSpPr>
            <p:spPr>
              <a:xfrm>
                <a:off x="0" y="-47625"/>
                <a:ext cx="558233" cy="2756958"/>
              </a:xfrm>
              <a:prstGeom prst="rect">
                <a:avLst/>
              </a:prstGeom>
            </p:spPr>
            <p:txBody>
              <a:bodyPr anchor="ctr" rtlCol="false" tIns="50800" lIns="50800" bIns="50800" rIns="50800"/>
              <a:lstStyle/>
              <a:p>
                <a:pPr algn="ctr" marL="0" indent="0" lvl="0">
                  <a:lnSpc>
                    <a:spcPts val="2659"/>
                  </a:lnSpc>
                </a:pPr>
              </a:p>
            </p:txBody>
          </p:sp>
        </p:grpSp>
      </p:grpSp>
      <p:sp>
        <p:nvSpPr>
          <p:cNvPr name="Freeform 15" id="15"/>
          <p:cNvSpPr/>
          <p:nvPr/>
        </p:nvSpPr>
        <p:spPr>
          <a:xfrm flipH="false" flipV="false" rot="0">
            <a:off x="12412831" y="8026211"/>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11413653" y="-573693"/>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AutoShape 2" id="2"/>
          <p:cNvSpPr/>
          <p:nvPr/>
        </p:nvSpPr>
        <p:spPr>
          <a:xfrm>
            <a:off x="-260599" y="9061267"/>
            <a:ext cx="7105264" cy="19050"/>
          </a:xfrm>
          <a:prstGeom prst="line">
            <a:avLst/>
          </a:prstGeom>
          <a:ln cap="flat" w="114300">
            <a:solidFill>
              <a:srgbClr val="9FC3D0"/>
            </a:solidFill>
            <a:prstDash val="solid"/>
            <a:headEnd type="none" len="sm" w="sm"/>
            <a:tailEnd type="none" len="sm" w="sm"/>
          </a:ln>
        </p:spPr>
      </p:sp>
      <p:sp>
        <p:nvSpPr>
          <p:cNvPr name="AutoShape 3" id="3"/>
          <p:cNvSpPr/>
          <p:nvPr/>
        </p:nvSpPr>
        <p:spPr>
          <a:xfrm>
            <a:off x="11430169" y="9061267"/>
            <a:ext cx="7105264" cy="19050"/>
          </a:xfrm>
          <a:prstGeom prst="line">
            <a:avLst/>
          </a:prstGeom>
          <a:ln cap="flat" w="114300">
            <a:solidFill>
              <a:srgbClr val="9FC3D0"/>
            </a:solidFill>
            <a:prstDash val="solid"/>
            <a:headEnd type="none" len="sm" w="sm"/>
            <a:tailEnd type="none" len="sm" w="sm"/>
          </a:ln>
        </p:spPr>
      </p:sp>
      <p:sp>
        <p:nvSpPr>
          <p:cNvPr name="Freeform 4" id="4"/>
          <p:cNvSpPr/>
          <p:nvPr/>
        </p:nvSpPr>
        <p:spPr>
          <a:xfrm flipH="false" flipV="false" rot="0">
            <a:off x="12982861" y="5933231"/>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a:grpSpLocks noChangeAspect="true"/>
          </p:cNvGrpSpPr>
          <p:nvPr/>
        </p:nvGrpSpPr>
        <p:grpSpPr>
          <a:xfrm rot="0">
            <a:off x="12012909" y="2797221"/>
            <a:ext cx="5246391" cy="5246370"/>
            <a:chOff x="0" y="0"/>
            <a:chExt cx="6350025" cy="6350000"/>
          </a:xfrm>
        </p:grpSpPr>
        <p:sp>
          <p:nvSpPr>
            <p:cNvPr name="Freeform 6" id="6"/>
            <p:cNvSpPr/>
            <p:nvPr/>
          </p:nvSpPr>
          <p:spPr>
            <a:xfrm flipH="false" flipV="false" rot="0">
              <a:off x="0" y="0"/>
              <a:ext cx="6350026" cy="6350000"/>
            </a:xfrm>
            <a:custGeom>
              <a:avLst/>
              <a:gdLst/>
              <a:ahLst/>
              <a:cxnLst/>
              <a:rect r="r" b="b" t="t" l="l"/>
              <a:pathLst>
                <a:path h="6350000" w="6350026">
                  <a:moveTo>
                    <a:pt x="0" y="0"/>
                  </a:moveTo>
                  <a:lnTo>
                    <a:pt x="6350026" y="0"/>
                  </a:lnTo>
                  <a:lnTo>
                    <a:pt x="6350026" y="6350000"/>
                  </a:lnTo>
                  <a:lnTo>
                    <a:pt x="0" y="6350000"/>
                  </a:lnTo>
                  <a:close/>
                </a:path>
              </a:pathLst>
            </a:custGeom>
            <a:blipFill>
              <a:blip r:embed="rId4"/>
              <a:stretch>
                <a:fillRect l="-31966" t="0" r="-31966" b="0"/>
              </a:stretch>
            </a:blipFill>
          </p:spPr>
        </p:sp>
      </p:grpSp>
      <p:sp>
        <p:nvSpPr>
          <p:cNvPr name="TextBox 7" id="7"/>
          <p:cNvSpPr txBox="true"/>
          <p:nvPr/>
        </p:nvSpPr>
        <p:spPr>
          <a:xfrm rot="0">
            <a:off x="3101165" y="674688"/>
            <a:ext cx="13180039" cy="1451128"/>
          </a:xfrm>
          <a:prstGeom prst="rect">
            <a:avLst/>
          </a:prstGeom>
        </p:spPr>
        <p:txBody>
          <a:bodyPr anchor="t" rtlCol="false" tIns="0" lIns="0" bIns="0" rIns="0">
            <a:spAutoFit/>
          </a:bodyPr>
          <a:lstStyle/>
          <a:p>
            <a:pPr algn="ctr" marL="0" indent="0" lvl="0">
              <a:lnSpc>
                <a:spcPts val="11891"/>
              </a:lnSpc>
            </a:pPr>
            <a:r>
              <a:rPr lang="en-US" sz="8493">
                <a:solidFill>
                  <a:srgbClr val="000000"/>
                </a:solidFill>
                <a:latin typeface="Alatsi"/>
                <a:ea typeface="Alatsi"/>
                <a:cs typeface="Alatsi"/>
                <a:sym typeface="Alatsi"/>
              </a:rPr>
              <a:t>ORGANISATION D'ACCUEIL</a:t>
            </a:r>
          </a:p>
        </p:txBody>
      </p:sp>
      <p:grpSp>
        <p:nvGrpSpPr>
          <p:cNvPr name="Group 8" id="8"/>
          <p:cNvGrpSpPr/>
          <p:nvPr/>
        </p:nvGrpSpPr>
        <p:grpSpPr>
          <a:xfrm rot="0">
            <a:off x="15859155" y="0"/>
            <a:ext cx="1562612" cy="1673225"/>
            <a:chOff x="0" y="0"/>
            <a:chExt cx="2083482" cy="2230967"/>
          </a:xfrm>
        </p:grpSpPr>
        <p:grpSp>
          <p:nvGrpSpPr>
            <p:cNvPr name="Group 9" id="9"/>
            <p:cNvGrpSpPr/>
            <p:nvPr/>
          </p:nvGrpSpPr>
          <p:grpSpPr>
            <a:xfrm rot="0">
              <a:off x="75599" y="0"/>
              <a:ext cx="1932284" cy="2230967"/>
              <a:chOff x="0" y="0"/>
              <a:chExt cx="703982" cy="812800"/>
            </a:xfrm>
          </p:grpSpPr>
          <p:sp>
            <p:nvSpPr>
              <p:cNvPr name="Freeform 10" id="10"/>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11" id="11"/>
              <p:cNvSpPr txBox="true"/>
              <p:nvPr/>
            </p:nvSpPr>
            <p:spPr>
              <a:xfrm>
                <a:off x="0" y="-47625"/>
                <a:ext cx="703982" cy="733425"/>
              </a:xfrm>
              <a:prstGeom prst="rect">
                <a:avLst/>
              </a:prstGeom>
            </p:spPr>
            <p:txBody>
              <a:bodyPr anchor="ctr" rtlCol="false" tIns="50800" lIns="50800" bIns="50800" rIns="50800"/>
              <a:lstStyle/>
              <a:p>
                <a:pPr algn="ctr" marL="0" indent="0" lvl="0">
                  <a:lnSpc>
                    <a:spcPts val="2659"/>
                  </a:lnSpc>
                </a:pPr>
              </a:p>
            </p:txBody>
          </p:sp>
        </p:grpSp>
        <p:sp>
          <p:nvSpPr>
            <p:cNvPr name="TextBox 12" id="12"/>
            <p:cNvSpPr txBox="true"/>
            <p:nvPr/>
          </p:nvSpPr>
          <p:spPr>
            <a:xfrm rot="0">
              <a:off x="0" y="447107"/>
              <a:ext cx="2083482" cy="1232111"/>
            </a:xfrm>
            <a:prstGeom prst="rect">
              <a:avLst/>
            </a:prstGeom>
          </p:spPr>
          <p:txBody>
            <a:bodyPr anchor="t" rtlCol="false" tIns="0" lIns="0" bIns="0" rIns="0">
              <a:spAutoFit/>
            </a:bodyPr>
            <a:lstStyle/>
            <a:p>
              <a:pPr algn="ctr" marL="0" indent="0" lvl="0">
                <a:lnSpc>
                  <a:spcPts val="7799"/>
                </a:lnSpc>
              </a:pPr>
              <a:r>
                <a:rPr lang="en-US" b="true" sz="5571">
                  <a:solidFill>
                    <a:srgbClr val="000000"/>
                  </a:solidFill>
                  <a:latin typeface="Open Sans Bold"/>
                  <a:ea typeface="Open Sans Bold"/>
                  <a:cs typeface="Open Sans Bold"/>
                  <a:sym typeface="Open Sans Bold"/>
                </a:rPr>
                <a:t>4</a:t>
              </a:r>
            </a:p>
          </p:txBody>
        </p:sp>
      </p:grpSp>
      <p:sp>
        <p:nvSpPr>
          <p:cNvPr name="Freeform 13" id="13"/>
          <p:cNvSpPr/>
          <p:nvPr/>
        </p:nvSpPr>
        <p:spPr>
          <a:xfrm flipH="false" flipV="false" rot="0">
            <a:off x="-3482681" y="-210192"/>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4" id="14"/>
          <p:cNvSpPr txBox="true"/>
          <p:nvPr/>
        </p:nvSpPr>
        <p:spPr>
          <a:xfrm rot="0">
            <a:off x="505131" y="2418454"/>
            <a:ext cx="10925038" cy="6922485"/>
          </a:xfrm>
          <a:prstGeom prst="rect">
            <a:avLst/>
          </a:prstGeom>
        </p:spPr>
        <p:txBody>
          <a:bodyPr anchor="t" rtlCol="false" tIns="0" lIns="0" bIns="0" rIns="0">
            <a:spAutoFit/>
          </a:bodyPr>
          <a:lstStyle/>
          <a:p>
            <a:pPr algn="l" marL="0" indent="0" lvl="0">
              <a:lnSpc>
                <a:spcPts val="3669"/>
              </a:lnSpc>
            </a:pPr>
            <a:r>
              <a:rPr lang="en-US" sz="2621">
                <a:solidFill>
                  <a:srgbClr val="000000"/>
                </a:solidFill>
                <a:latin typeface="Alatsi"/>
                <a:ea typeface="Alatsi"/>
                <a:cs typeface="Alatsi"/>
                <a:sym typeface="Alatsi"/>
              </a:rPr>
              <a:t>Notre stage a été effectué au sein de Bank ABC Tunisie, filiale du groupe international Arab Banking Corporation, implanté en Tunisie depuis 1993. Forte de plus de 30 ans d’expérience, la banque constitue un acteur majeur du secteur bancaire national, avec un réseau de 17 agences réparties entre Tunis, Sousse et Sfax.</a:t>
            </a:r>
          </a:p>
          <a:p>
            <a:pPr algn="l" marL="0" indent="0" lvl="0">
              <a:lnSpc>
                <a:spcPts val="3669"/>
              </a:lnSpc>
            </a:pPr>
            <a:r>
              <a:rPr lang="en-US" sz="2621">
                <a:solidFill>
                  <a:srgbClr val="000000"/>
                </a:solidFill>
                <a:latin typeface="Alatsi"/>
                <a:ea typeface="Alatsi"/>
                <a:cs typeface="Alatsi"/>
                <a:sym typeface="Alatsi"/>
              </a:rPr>
              <a:t>Elle propose une large gamme de services financiers destinés aux particuliers, professionnels et entreprises, incluant les solutions de financement, les moyens de paiement et la banque digitale.</a:t>
            </a:r>
          </a:p>
          <a:p>
            <a:pPr algn="l" marL="0" indent="0" lvl="0">
              <a:lnSpc>
                <a:spcPts val="3669"/>
              </a:lnSpc>
            </a:pPr>
            <a:r>
              <a:rPr lang="en-US" sz="2621">
                <a:solidFill>
                  <a:srgbClr val="000000"/>
                </a:solidFill>
                <a:latin typeface="Alatsi"/>
                <a:ea typeface="Alatsi"/>
                <a:cs typeface="Alatsi"/>
                <a:sym typeface="Alatsi"/>
              </a:rPr>
              <a:t>Notre immersion s’est déroulée au sein de la Direction des Systèmes d’Information (DSI), contribuant à des projets liés aux infrastructures IT, au développement applicatif et à la cybersécurité.</a:t>
            </a:r>
          </a:p>
          <a:p>
            <a:pPr algn="l" marL="0" indent="0" lvl="0">
              <a:lnSpc>
                <a:spcPts val="3669"/>
              </a:lnSpc>
            </a:pPr>
            <a:r>
              <a:rPr lang="en-US" sz="2621">
                <a:solidFill>
                  <a:srgbClr val="000000"/>
                </a:solidFill>
                <a:latin typeface="Alatsi"/>
                <a:ea typeface="Alatsi"/>
                <a:cs typeface="Alatsi"/>
                <a:sym typeface="Alatsi"/>
              </a:rPr>
              <a:t>Cet environnement moderne et structuré nous a permis de renforcer nos compétences techniques et organisationnelles à travers des missions concrètes à forte valeur ajoutée</a:t>
            </a:r>
          </a:p>
          <a:p>
            <a:pPr algn="l" marL="0" indent="0" lvl="0">
              <a:lnSpc>
                <a:spcPts val="3669"/>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0">
            <a:off x="2497995" y="3179457"/>
            <a:ext cx="9970232" cy="4696437"/>
          </a:xfrm>
          <a:prstGeom prst="rect">
            <a:avLst/>
          </a:prstGeom>
        </p:spPr>
        <p:txBody>
          <a:bodyPr anchor="t" rtlCol="false" tIns="0" lIns="0" bIns="0" rIns="0">
            <a:spAutoFit/>
          </a:bodyPr>
          <a:lstStyle/>
          <a:p>
            <a:pPr algn="l" marL="0" indent="0" lvl="0">
              <a:lnSpc>
                <a:spcPts val="5318"/>
              </a:lnSpc>
            </a:pPr>
            <a:r>
              <a:rPr lang="en-US" sz="3799">
                <a:solidFill>
                  <a:srgbClr val="000000"/>
                </a:solidFill>
                <a:latin typeface="Alatsi"/>
                <a:ea typeface="Alatsi"/>
                <a:cs typeface="Alatsi"/>
                <a:sym typeface="Alatsi"/>
              </a:rPr>
              <a:t>L</a:t>
            </a:r>
            <a:r>
              <a:rPr lang="en-US" sz="3799">
                <a:solidFill>
                  <a:srgbClr val="000000"/>
                </a:solidFill>
                <a:latin typeface="Alatsi"/>
                <a:ea typeface="Alatsi"/>
                <a:cs typeface="Alatsi"/>
                <a:sym typeface="Alatsi"/>
              </a:rPr>
              <a:t>e projet s'inscrit dans un environnement bancaire où la gestion des TPE doit être fiable, traçable et sécurisée. Le système doit permettre aux différents acteurs métier de gérer le cycle de vie complet des terminaux ainsi que les opérations associées.</a:t>
            </a:r>
          </a:p>
          <a:p>
            <a:pPr algn="l" marL="0" indent="0" lvl="0">
              <a:lnSpc>
                <a:spcPts val="5318"/>
              </a:lnSpc>
            </a:pPr>
          </a:p>
        </p:txBody>
      </p:sp>
      <p:sp>
        <p:nvSpPr>
          <p:cNvPr name="AutoShape 3" id="3"/>
          <p:cNvSpPr/>
          <p:nvPr/>
        </p:nvSpPr>
        <p:spPr>
          <a:xfrm flipH="true" flipV="true">
            <a:off x="1090490" y="-104525"/>
            <a:ext cx="5403" cy="2997456"/>
          </a:xfrm>
          <a:prstGeom prst="line">
            <a:avLst/>
          </a:prstGeom>
          <a:ln cap="flat" w="114300">
            <a:solidFill>
              <a:srgbClr val="9FC3D0"/>
            </a:solidFill>
            <a:prstDash val="solid"/>
            <a:headEnd type="none" len="sm" w="sm"/>
            <a:tailEnd type="none" len="sm" w="sm"/>
          </a:ln>
        </p:spPr>
      </p:sp>
      <p:sp>
        <p:nvSpPr>
          <p:cNvPr name="AutoShape 4" id="4"/>
          <p:cNvSpPr/>
          <p:nvPr/>
        </p:nvSpPr>
        <p:spPr>
          <a:xfrm flipH="true" flipV="true">
            <a:off x="1085850" y="7289441"/>
            <a:ext cx="5403" cy="2997456"/>
          </a:xfrm>
          <a:prstGeom prst="line">
            <a:avLst/>
          </a:prstGeom>
          <a:ln cap="flat" w="114300">
            <a:solidFill>
              <a:srgbClr val="9FC3D0"/>
            </a:solidFill>
            <a:prstDash val="solid"/>
            <a:headEnd type="none" len="sm" w="sm"/>
            <a:tailEnd type="none" len="sm" w="sm"/>
          </a:ln>
        </p:spPr>
      </p:sp>
      <p:grpSp>
        <p:nvGrpSpPr>
          <p:cNvPr name="Group 5" id="5"/>
          <p:cNvGrpSpPr/>
          <p:nvPr/>
        </p:nvGrpSpPr>
        <p:grpSpPr>
          <a:xfrm rot="0">
            <a:off x="15859155" y="0"/>
            <a:ext cx="1562612" cy="1673225"/>
            <a:chOff x="0" y="0"/>
            <a:chExt cx="2083482" cy="2230967"/>
          </a:xfrm>
        </p:grpSpPr>
        <p:grpSp>
          <p:nvGrpSpPr>
            <p:cNvPr name="Group 6" id="6"/>
            <p:cNvGrpSpPr/>
            <p:nvPr/>
          </p:nvGrpSpPr>
          <p:grpSpPr>
            <a:xfrm rot="0">
              <a:off x="75599" y="0"/>
              <a:ext cx="1932284" cy="2230967"/>
              <a:chOff x="0" y="0"/>
              <a:chExt cx="703982" cy="812800"/>
            </a:xfrm>
          </p:grpSpPr>
          <p:sp>
            <p:nvSpPr>
              <p:cNvPr name="Freeform 7" id="7"/>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8" id="8"/>
              <p:cNvSpPr txBox="true"/>
              <p:nvPr/>
            </p:nvSpPr>
            <p:spPr>
              <a:xfrm>
                <a:off x="0" y="-47625"/>
                <a:ext cx="703982" cy="733425"/>
              </a:xfrm>
              <a:prstGeom prst="rect">
                <a:avLst/>
              </a:prstGeom>
            </p:spPr>
            <p:txBody>
              <a:bodyPr anchor="ctr" rtlCol="false" tIns="50800" lIns="50800" bIns="50800" rIns="50800"/>
              <a:lstStyle/>
              <a:p>
                <a:pPr algn="ctr" marL="0" indent="0" lvl="0">
                  <a:lnSpc>
                    <a:spcPts val="2659"/>
                  </a:lnSpc>
                </a:pPr>
              </a:p>
            </p:txBody>
          </p:sp>
        </p:grpSp>
        <p:sp>
          <p:nvSpPr>
            <p:cNvPr name="TextBox 9" id="9"/>
            <p:cNvSpPr txBox="true"/>
            <p:nvPr/>
          </p:nvSpPr>
          <p:spPr>
            <a:xfrm rot="0">
              <a:off x="0" y="447107"/>
              <a:ext cx="2083482" cy="1206270"/>
            </a:xfrm>
            <a:prstGeom prst="rect">
              <a:avLst/>
            </a:prstGeom>
          </p:spPr>
          <p:txBody>
            <a:bodyPr anchor="t" rtlCol="false" tIns="0" lIns="0" bIns="0" rIns="0">
              <a:spAutoFit/>
            </a:bodyPr>
            <a:lstStyle/>
            <a:p>
              <a:pPr algn="ctr" marL="0" indent="0" lvl="0">
                <a:lnSpc>
                  <a:spcPts val="7595"/>
                </a:lnSpc>
              </a:pPr>
              <a:r>
                <a:rPr lang="en-US" b="true" sz="5425">
                  <a:solidFill>
                    <a:srgbClr val="000000"/>
                  </a:solidFill>
                  <a:latin typeface="Open Sans Bold"/>
                  <a:ea typeface="Open Sans Bold"/>
                  <a:cs typeface="Open Sans Bold"/>
                  <a:sym typeface="Open Sans Bold"/>
                </a:rPr>
                <a:t>5</a:t>
              </a:r>
            </a:p>
          </p:txBody>
        </p:sp>
      </p:grpSp>
      <p:sp>
        <p:nvSpPr>
          <p:cNvPr name="Freeform 10" id="10"/>
          <p:cNvSpPr/>
          <p:nvPr/>
        </p:nvSpPr>
        <p:spPr>
          <a:xfrm flipH="false" flipV="false" rot="0">
            <a:off x="7512165" y="-1553858"/>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892058" y="9048108"/>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12468227" y="2922354"/>
            <a:ext cx="4953540" cy="4953540"/>
          </a:xfrm>
          <a:custGeom>
            <a:avLst/>
            <a:gdLst/>
            <a:ahLst/>
            <a:cxnLst/>
            <a:rect r="r" b="b" t="t" l="l"/>
            <a:pathLst>
              <a:path h="4953540" w="4953540">
                <a:moveTo>
                  <a:pt x="0" y="0"/>
                </a:moveTo>
                <a:lnTo>
                  <a:pt x="4953540" y="0"/>
                </a:lnTo>
                <a:lnTo>
                  <a:pt x="4953540" y="4953540"/>
                </a:lnTo>
                <a:lnTo>
                  <a:pt x="0" y="4953540"/>
                </a:lnTo>
                <a:lnTo>
                  <a:pt x="0" y="0"/>
                </a:lnTo>
                <a:close/>
              </a:path>
            </a:pathLst>
          </a:custGeom>
          <a:blipFill>
            <a:blip r:embed="rId4"/>
            <a:stretch>
              <a:fillRect l="0" t="0" r="0" b="0"/>
            </a:stretch>
          </a:blipFill>
        </p:spPr>
      </p:sp>
      <p:sp>
        <p:nvSpPr>
          <p:cNvPr name="TextBox 13" id="13"/>
          <p:cNvSpPr txBox="true"/>
          <p:nvPr/>
        </p:nvSpPr>
        <p:spPr>
          <a:xfrm rot="0">
            <a:off x="3918390" y="876300"/>
            <a:ext cx="10451219" cy="1409153"/>
          </a:xfrm>
          <a:prstGeom prst="rect">
            <a:avLst/>
          </a:prstGeom>
        </p:spPr>
        <p:txBody>
          <a:bodyPr anchor="t" rtlCol="false" tIns="0" lIns="0" bIns="0" rIns="0">
            <a:spAutoFit/>
          </a:bodyPr>
          <a:lstStyle/>
          <a:p>
            <a:pPr algn="ctr" marL="0" indent="0" lvl="0">
              <a:lnSpc>
                <a:spcPts val="11580"/>
              </a:lnSpc>
            </a:pPr>
            <a:r>
              <a:rPr lang="en-US" sz="8271">
                <a:solidFill>
                  <a:srgbClr val="000000"/>
                </a:solidFill>
                <a:latin typeface="Alatsi"/>
                <a:ea typeface="Alatsi"/>
                <a:cs typeface="Alatsi"/>
                <a:sym typeface="Alatsi"/>
              </a:rPr>
              <a:t>ÉTUDES PRÉLIMINAIRES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0">
            <a:off x="1028700" y="866775"/>
            <a:ext cx="16230600" cy="1451128"/>
          </a:xfrm>
          <a:prstGeom prst="rect">
            <a:avLst/>
          </a:prstGeom>
        </p:spPr>
        <p:txBody>
          <a:bodyPr anchor="t" rtlCol="false" tIns="0" lIns="0" bIns="0" rIns="0">
            <a:spAutoFit/>
          </a:bodyPr>
          <a:lstStyle/>
          <a:p>
            <a:pPr algn="ctr" marL="0" indent="0" lvl="0">
              <a:lnSpc>
                <a:spcPts val="11891"/>
              </a:lnSpc>
            </a:pPr>
            <a:r>
              <a:rPr lang="en-US" sz="8493">
                <a:solidFill>
                  <a:srgbClr val="000000"/>
                </a:solidFill>
                <a:latin typeface="Alatsi"/>
                <a:ea typeface="Alatsi"/>
                <a:cs typeface="Alatsi"/>
                <a:sym typeface="Alatsi"/>
              </a:rPr>
              <a:t>PROBLÉMATIQUE</a:t>
            </a:r>
          </a:p>
        </p:txBody>
      </p:sp>
      <p:sp>
        <p:nvSpPr>
          <p:cNvPr name="Freeform 3" id="3"/>
          <p:cNvSpPr/>
          <p:nvPr/>
        </p:nvSpPr>
        <p:spPr>
          <a:xfrm flipH="false" flipV="false" rot="0">
            <a:off x="13764167" y="5827621"/>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4" id="4"/>
          <p:cNvSpPr/>
          <p:nvPr/>
        </p:nvSpPr>
        <p:spPr>
          <a:xfrm>
            <a:off x="-260599" y="9061267"/>
            <a:ext cx="7105264" cy="19050"/>
          </a:xfrm>
          <a:prstGeom prst="line">
            <a:avLst/>
          </a:prstGeom>
          <a:ln cap="flat" w="114300">
            <a:solidFill>
              <a:srgbClr val="9FC3D0"/>
            </a:solidFill>
            <a:prstDash val="solid"/>
            <a:headEnd type="none" len="sm" w="sm"/>
            <a:tailEnd type="none" len="sm" w="sm"/>
          </a:ln>
        </p:spPr>
      </p:sp>
      <p:sp>
        <p:nvSpPr>
          <p:cNvPr name="AutoShape 5" id="5"/>
          <p:cNvSpPr/>
          <p:nvPr/>
        </p:nvSpPr>
        <p:spPr>
          <a:xfrm>
            <a:off x="11430169" y="9061267"/>
            <a:ext cx="7105264" cy="19050"/>
          </a:xfrm>
          <a:prstGeom prst="line">
            <a:avLst/>
          </a:prstGeom>
          <a:ln cap="flat" w="114300">
            <a:solidFill>
              <a:srgbClr val="9FC3D0"/>
            </a:solidFill>
            <a:prstDash val="solid"/>
            <a:headEnd type="none" len="sm" w="sm"/>
            <a:tailEnd type="none" len="sm" w="sm"/>
          </a:ln>
        </p:spPr>
      </p:sp>
      <p:grpSp>
        <p:nvGrpSpPr>
          <p:cNvPr name="Group 6" id="6"/>
          <p:cNvGrpSpPr/>
          <p:nvPr/>
        </p:nvGrpSpPr>
        <p:grpSpPr>
          <a:xfrm rot="0">
            <a:off x="15859155" y="0"/>
            <a:ext cx="1562612" cy="1673225"/>
            <a:chOff x="0" y="0"/>
            <a:chExt cx="2083482" cy="2230967"/>
          </a:xfrm>
        </p:grpSpPr>
        <p:grpSp>
          <p:nvGrpSpPr>
            <p:cNvPr name="Group 7" id="7"/>
            <p:cNvGrpSpPr/>
            <p:nvPr/>
          </p:nvGrpSpPr>
          <p:grpSpPr>
            <a:xfrm rot="0">
              <a:off x="75599" y="0"/>
              <a:ext cx="1932284" cy="2230967"/>
              <a:chOff x="0" y="0"/>
              <a:chExt cx="703982" cy="812800"/>
            </a:xfrm>
          </p:grpSpPr>
          <p:sp>
            <p:nvSpPr>
              <p:cNvPr name="Freeform 8" id="8"/>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9" id="9"/>
              <p:cNvSpPr txBox="true"/>
              <p:nvPr/>
            </p:nvSpPr>
            <p:spPr>
              <a:xfrm>
                <a:off x="0" y="-47625"/>
                <a:ext cx="703982" cy="733425"/>
              </a:xfrm>
              <a:prstGeom prst="rect">
                <a:avLst/>
              </a:prstGeom>
            </p:spPr>
            <p:txBody>
              <a:bodyPr anchor="ctr" rtlCol="false" tIns="50800" lIns="50800" bIns="50800" rIns="50800"/>
              <a:lstStyle/>
              <a:p>
                <a:pPr algn="ctr" marL="0" indent="0" lvl="0">
                  <a:lnSpc>
                    <a:spcPts val="2659"/>
                  </a:lnSpc>
                </a:pPr>
              </a:p>
            </p:txBody>
          </p:sp>
        </p:grpSp>
        <p:sp>
          <p:nvSpPr>
            <p:cNvPr name="TextBox 10" id="10"/>
            <p:cNvSpPr txBox="true"/>
            <p:nvPr/>
          </p:nvSpPr>
          <p:spPr>
            <a:xfrm rot="0">
              <a:off x="0" y="447107"/>
              <a:ext cx="2083482" cy="1232111"/>
            </a:xfrm>
            <a:prstGeom prst="rect">
              <a:avLst/>
            </a:prstGeom>
          </p:spPr>
          <p:txBody>
            <a:bodyPr anchor="t" rtlCol="false" tIns="0" lIns="0" bIns="0" rIns="0">
              <a:spAutoFit/>
            </a:bodyPr>
            <a:lstStyle/>
            <a:p>
              <a:pPr algn="ctr" marL="0" indent="0" lvl="0">
                <a:lnSpc>
                  <a:spcPts val="7799"/>
                </a:lnSpc>
              </a:pPr>
              <a:r>
                <a:rPr lang="en-US" b="true" sz="5571">
                  <a:solidFill>
                    <a:srgbClr val="000000"/>
                  </a:solidFill>
                  <a:latin typeface="Open Sans Bold"/>
                  <a:ea typeface="Open Sans Bold"/>
                  <a:cs typeface="Open Sans Bold"/>
                  <a:sym typeface="Open Sans Bold"/>
                </a:rPr>
                <a:t>6</a:t>
              </a:r>
            </a:p>
          </p:txBody>
        </p:sp>
      </p:grpSp>
      <p:sp>
        <p:nvSpPr>
          <p:cNvPr name="Freeform 11" id="11"/>
          <p:cNvSpPr/>
          <p:nvPr/>
        </p:nvSpPr>
        <p:spPr>
          <a:xfrm flipH="false" flipV="false" rot="0">
            <a:off x="-2628900" y="-1449083"/>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1787502" y="3504411"/>
            <a:ext cx="13170350" cy="4236998"/>
          </a:xfrm>
          <a:prstGeom prst="rect">
            <a:avLst/>
          </a:prstGeom>
        </p:spPr>
        <p:txBody>
          <a:bodyPr anchor="t" rtlCol="false" tIns="0" lIns="0" bIns="0" rIns="0">
            <a:spAutoFit/>
          </a:bodyPr>
          <a:lstStyle/>
          <a:p>
            <a:pPr algn="l" marL="864928" indent="-432464" lvl="1">
              <a:lnSpc>
                <a:spcPts val="5608"/>
              </a:lnSpc>
              <a:buFont typeface="Arial"/>
              <a:buChar char="•"/>
            </a:pPr>
            <a:r>
              <a:rPr lang="en-US" sz="4006">
                <a:solidFill>
                  <a:srgbClr val="000000"/>
                </a:solidFill>
                <a:latin typeface="Alatsi"/>
                <a:ea typeface="Alatsi"/>
                <a:cs typeface="Alatsi"/>
                <a:sym typeface="Alatsi"/>
              </a:rPr>
              <a:t>Proc</a:t>
            </a:r>
            <a:r>
              <a:rPr lang="en-US" sz="4006">
                <a:solidFill>
                  <a:srgbClr val="000000"/>
                </a:solidFill>
                <a:latin typeface="Alatsi"/>
                <a:ea typeface="Alatsi"/>
                <a:cs typeface="Alatsi"/>
                <a:sym typeface="Alatsi"/>
              </a:rPr>
              <a:t>essus de gestion des TPE majoritairement manuels</a:t>
            </a:r>
          </a:p>
          <a:p>
            <a:pPr algn="l" marL="864928" indent="-432464" lvl="1">
              <a:lnSpc>
                <a:spcPts val="5608"/>
              </a:lnSpc>
              <a:buFont typeface="Arial"/>
              <a:buChar char="•"/>
            </a:pPr>
            <a:r>
              <a:rPr lang="en-US" sz="4006">
                <a:solidFill>
                  <a:srgbClr val="000000"/>
                </a:solidFill>
                <a:latin typeface="Alatsi"/>
                <a:ea typeface="Alatsi"/>
                <a:cs typeface="Alatsi"/>
                <a:sym typeface="Alatsi"/>
              </a:rPr>
              <a:t>Risque élevé d’erreurs de saisie et de traitement</a:t>
            </a:r>
          </a:p>
          <a:p>
            <a:pPr algn="l" marL="864928" indent="-432464" lvl="1">
              <a:lnSpc>
                <a:spcPts val="5608"/>
              </a:lnSpc>
              <a:buFont typeface="Arial"/>
              <a:buChar char="•"/>
            </a:pPr>
            <a:r>
              <a:rPr lang="en-US" sz="4006">
                <a:solidFill>
                  <a:srgbClr val="000000"/>
                </a:solidFill>
                <a:latin typeface="Alatsi"/>
                <a:ea typeface="Alatsi"/>
                <a:cs typeface="Alatsi"/>
                <a:sym typeface="Alatsi"/>
              </a:rPr>
              <a:t>Manque de traçabilité des opérations</a:t>
            </a:r>
          </a:p>
          <a:p>
            <a:pPr algn="l" marL="864928" indent="-432464" lvl="1">
              <a:lnSpc>
                <a:spcPts val="5608"/>
              </a:lnSpc>
              <a:buFont typeface="Arial"/>
              <a:buChar char="•"/>
            </a:pPr>
            <a:r>
              <a:rPr lang="en-US" sz="4006">
                <a:solidFill>
                  <a:srgbClr val="000000"/>
                </a:solidFill>
                <a:latin typeface="Alatsi"/>
                <a:ea typeface="Alatsi"/>
                <a:cs typeface="Alatsi"/>
                <a:sym typeface="Alatsi"/>
              </a:rPr>
              <a:t>Absence de vision globale en temps réel sur le parc</a:t>
            </a:r>
          </a:p>
          <a:p>
            <a:pPr algn="l" marL="864928" indent="-432464" lvl="1">
              <a:lnSpc>
                <a:spcPts val="5608"/>
              </a:lnSpc>
              <a:buFont typeface="Arial"/>
              <a:buChar char="•"/>
            </a:pPr>
            <a:r>
              <a:rPr lang="en-US" sz="4006">
                <a:solidFill>
                  <a:srgbClr val="000000"/>
                </a:solidFill>
                <a:latin typeface="Alatsi"/>
                <a:ea typeface="Alatsi"/>
                <a:cs typeface="Alatsi"/>
                <a:sym typeface="Alatsi"/>
              </a:rPr>
              <a:t>Coordination difficile entre les différents acteurs</a:t>
            </a:r>
          </a:p>
          <a:p>
            <a:pPr algn="l" marL="0" indent="0" lvl="0">
              <a:lnSpc>
                <a:spcPts val="5608"/>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0">
            <a:off x="0" y="1197716"/>
            <a:ext cx="16230600" cy="1451128"/>
          </a:xfrm>
          <a:prstGeom prst="rect">
            <a:avLst/>
          </a:prstGeom>
        </p:spPr>
        <p:txBody>
          <a:bodyPr anchor="t" rtlCol="false" tIns="0" lIns="0" bIns="0" rIns="0">
            <a:spAutoFit/>
          </a:bodyPr>
          <a:lstStyle/>
          <a:p>
            <a:pPr algn="ctr" marL="0" indent="0" lvl="0">
              <a:lnSpc>
                <a:spcPts val="11891"/>
              </a:lnSpc>
            </a:pPr>
            <a:r>
              <a:rPr lang="en-US" sz="8493">
                <a:solidFill>
                  <a:srgbClr val="000000"/>
                </a:solidFill>
                <a:latin typeface="Alatsi"/>
                <a:ea typeface="Alatsi"/>
                <a:cs typeface="Alatsi"/>
                <a:sym typeface="Alatsi"/>
              </a:rPr>
              <a:t>ÉTUDE ET CRITIQUE DE L'EXISTANT</a:t>
            </a:r>
          </a:p>
        </p:txBody>
      </p:sp>
      <p:sp>
        <p:nvSpPr>
          <p:cNvPr name="TextBox 3" id="3"/>
          <p:cNvSpPr txBox="true"/>
          <p:nvPr/>
        </p:nvSpPr>
        <p:spPr>
          <a:xfrm rot="0">
            <a:off x="302424" y="2906019"/>
            <a:ext cx="17327280" cy="5786055"/>
          </a:xfrm>
          <a:prstGeom prst="rect">
            <a:avLst/>
          </a:prstGeom>
        </p:spPr>
        <p:txBody>
          <a:bodyPr anchor="t" rtlCol="false" tIns="0" lIns="0" bIns="0" rIns="0">
            <a:spAutoFit/>
          </a:bodyPr>
          <a:lstStyle/>
          <a:p>
            <a:pPr algn="l" marL="707139" indent="-353570" lvl="1">
              <a:lnSpc>
                <a:spcPts val="4585"/>
              </a:lnSpc>
              <a:buFont typeface="Arial"/>
              <a:buChar char="•"/>
            </a:pPr>
            <a:r>
              <a:rPr lang="en-US" sz="3275">
                <a:solidFill>
                  <a:srgbClr val="000000"/>
                </a:solidFill>
                <a:latin typeface="Alatsi"/>
                <a:ea typeface="Alatsi"/>
                <a:cs typeface="Alatsi"/>
                <a:sym typeface="Alatsi"/>
              </a:rPr>
              <a:t> Ab</a:t>
            </a:r>
            <a:r>
              <a:rPr lang="en-US" sz="3275">
                <a:solidFill>
                  <a:srgbClr val="000000"/>
                </a:solidFill>
                <a:latin typeface="Alatsi"/>
                <a:ea typeface="Alatsi"/>
                <a:cs typeface="Alatsi"/>
                <a:sym typeface="Alatsi"/>
              </a:rPr>
              <a:t>sence de centralisation : données dispersées (Excel, Access, papier)</a:t>
            </a:r>
          </a:p>
          <a:p>
            <a:pPr algn="l" marL="707139" indent="-353570" lvl="1">
              <a:lnSpc>
                <a:spcPts val="4585"/>
              </a:lnSpc>
              <a:buFont typeface="Arial"/>
              <a:buChar char="•"/>
            </a:pPr>
            <a:r>
              <a:rPr lang="en-US" sz="3275">
                <a:solidFill>
                  <a:srgbClr val="000000"/>
                </a:solidFill>
                <a:latin typeface="Alatsi"/>
                <a:ea typeface="Alatsi"/>
                <a:cs typeface="Alatsi"/>
                <a:sym typeface="Alatsi"/>
              </a:rPr>
              <a:t> </a:t>
            </a:r>
            <a:r>
              <a:rPr lang="en-US" sz="3275">
                <a:solidFill>
                  <a:srgbClr val="000000"/>
                </a:solidFill>
                <a:latin typeface="Alatsi"/>
                <a:ea typeface="Alatsi"/>
                <a:cs typeface="Alatsi"/>
                <a:sym typeface="Alatsi"/>
              </a:rPr>
              <a:t>Processus manuels lents : demandes et validations chronophages et sources d’erreurs</a:t>
            </a:r>
          </a:p>
          <a:p>
            <a:pPr algn="l" marL="707139" indent="-353570" lvl="1">
              <a:lnSpc>
                <a:spcPts val="4585"/>
              </a:lnSpc>
              <a:buFont typeface="Arial"/>
              <a:buChar char="•"/>
            </a:pPr>
            <a:r>
              <a:rPr lang="en-US" sz="3275">
                <a:solidFill>
                  <a:srgbClr val="000000"/>
                </a:solidFill>
                <a:latin typeface="Alatsi"/>
                <a:ea typeface="Alatsi"/>
                <a:cs typeface="Alatsi"/>
                <a:sym typeface="Alatsi"/>
              </a:rPr>
              <a:t> </a:t>
            </a:r>
            <a:r>
              <a:rPr lang="en-US" sz="3275">
                <a:solidFill>
                  <a:srgbClr val="000000"/>
                </a:solidFill>
                <a:latin typeface="Alatsi"/>
                <a:ea typeface="Alatsi"/>
                <a:cs typeface="Alatsi"/>
                <a:sym typeface="Alatsi"/>
              </a:rPr>
              <a:t>Manque de traçabilité : difficile de suivre les opérations et l’historique des TPE</a:t>
            </a:r>
          </a:p>
          <a:p>
            <a:pPr algn="l" marL="707139" indent="-353570" lvl="1">
              <a:lnSpc>
                <a:spcPts val="4585"/>
              </a:lnSpc>
              <a:buFont typeface="Arial"/>
              <a:buChar char="•"/>
            </a:pPr>
            <a:r>
              <a:rPr lang="en-US" sz="3275">
                <a:solidFill>
                  <a:srgbClr val="000000"/>
                </a:solidFill>
                <a:latin typeface="Alatsi"/>
                <a:ea typeface="Alatsi"/>
                <a:cs typeface="Alatsi"/>
                <a:sym typeface="Alatsi"/>
              </a:rPr>
              <a:t> </a:t>
            </a:r>
            <a:r>
              <a:rPr lang="en-US" sz="3275">
                <a:solidFill>
                  <a:srgbClr val="000000"/>
                </a:solidFill>
                <a:latin typeface="Alatsi"/>
                <a:ea typeface="Alatsi"/>
                <a:cs typeface="Alatsi"/>
                <a:sym typeface="Alatsi"/>
              </a:rPr>
              <a:t>Gestion des stocks inefficace : pas de visibilité en temps réel (disponible, panne, maintenance)</a:t>
            </a:r>
          </a:p>
          <a:p>
            <a:pPr algn="l" marL="707139" indent="-353570" lvl="1">
              <a:lnSpc>
                <a:spcPts val="4585"/>
              </a:lnSpc>
              <a:buFont typeface="Arial"/>
              <a:buChar char="•"/>
            </a:pPr>
            <a:r>
              <a:rPr lang="en-US" sz="3275">
                <a:solidFill>
                  <a:srgbClr val="000000"/>
                </a:solidFill>
                <a:latin typeface="Alatsi"/>
                <a:ea typeface="Alatsi"/>
                <a:cs typeface="Alatsi"/>
                <a:sym typeface="Alatsi"/>
              </a:rPr>
              <a:t> </a:t>
            </a:r>
            <a:r>
              <a:rPr lang="en-US" sz="3275">
                <a:solidFill>
                  <a:srgbClr val="000000"/>
                </a:solidFill>
                <a:latin typeface="Alatsi"/>
                <a:ea typeface="Alatsi"/>
                <a:cs typeface="Alatsi"/>
                <a:sym typeface="Alatsi"/>
              </a:rPr>
              <a:t>Données incohérentes : doublons et informations non fiables</a:t>
            </a:r>
          </a:p>
          <a:p>
            <a:pPr algn="l" marL="707139" indent="-353570" lvl="1">
              <a:lnSpc>
                <a:spcPts val="4585"/>
              </a:lnSpc>
              <a:buFont typeface="Arial"/>
              <a:buChar char="•"/>
            </a:pPr>
            <a:r>
              <a:rPr lang="en-US" sz="3275">
                <a:solidFill>
                  <a:srgbClr val="000000"/>
                </a:solidFill>
                <a:latin typeface="Alatsi"/>
                <a:ea typeface="Alatsi"/>
                <a:cs typeface="Alatsi"/>
                <a:sym typeface="Alatsi"/>
              </a:rPr>
              <a:t> </a:t>
            </a:r>
            <a:r>
              <a:rPr lang="en-US" sz="3275">
                <a:solidFill>
                  <a:srgbClr val="000000"/>
                </a:solidFill>
                <a:latin typeface="Alatsi"/>
                <a:ea typeface="Alatsi"/>
                <a:cs typeface="Alatsi"/>
                <a:sym typeface="Alatsi"/>
              </a:rPr>
              <a:t>Décision limitée : absence de KPI et de tableaux de bord pour le pilotage</a:t>
            </a:r>
          </a:p>
          <a:p>
            <a:pPr algn="l">
              <a:lnSpc>
                <a:spcPts val="4585"/>
              </a:lnSpc>
            </a:pPr>
          </a:p>
          <a:p>
            <a:pPr algn="l" marL="0" indent="0" lvl="0">
              <a:lnSpc>
                <a:spcPts val="4585"/>
              </a:lnSpc>
            </a:pPr>
            <a:r>
              <a:rPr lang="en-US" sz="3275">
                <a:solidFill>
                  <a:srgbClr val="000000"/>
                </a:solidFill>
                <a:latin typeface="Alatsi"/>
                <a:ea typeface="Alatsi"/>
                <a:cs typeface="Alatsi"/>
                <a:sym typeface="Alatsi"/>
              </a:rPr>
              <a:t>Conclusion : besoin d’un système centralisé, automatisé et fiable</a:t>
            </a:r>
          </a:p>
          <a:p>
            <a:pPr algn="l" marL="0" indent="0" lvl="0">
              <a:lnSpc>
                <a:spcPts val="4585"/>
              </a:lnSpc>
            </a:pPr>
          </a:p>
        </p:txBody>
      </p:sp>
      <p:sp>
        <p:nvSpPr>
          <p:cNvPr name="Freeform 4" id="4"/>
          <p:cNvSpPr/>
          <p:nvPr/>
        </p:nvSpPr>
        <p:spPr>
          <a:xfrm flipH="false" flipV="false" rot="0">
            <a:off x="13764167" y="5827621"/>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5" id="5"/>
          <p:cNvSpPr/>
          <p:nvPr/>
        </p:nvSpPr>
        <p:spPr>
          <a:xfrm>
            <a:off x="-260599" y="9061267"/>
            <a:ext cx="7105264" cy="19050"/>
          </a:xfrm>
          <a:prstGeom prst="line">
            <a:avLst/>
          </a:prstGeom>
          <a:ln cap="flat" w="114300">
            <a:solidFill>
              <a:srgbClr val="9FC3D0"/>
            </a:solidFill>
            <a:prstDash val="solid"/>
            <a:headEnd type="none" len="sm" w="sm"/>
            <a:tailEnd type="none" len="sm" w="sm"/>
          </a:ln>
        </p:spPr>
      </p:sp>
      <p:sp>
        <p:nvSpPr>
          <p:cNvPr name="AutoShape 6" id="6"/>
          <p:cNvSpPr/>
          <p:nvPr/>
        </p:nvSpPr>
        <p:spPr>
          <a:xfrm>
            <a:off x="11430169" y="9061267"/>
            <a:ext cx="7105264" cy="19050"/>
          </a:xfrm>
          <a:prstGeom prst="line">
            <a:avLst/>
          </a:prstGeom>
          <a:ln cap="flat" w="114300">
            <a:solidFill>
              <a:srgbClr val="9FC3D0"/>
            </a:solidFill>
            <a:prstDash val="solid"/>
            <a:headEnd type="none" len="sm" w="sm"/>
            <a:tailEnd type="none" len="sm" w="sm"/>
          </a:ln>
        </p:spPr>
      </p:sp>
      <p:grpSp>
        <p:nvGrpSpPr>
          <p:cNvPr name="Group 7" id="7"/>
          <p:cNvGrpSpPr/>
          <p:nvPr/>
        </p:nvGrpSpPr>
        <p:grpSpPr>
          <a:xfrm rot="0">
            <a:off x="15859155" y="0"/>
            <a:ext cx="1562612" cy="1673225"/>
            <a:chOff x="0" y="0"/>
            <a:chExt cx="2083482" cy="2230967"/>
          </a:xfrm>
        </p:grpSpPr>
        <p:grpSp>
          <p:nvGrpSpPr>
            <p:cNvPr name="Group 8" id="8"/>
            <p:cNvGrpSpPr/>
            <p:nvPr/>
          </p:nvGrpSpPr>
          <p:grpSpPr>
            <a:xfrm rot="0">
              <a:off x="75599" y="0"/>
              <a:ext cx="1932284" cy="2230967"/>
              <a:chOff x="0" y="0"/>
              <a:chExt cx="703982" cy="812800"/>
            </a:xfrm>
          </p:grpSpPr>
          <p:sp>
            <p:nvSpPr>
              <p:cNvPr name="Freeform 9" id="9"/>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10" id="10"/>
              <p:cNvSpPr txBox="true"/>
              <p:nvPr/>
            </p:nvSpPr>
            <p:spPr>
              <a:xfrm>
                <a:off x="0" y="-47625"/>
                <a:ext cx="703982" cy="733425"/>
              </a:xfrm>
              <a:prstGeom prst="rect">
                <a:avLst/>
              </a:prstGeom>
            </p:spPr>
            <p:txBody>
              <a:bodyPr anchor="ctr" rtlCol="false" tIns="50800" lIns="50800" bIns="50800" rIns="50800"/>
              <a:lstStyle/>
              <a:p>
                <a:pPr algn="ctr" marL="0" indent="0" lvl="0">
                  <a:lnSpc>
                    <a:spcPts val="2659"/>
                  </a:lnSpc>
                </a:pPr>
              </a:p>
            </p:txBody>
          </p:sp>
        </p:grpSp>
        <p:sp>
          <p:nvSpPr>
            <p:cNvPr name="TextBox 11" id="11"/>
            <p:cNvSpPr txBox="true"/>
            <p:nvPr/>
          </p:nvSpPr>
          <p:spPr>
            <a:xfrm rot="0">
              <a:off x="0" y="447107"/>
              <a:ext cx="2083482" cy="1232111"/>
            </a:xfrm>
            <a:prstGeom prst="rect">
              <a:avLst/>
            </a:prstGeom>
          </p:spPr>
          <p:txBody>
            <a:bodyPr anchor="t" rtlCol="false" tIns="0" lIns="0" bIns="0" rIns="0">
              <a:spAutoFit/>
            </a:bodyPr>
            <a:lstStyle/>
            <a:p>
              <a:pPr algn="ctr" marL="0" indent="0" lvl="0">
                <a:lnSpc>
                  <a:spcPts val="7799"/>
                </a:lnSpc>
              </a:pPr>
              <a:r>
                <a:rPr lang="en-US" b="true" sz="5571">
                  <a:solidFill>
                    <a:srgbClr val="000000"/>
                  </a:solidFill>
                  <a:latin typeface="Open Sans Bold"/>
                  <a:ea typeface="Open Sans Bold"/>
                  <a:cs typeface="Open Sans Bold"/>
                  <a:sym typeface="Open Sans Bold"/>
                </a:rPr>
                <a:t>7</a:t>
              </a:r>
            </a:p>
          </p:txBody>
        </p:sp>
      </p:grpSp>
      <p:sp>
        <p:nvSpPr>
          <p:cNvPr name="Freeform 12" id="12"/>
          <p:cNvSpPr/>
          <p:nvPr/>
        </p:nvSpPr>
        <p:spPr>
          <a:xfrm flipH="false" flipV="false" rot="0">
            <a:off x="-2628900" y="-1449083"/>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AutoShape 2" id="2"/>
          <p:cNvSpPr/>
          <p:nvPr/>
        </p:nvSpPr>
        <p:spPr>
          <a:xfrm flipH="true" flipV="true">
            <a:off x="1090490" y="-104525"/>
            <a:ext cx="5403" cy="2997456"/>
          </a:xfrm>
          <a:prstGeom prst="line">
            <a:avLst/>
          </a:prstGeom>
          <a:ln cap="flat" w="114300">
            <a:solidFill>
              <a:srgbClr val="9FC3D0"/>
            </a:solidFill>
            <a:prstDash val="solid"/>
            <a:headEnd type="none" len="sm" w="sm"/>
            <a:tailEnd type="none" len="sm" w="sm"/>
          </a:ln>
        </p:spPr>
      </p:sp>
      <p:sp>
        <p:nvSpPr>
          <p:cNvPr name="AutoShape 3" id="3"/>
          <p:cNvSpPr/>
          <p:nvPr/>
        </p:nvSpPr>
        <p:spPr>
          <a:xfrm flipH="true" flipV="true">
            <a:off x="1085850" y="7289441"/>
            <a:ext cx="5403" cy="2997456"/>
          </a:xfrm>
          <a:prstGeom prst="line">
            <a:avLst/>
          </a:prstGeom>
          <a:ln cap="flat" w="114300">
            <a:solidFill>
              <a:srgbClr val="9FC3D0"/>
            </a:solidFill>
            <a:prstDash val="solid"/>
            <a:headEnd type="none" len="sm" w="sm"/>
            <a:tailEnd type="none" len="sm" w="sm"/>
          </a:ln>
        </p:spPr>
      </p:sp>
      <p:grpSp>
        <p:nvGrpSpPr>
          <p:cNvPr name="Group 4" id="4"/>
          <p:cNvGrpSpPr/>
          <p:nvPr/>
        </p:nvGrpSpPr>
        <p:grpSpPr>
          <a:xfrm rot="0">
            <a:off x="15859155" y="0"/>
            <a:ext cx="1562612" cy="1673225"/>
            <a:chOff x="0" y="0"/>
            <a:chExt cx="2083482" cy="2230967"/>
          </a:xfrm>
        </p:grpSpPr>
        <p:grpSp>
          <p:nvGrpSpPr>
            <p:cNvPr name="Group 5" id="5"/>
            <p:cNvGrpSpPr/>
            <p:nvPr/>
          </p:nvGrpSpPr>
          <p:grpSpPr>
            <a:xfrm rot="0">
              <a:off x="75599" y="0"/>
              <a:ext cx="1932284" cy="2230967"/>
              <a:chOff x="0" y="0"/>
              <a:chExt cx="703982" cy="812800"/>
            </a:xfrm>
          </p:grpSpPr>
          <p:sp>
            <p:nvSpPr>
              <p:cNvPr name="Freeform 6" id="6"/>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7" id="7"/>
              <p:cNvSpPr txBox="true"/>
              <p:nvPr/>
            </p:nvSpPr>
            <p:spPr>
              <a:xfrm>
                <a:off x="0" y="-47625"/>
                <a:ext cx="703982" cy="733425"/>
              </a:xfrm>
              <a:prstGeom prst="rect">
                <a:avLst/>
              </a:prstGeom>
            </p:spPr>
            <p:txBody>
              <a:bodyPr anchor="ctr" rtlCol="false" tIns="50800" lIns="50800" bIns="50800" rIns="50800"/>
              <a:lstStyle/>
              <a:p>
                <a:pPr algn="ctr" marL="0" indent="0" lvl="0">
                  <a:lnSpc>
                    <a:spcPts val="2659"/>
                  </a:lnSpc>
                </a:pPr>
              </a:p>
            </p:txBody>
          </p:sp>
        </p:grpSp>
        <p:sp>
          <p:nvSpPr>
            <p:cNvPr name="TextBox 8" id="8"/>
            <p:cNvSpPr txBox="true"/>
            <p:nvPr/>
          </p:nvSpPr>
          <p:spPr>
            <a:xfrm rot="0">
              <a:off x="0" y="447107"/>
              <a:ext cx="2083482" cy="1232111"/>
            </a:xfrm>
            <a:prstGeom prst="rect">
              <a:avLst/>
            </a:prstGeom>
          </p:spPr>
          <p:txBody>
            <a:bodyPr anchor="t" rtlCol="false" tIns="0" lIns="0" bIns="0" rIns="0">
              <a:spAutoFit/>
            </a:bodyPr>
            <a:lstStyle/>
            <a:p>
              <a:pPr algn="ctr" marL="0" indent="0" lvl="0">
                <a:lnSpc>
                  <a:spcPts val="7799"/>
                </a:lnSpc>
              </a:pPr>
              <a:r>
                <a:rPr lang="en-US" b="true" sz="5571">
                  <a:solidFill>
                    <a:srgbClr val="000000"/>
                  </a:solidFill>
                  <a:latin typeface="Open Sans Bold"/>
                  <a:ea typeface="Open Sans Bold"/>
                  <a:cs typeface="Open Sans Bold"/>
                  <a:sym typeface="Open Sans Bold"/>
                </a:rPr>
                <a:t>8</a:t>
              </a:r>
            </a:p>
          </p:txBody>
        </p:sp>
      </p:grpSp>
      <p:sp>
        <p:nvSpPr>
          <p:cNvPr name="Freeform 9" id="9"/>
          <p:cNvSpPr/>
          <p:nvPr/>
        </p:nvSpPr>
        <p:spPr>
          <a:xfrm flipH="false" flipV="false" rot="0">
            <a:off x="7512165" y="-1553858"/>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892058" y="9048108"/>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1647332" y="4216850"/>
            <a:ext cx="16640668" cy="5735645"/>
          </a:xfrm>
          <a:custGeom>
            <a:avLst/>
            <a:gdLst/>
            <a:ahLst/>
            <a:cxnLst/>
            <a:rect r="r" b="b" t="t" l="l"/>
            <a:pathLst>
              <a:path h="5735645" w="16640668">
                <a:moveTo>
                  <a:pt x="0" y="0"/>
                </a:moveTo>
                <a:lnTo>
                  <a:pt x="16640668" y="0"/>
                </a:lnTo>
                <a:lnTo>
                  <a:pt x="16640668" y="5735646"/>
                </a:lnTo>
                <a:lnTo>
                  <a:pt x="0" y="5735646"/>
                </a:lnTo>
                <a:lnTo>
                  <a:pt x="0" y="0"/>
                </a:lnTo>
                <a:close/>
              </a:path>
            </a:pathLst>
          </a:custGeom>
          <a:blipFill>
            <a:blip r:embed="rId4"/>
            <a:stretch>
              <a:fillRect l="-2654" t="-30989" r="-249" b="0"/>
            </a:stretch>
          </a:blipFill>
        </p:spPr>
      </p:sp>
      <p:sp>
        <p:nvSpPr>
          <p:cNvPr name="Freeform 12" id="12"/>
          <p:cNvSpPr/>
          <p:nvPr/>
        </p:nvSpPr>
        <p:spPr>
          <a:xfrm flipH="false" flipV="false" rot="0">
            <a:off x="1451764" y="2317903"/>
            <a:ext cx="16631668" cy="1898947"/>
          </a:xfrm>
          <a:custGeom>
            <a:avLst/>
            <a:gdLst/>
            <a:ahLst/>
            <a:cxnLst/>
            <a:rect r="r" b="b" t="t" l="l"/>
            <a:pathLst>
              <a:path h="1898947" w="16631668">
                <a:moveTo>
                  <a:pt x="0" y="0"/>
                </a:moveTo>
                <a:lnTo>
                  <a:pt x="16631667" y="0"/>
                </a:lnTo>
                <a:lnTo>
                  <a:pt x="16631667" y="1898947"/>
                </a:lnTo>
                <a:lnTo>
                  <a:pt x="0" y="1898947"/>
                </a:lnTo>
                <a:lnTo>
                  <a:pt x="0" y="0"/>
                </a:lnTo>
                <a:close/>
              </a:path>
            </a:pathLst>
          </a:custGeom>
          <a:blipFill>
            <a:blip r:embed="rId5"/>
            <a:stretch>
              <a:fillRect l="-346" t="-453" r="0" b="-1715"/>
            </a:stretch>
          </a:blipFill>
        </p:spPr>
      </p:sp>
      <p:sp>
        <p:nvSpPr>
          <p:cNvPr name="TextBox 13" id="13"/>
          <p:cNvSpPr txBox="true"/>
          <p:nvPr/>
        </p:nvSpPr>
        <p:spPr>
          <a:xfrm rot="0">
            <a:off x="3918390" y="866775"/>
            <a:ext cx="10451219" cy="1451128"/>
          </a:xfrm>
          <a:prstGeom prst="rect">
            <a:avLst/>
          </a:prstGeom>
        </p:spPr>
        <p:txBody>
          <a:bodyPr anchor="t" rtlCol="false" tIns="0" lIns="0" bIns="0" rIns="0">
            <a:spAutoFit/>
          </a:bodyPr>
          <a:lstStyle/>
          <a:p>
            <a:pPr algn="ctr" marL="0" indent="0" lvl="0">
              <a:lnSpc>
                <a:spcPts val="11891"/>
              </a:lnSpc>
            </a:pPr>
            <a:r>
              <a:rPr lang="en-US" sz="8493">
                <a:solidFill>
                  <a:srgbClr val="000000"/>
                </a:solidFill>
                <a:latin typeface="Alatsi"/>
                <a:ea typeface="Alatsi"/>
                <a:cs typeface="Alatsi"/>
                <a:sym typeface="Alatsi"/>
              </a:rPr>
              <a:t>SOLUTION PROPOSÉE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0">
            <a:off x="1888516" y="866775"/>
            <a:ext cx="16230600" cy="1451128"/>
          </a:xfrm>
          <a:prstGeom prst="rect">
            <a:avLst/>
          </a:prstGeom>
        </p:spPr>
        <p:txBody>
          <a:bodyPr anchor="t" rtlCol="false" tIns="0" lIns="0" bIns="0" rIns="0">
            <a:spAutoFit/>
          </a:bodyPr>
          <a:lstStyle/>
          <a:p>
            <a:pPr algn="ctr" marL="0" indent="0" lvl="0">
              <a:lnSpc>
                <a:spcPts val="11891"/>
              </a:lnSpc>
            </a:pPr>
            <a:r>
              <a:rPr lang="en-US" sz="8493">
                <a:solidFill>
                  <a:srgbClr val="000000"/>
                </a:solidFill>
                <a:latin typeface="Alatsi"/>
                <a:ea typeface="Alatsi"/>
                <a:cs typeface="Alatsi"/>
                <a:sym typeface="Alatsi"/>
              </a:rPr>
              <a:t>OBJECTIFS DU PROJET</a:t>
            </a:r>
          </a:p>
        </p:txBody>
      </p:sp>
      <p:grpSp>
        <p:nvGrpSpPr>
          <p:cNvPr name="Group 3" id="3"/>
          <p:cNvGrpSpPr/>
          <p:nvPr/>
        </p:nvGrpSpPr>
        <p:grpSpPr>
          <a:xfrm rot="0">
            <a:off x="500144" y="3102810"/>
            <a:ext cx="8253259" cy="5517148"/>
            <a:chOff x="0" y="0"/>
            <a:chExt cx="2173698" cy="1453076"/>
          </a:xfrm>
        </p:grpSpPr>
        <p:sp>
          <p:nvSpPr>
            <p:cNvPr name="Freeform 4" id="4"/>
            <p:cNvSpPr/>
            <p:nvPr/>
          </p:nvSpPr>
          <p:spPr>
            <a:xfrm flipH="false" flipV="false" rot="0">
              <a:off x="0" y="0"/>
              <a:ext cx="2173698" cy="1453076"/>
            </a:xfrm>
            <a:custGeom>
              <a:avLst/>
              <a:gdLst/>
              <a:ahLst/>
              <a:cxnLst/>
              <a:rect r="r" b="b" t="t" l="l"/>
              <a:pathLst>
                <a:path h="1453076" w="2173698">
                  <a:moveTo>
                    <a:pt x="47840" y="0"/>
                  </a:moveTo>
                  <a:lnTo>
                    <a:pt x="2125857" y="0"/>
                  </a:lnTo>
                  <a:cubicBezTo>
                    <a:pt x="2138546" y="0"/>
                    <a:pt x="2150714" y="5040"/>
                    <a:pt x="2159686" y="14012"/>
                  </a:cubicBezTo>
                  <a:cubicBezTo>
                    <a:pt x="2168658" y="22984"/>
                    <a:pt x="2173698" y="35152"/>
                    <a:pt x="2173698" y="47840"/>
                  </a:cubicBezTo>
                  <a:lnTo>
                    <a:pt x="2173698" y="1405236"/>
                  </a:lnTo>
                  <a:cubicBezTo>
                    <a:pt x="2173698" y="1417924"/>
                    <a:pt x="2168658" y="1430092"/>
                    <a:pt x="2159686" y="1439064"/>
                  </a:cubicBezTo>
                  <a:cubicBezTo>
                    <a:pt x="2150714" y="1448036"/>
                    <a:pt x="2138546" y="1453076"/>
                    <a:pt x="2125857" y="1453076"/>
                  </a:cubicBezTo>
                  <a:lnTo>
                    <a:pt x="47840" y="1453076"/>
                  </a:lnTo>
                  <a:cubicBezTo>
                    <a:pt x="35152" y="1453076"/>
                    <a:pt x="22984" y="1448036"/>
                    <a:pt x="14012" y="1439064"/>
                  </a:cubicBezTo>
                  <a:cubicBezTo>
                    <a:pt x="5040" y="1430092"/>
                    <a:pt x="0" y="1417924"/>
                    <a:pt x="0" y="1405236"/>
                  </a:cubicBezTo>
                  <a:lnTo>
                    <a:pt x="0" y="47840"/>
                  </a:lnTo>
                  <a:cubicBezTo>
                    <a:pt x="0" y="35152"/>
                    <a:pt x="5040" y="22984"/>
                    <a:pt x="14012" y="14012"/>
                  </a:cubicBezTo>
                  <a:cubicBezTo>
                    <a:pt x="22984" y="5040"/>
                    <a:pt x="35152" y="0"/>
                    <a:pt x="47840" y="0"/>
                  </a:cubicBezTo>
                  <a:close/>
                </a:path>
              </a:pathLst>
            </a:custGeom>
            <a:solidFill>
              <a:srgbClr val="E9C7C6"/>
            </a:solidFill>
          </p:spPr>
        </p:sp>
        <p:sp>
          <p:nvSpPr>
            <p:cNvPr name="TextBox 5" id="5"/>
            <p:cNvSpPr txBox="true"/>
            <p:nvPr/>
          </p:nvSpPr>
          <p:spPr>
            <a:xfrm>
              <a:off x="0" y="-38100"/>
              <a:ext cx="2173698" cy="1491176"/>
            </a:xfrm>
            <a:prstGeom prst="rect">
              <a:avLst/>
            </a:prstGeom>
          </p:spPr>
          <p:txBody>
            <a:bodyPr anchor="ctr" rtlCol="false" tIns="50800" lIns="50800" bIns="50800" rIns="50800"/>
            <a:lstStyle/>
            <a:p>
              <a:pPr algn="ctr" marL="0" indent="0" lvl="0">
                <a:lnSpc>
                  <a:spcPts val="2659"/>
                </a:lnSpc>
              </a:pPr>
            </a:p>
          </p:txBody>
        </p:sp>
      </p:grpSp>
      <p:sp>
        <p:nvSpPr>
          <p:cNvPr name="TextBox 6" id="6"/>
          <p:cNvSpPr txBox="true"/>
          <p:nvPr/>
        </p:nvSpPr>
        <p:spPr>
          <a:xfrm rot="0">
            <a:off x="764422" y="3523674"/>
            <a:ext cx="7724703" cy="5734626"/>
          </a:xfrm>
          <a:prstGeom prst="rect">
            <a:avLst/>
          </a:prstGeom>
        </p:spPr>
        <p:txBody>
          <a:bodyPr anchor="t" rtlCol="false" tIns="0" lIns="0" bIns="0" rIns="0">
            <a:spAutoFit/>
          </a:bodyPr>
          <a:lstStyle/>
          <a:p>
            <a:pPr algn="l" marL="591827" indent="-295914" lvl="1">
              <a:lnSpc>
                <a:spcPts val="3837"/>
              </a:lnSpc>
              <a:buFont typeface="Arial"/>
              <a:buChar char="•"/>
            </a:pPr>
            <a:r>
              <a:rPr lang="en-US" sz="2741">
                <a:solidFill>
                  <a:srgbClr val="000000"/>
                </a:solidFill>
                <a:latin typeface="Alatsi"/>
                <a:ea typeface="Alatsi"/>
                <a:cs typeface="Alatsi"/>
                <a:sym typeface="Alatsi"/>
              </a:rPr>
              <a:t>Digitaliser et centraliser la gestion du parc TPE</a:t>
            </a:r>
          </a:p>
          <a:p>
            <a:pPr algn="l" marL="591827" indent="-295914" lvl="1">
              <a:lnSpc>
                <a:spcPts val="3837"/>
              </a:lnSpc>
              <a:buFont typeface="Arial"/>
              <a:buChar char="•"/>
            </a:pPr>
            <a:r>
              <a:rPr lang="en-US" sz="2741">
                <a:solidFill>
                  <a:srgbClr val="000000"/>
                </a:solidFill>
                <a:latin typeface="Alatsi"/>
                <a:ea typeface="Alatsi"/>
                <a:cs typeface="Alatsi"/>
                <a:sym typeface="Alatsi"/>
              </a:rPr>
              <a:t> </a:t>
            </a:r>
            <a:r>
              <a:rPr lang="en-US" sz="2741">
                <a:solidFill>
                  <a:srgbClr val="000000"/>
                </a:solidFill>
                <a:latin typeface="Alatsi"/>
                <a:ea typeface="Alatsi"/>
                <a:cs typeface="Alatsi"/>
                <a:sym typeface="Alatsi"/>
              </a:rPr>
              <a:t>Structurer le cycle de vie complet des TPE (demande, affectation, maintenance, suivi)</a:t>
            </a:r>
          </a:p>
          <a:p>
            <a:pPr algn="l" marL="591827" indent="-295914" lvl="1">
              <a:lnSpc>
                <a:spcPts val="3837"/>
              </a:lnSpc>
              <a:buFont typeface="Arial"/>
              <a:buChar char="•"/>
            </a:pPr>
            <a:r>
              <a:rPr lang="en-US" sz="2741">
                <a:solidFill>
                  <a:srgbClr val="000000"/>
                </a:solidFill>
                <a:latin typeface="Alatsi"/>
                <a:ea typeface="Alatsi"/>
                <a:cs typeface="Alatsi"/>
                <a:sym typeface="Alatsi"/>
              </a:rPr>
              <a:t> </a:t>
            </a:r>
            <a:r>
              <a:rPr lang="en-US" sz="2741">
                <a:solidFill>
                  <a:srgbClr val="000000"/>
                </a:solidFill>
                <a:latin typeface="Alatsi"/>
                <a:ea typeface="Alatsi"/>
                <a:cs typeface="Alatsi"/>
                <a:sym typeface="Alatsi"/>
              </a:rPr>
              <a:t>Réduire les traitements manuels et les délais opérationnels</a:t>
            </a:r>
          </a:p>
          <a:p>
            <a:pPr algn="l" marL="591827" indent="-295914" lvl="1">
              <a:lnSpc>
                <a:spcPts val="3837"/>
              </a:lnSpc>
              <a:buFont typeface="Arial"/>
              <a:buChar char="•"/>
            </a:pPr>
            <a:r>
              <a:rPr lang="en-US" sz="2741">
                <a:solidFill>
                  <a:srgbClr val="000000"/>
                </a:solidFill>
                <a:latin typeface="Alatsi"/>
                <a:ea typeface="Alatsi"/>
                <a:cs typeface="Alatsi"/>
                <a:sym typeface="Alatsi"/>
              </a:rPr>
              <a:t> </a:t>
            </a:r>
            <a:r>
              <a:rPr lang="en-US" sz="2741">
                <a:solidFill>
                  <a:srgbClr val="000000"/>
                </a:solidFill>
                <a:latin typeface="Alatsi"/>
                <a:ea typeface="Alatsi"/>
                <a:cs typeface="Alatsi"/>
                <a:sym typeface="Alatsi"/>
              </a:rPr>
              <a:t>Améliorer la traçabilité des actions et des incidents</a:t>
            </a:r>
          </a:p>
          <a:p>
            <a:pPr algn="l" marL="591827" indent="-295914" lvl="1">
              <a:lnSpc>
                <a:spcPts val="3837"/>
              </a:lnSpc>
              <a:buFont typeface="Arial"/>
              <a:buChar char="•"/>
            </a:pPr>
            <a:r>
              <a:rPr lang="en-US" sz="2741">
                <a:solidFill>
                  <a:srgbClr val="000000"/>
                </a:solidFill>
                <a:latin typeface="Alatsi"/>
                <a:ea typeface="Alatsi"/>
                <a:cs typeface="Alatsi"/>
                <a:sym typeface="Alatsi"/>
              </a:rPr>
              <a:t> </a:t>
            </a:r>
            <a:r>
              <a:rPr lang="en-US" sz="2741">
                <a:solidFill>
                  <a:srgbClr val="000000"/>
                </a:solidFill>
                <a:latin typeface="Alatsi"/>
                <a:ea typeface="Alatsi"/>
                <a:cs typeface="Alatsi"/>
                <a:sym typeface="Alatsi"/>
              </a:rPr>
              <a:t>Sécuriser l’accès via authentification et gestion des rôles</a:t>
            </a:r>
          </a:p>
          <a:p>
            <a:pPr algn="l">
              <a:lnSpc>
                <a:spcPts val="3837"/>
              </a:lnSpc>
            </a:pPr>
          </a:p>
          <a:p>
            <a:pPr algn="l">
              <a:lnSpc>
                <a:spcPts val="3837"/>
              </a:lnSpc>
            </a:pPr>
          </a:p>
          <a:p>
            <a:pPr algn="l" marL="0" indent="0" lvl="0">
              <a:lnSpc>
                <a:spcPts val="3837"/>
              </a:lnSpc>
            </a:pPr>
          </a:p>
        </p:txBody>
      </p:sp>
      <p:sp>
        <p:nvSpPr>
          <p:cNvPr name="Freeform 7" id="7"/>
          <p:cNvSpPr/>
          <p:nvPr/>
        </p:nvSpPr>
        <p:spPr>
          <a:xfrm flipH="false" flipV="false" rot="0">
            <a:off x="13417488" y="6142174"/>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9534597" y="3102810"/>
            <a:ext cx="8277570" cy="5517148"/>
            <a:chOff x="0" y="0"/>
            <a:chExt cx="2180101" cy="1453076"/>
          </a:xfrm>
        </p:grpSpPr>
        <p:sp>
          <p:nvSpPr>
            <p:cNvPr name="Freeform 9" id="9"/>
            <p:cNvSpPr/>
            <p:nvPr/>
          </p:nvSpPr>
          <p:spPr>
            <a:xfrm flipH="false" flipV="false" rot="0">
              <a:off x="0" y="0"/>
              <a:ext cx="2180101" cy="1453076"/>
            </a:xfrm>
            <a:custGeom>
              <a:avLst/>
              <a:gdLst/>
              <a:ahLst/>
              <a:cxnLst/>
              <a:rect r="r" b="b" t="t" l="l"/>
              <a:pathLst>
                <a:path h="1453076" w="2180101">
                  <a:moveTo>
                    <a:pt x="47700" y="0"/>
                  </a:moveTo>
                  <a:lnTo>
                    <a:pt x="2132401" y="0"/>
                  </a:lnTo>
                  <a:cubicBezTo>
                    <a:pt x="2158745" y="0"/>
                    <a:pt x="2180101" y="21356"/>
                    <a:pt x="2180101" y="47700"/>
                  </a:cubicBezTo>
                  <a:lnTo>
                    <a:pt x="2180101" y="1405376"/>
                  </a:lnTo>
                  <a:cubicBezTo>
                    <a:pt x="2180101" y="1431720"/>
                    <a:pt x="2158745" y="1453076"/>
                    <a:pt x="2132401" y="1453076"/>
                  </a:cubicBezTo>
                  <a:lnTo>
                    <a:pt x="47700" y="1453076"/>
                  </a:lnTo>
                  <a:cubicBezTo>
                    <a:pt x="21356" y="1453076"/>
                    <a:pt x="0" y="1431720"/>
                    <a:pt x="0" y="1405376"/>
                  </a:cubicBezTo>
                  <a:lnTo>
                    <a:pt x="0" y="47700"/>
                  </a:lnTo>
                  <a:cubicBezTo>
                    <a:pt x="0" y="21356"/>
                    <a:pt x="21356" y="0"/>
                    <a:pt x="47700" y="0"/>
                  </a:cubicBezTo>
                  <a:close/>
                </a:path>
              </a:pathLst>
            </a:custGeom>
            <a:solidFill>
              <a:srgbClr val="E9C7C6"/>
            </a:solidFill>
          </p:spPr>
        </p:sp>
        <p:sp>
          <p:nvSpPr>
            <p:cNvPr name="TextBox 10" id="10"/>
            <p:cNvSpPr txBox="true"/>
            <p:nvPr/>
          </p:nvSpPr>
          <p:spPr>
            <a:xfrm>
              <a:off x="0" y="-38100"/>
              <a:ext cx="2180101" cy="1491176"/>
            </a:xfrm>
            <a:prstGeom prst="rect">
              <a:avLst/>
            </a:prstGeom>
          </p:spPr>
          <p:txBody>
            <a:bodyPr anchor="ctr" rtlCol="false" tIns="50800" lIns="50800" bIns="50800" rIns="50800"/>
            <a:lstStyle/>
            <a:p>
              <a:pPr algn="ctr" marL="0" indent="0" lvl="0">
                <a:lnSpc>
                  <a:spcPts val="2659"/>
                </a:lnSpc>
              </a:pPr>
            </a:p>
          </p:txBody>
        </p:sp>
      </p:grpSp>
      <p:sp>
        <p:nvSpPr>
          <p:cNvPr name="TextBox 11" id="11"/>
          <p:cNvSpPr txBox="true"/>
          <p:nvPr/>
        </p:nvSpPr>
        <p:spPr>
          <a:xfrm rot="0">
            <a:off x="10003816" y="3523674"/>
            <a:ext cx="7339132" cy="4273864"/>
          </a:xfrm>
          <a:prstGeom prst="rect">
            <a:avLst/>
          </a:prstGeom>
        </p:spPr>
        <p:txBody>
          <a:bodyPr anchor="t" rtlCol="false" tIns="0" lIns="0" bIns="0" rIns="0">
            <a:spAutoFit/>
          </a:bodyPr>
          <a:lstStyle/>
          <a:p>
            <a:pPr algn="l" marL="588480" indent="-294240" lvl="1">
              <a:lnSpc>
                <a:spcPts val="3815"/>
              </a:lnSpc>
              <a:buFont typeface="Arial"/>
              <a:buChar char="•"/>
            </a:pPr>
            <a:r>
              <a:rPr lang="en-US" sz="2725">
                <a:solidFill>
                  <a:srgbClr val="000000"/>
                </a:solidFill>
                <a:latin typeface="Alatsi"/>
                <a:ea typeface="Alatsi"/>
                <a:cs typeface="Alatsi"/>
                <a:sym typeface="Alatsi"/>
              </a:rPr>
              <a:t> Fiabiliser les données et éliminer les incohérences</a:t>
            </a:r>
          </a:p>
          <a:p>
            <a:pPr algn="l" marL="588480" indent="-294240" lvl="1">
              <a:lnSpc>
                <a:spcPts val="3815"/>
              </a:lnSpc>
              <a:buFont typeface="Arial"/>
              <a:buChar char="•"/>
            </a:pPr>
            <a:r>
              <a:rPr lang="en-US" sz="2725">
                <a:solidFill>
                  <a:srgbClr val="000000"/>
                </a:solidFill>
                <a:latin typeface="Alatsi"/>
                <a:ea typeface="Alatsi"/>
                <a:cs typeface="Alatsi"/>
                <a:sym typeface="Alatsi"/>
              </a:rPr>
              <a:t> </a:t>
            </a:r>
            <a:r>
              <a:rPr lang="en-US" sz="2725">
                <a:solidFill>
                  <a:srgbClr val="000000"/>
                </a:solidFill>
                <a:latin typeface="Alatsi"/>
                <a:ea typeface="Alatsi"/>
                <a:cs typeface="Alatsi"/>
                <a:sym typeface="Alatsi"/>
              </a:rPr>
              <a:t>Améliorer la disponibilité des TPE (pannes et maintenance)</a:t>
            </a:r>
          </a:p>
          <a:p>
            <a:pPr algn="l" marL="588480" indent="-294240" lvl="1">
              <a:lnSpc>
                <a:spcPts val="3815"/>
              </a:lnSpc>
              <a:buFont typeface="Arial"/>
              <a:buChar char="•"/>
            </a:pPr>
            <a:r>
              <a:rPr lang="en-US" sz="2725">
                <a:solidFill>
                  <a:srgbClr val="000000"/>
                </a:solidFill>
                <a:latin typeface="Alatsi"/>
                <a:ea typeface="Alatsi"/>
                <a:cs typeface="Alatsi"/>
                <a:sym typeface="Alatsi"/>
              </a:rPr>
              <a:t> </a:t>
            </a:r>
            <a:r>
              <a:rPr lang="en-US" sz="2725">
                <a:solidFill>
                  <a:srgbClr val="000000"/>
                </a:solidFill>
                <a:latin typeface="Alatsi"/>
                <a:ea typeface="Alatsi"/>
                <a:cs typeface="Alatsi"/>
                <a:sym typeface="Alatsi"/>
              </a:rPr>
              <a:t>Automatiser le traitement des fichiers bancaires et écritures comptables</a:t>
            </a:r>
          </a:p>
          <a:p>
            <a:pPr algn="l" marL="588480" indent="-294240" lvl="1">
              <a:lnSpc>
                <a:spcPts val="3815"/>
              </a:lnSpc>
              <a:buFont typeface="Arial"/>
              <a:buChar char="•"/>
            </a:pPr>
            <a:r>
              <a:rPr lang="en-US" sz="2725">
                <a:solidFill>
                  <a:srgbClr val="000000"/>
                </a:solidFill>
                <a:latin typeface="Alatsi"/>
                <a:ea typeface="Alatsi"/>
                <a:cs typeface="Alatsi"/>
                <a:sym typeface="Alatsi"/>
              </a:rPr>
              <a:t> </a:t>
            </a:r>
            <a:r>
              <a:rPr lang="en-US" sz="2725">
                <a:solidFill>
                  <a:srgbClr val="000000"/>
                </a:solidFill>
                <a:latin typeface="Alatsi"/>
                <a:ea typeface="Alatsi"/>
                <a:cs typeface="Alatsi"/>
                <a:sym typeface="Alatsi"/>
              </a:rPr>
              <a:t>Fournir des KPI et tableaux de bord pour le pilotage</a:t>
            </a:r>
          </a:p>
          <a:p>
            <a:pPr algn="l" marL="0" indent="0" lvl="0">
              <a:lnSpc>
                <a:spcPts val="3815"/>
              </a:lnSpc>
            </a:pPr>
          </a:p>
        </p:txBody>
      </p:sp>
      <p:sp>
        <p:nvSpPr>
          <p:cNvPr name="AutoShape 12" id="12"/>
          <p:cNvSpPr/>
          <p:nvPr/>
        </p:nvSpPr>
        <p:spPr>
          <a:xfrm>
            <a:off x="-260599" y="9061267"/>
            <a:ext cx="7105264" cy="19050"/>
          </a:xfrm>
          <a:prstGeom prst="line">
            <a:avLst/>
          </a:prstGeom>
          <a:ln cap="flat" w="114300">
            <a:solidFill>
              <a:srgbClr val="9FC3D0"/>
            </a:solidFill>
            <a:prstDash val="solid"/>
            <a:headEnd type="none" len="sm" w="sm"/>
            <a:tailEnd type="none" len="sm" w="sm"/>
          </a:ln>
        </p:spPr>
      </p:sp>
      <p:sp>
        <p:nvSpPr>
          <p:cNvPr name="AutoShape 13" id="13"/>
          <p:cNvSpPr/>
          <p:nvPr/>
        </p:nvSpPr>
        <p:spPr>
          <a:xfrm>
            <a:off x="11430169" y="9061267"/>
            <a:ext cx="7105264" cy="19050"/>
          </a:xfrm>
          <a:prstGeom prst="line">
            <a:avLst/>
          </a:prstGeom>
          <a:ln cap="flat" w="114300">
            <a:solidFill>
              <a:srgbClr val="9FC3D0"/>
            </a:solidFill>
            <a:prstDash val="solid"/>
            <a:headEnd type="none" len="sm" w="sm"/>
            <a:tailEnd type="none" len="sm" w="sm"/>
          </a:ln>
        </p:spPr>
      </p:sp>
      <p:grpSp>
        <p:nvGrpSpPr>
          <p:cNvPr name="Group 14" id="14"/>
          <p:cNvGrpSpPr/>
          <p:nvPr/>
        </p:nvGrpSpPr>
        <p:grpSpPr>
          <a:xfrm rot="0">
            <a:off x="15859155" y="0"/>
            <a:ext cx="1562612" cy="1673225"/>
            <a:chOff x="0" y="0"/>
            <a:chExt cx="2083482" cy="2230967"/>
          </a:xfrm>
        </p:grpSpPr>
        <p:grpSp>
          <p:nvGrpSpPr>
            <p:cNvPr name="Group 15" id="15"/>
            <p:cNvGrpSpPr/>
            <p:nvPr/>
          </p:nvGrpSpPr>
          <p:grpSpPr>
            <a:xfrm rot="0">
              <a:off x="75599" y="0"/>
              <a:ext cx="1932284" cy="2230967"/>
              <a:chOff x="0" y="0"/>
              <a:chExt cx="703982" cy="812800"/>
            </a:xfrm>
          </p:grpSpPr>
          <p:sp>
            <p:nvSpPr>
              <p:cNvPr name="Freeform 16" id="16"/>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17" id="17"/>
              <p:cNvSpPr txBox="true"/>
              <p:nvPr/>
            </p:nvSpPr>
            <p:spPr>
              <a:xfrm>
                <a:off x="0" y="-47625"/>
                <a:ext cx="703982" cy="733425"/>
              </a:xfrm>
              <a:prstGeom prst="rect">
                <a:avLst/>
              </a:prstGeom>
            </p:spPr>
            <p:txBody>
              <a:bodyPr anchor="ctr" rtlCol="false" tIns="50800" lIns="50800" bIns="50800" rIns="50800"/>
              <a:lstStyle/>
              <a:p>
                <a:pPr algn="ctr" marL="0" indent="0" lvl="0">
                  <a:lnSpc>
                    <a:spcPts val="2659"/>
                  </a:lnSpc>
                </a:pPr>
              </a:p>
            </p:txBody>
          </p:sp>
        </p:grpSp>
        <p:sp>
          <p:nvSpPr>
            <p:cNvPr name="TextBox 18" id="18"/>
            <p:cNvSpPr txBox="true"/>
            <p:nvPr/>
          </p:nvSpPr>
          <p:spPr>
            <a:xfrm rot="0">
              <a:off x="0" y="447107"/>
              <a:ext cx="2083482" cy="1232111"/>
            </a:xfrm>
            <a:prstGeom prst="rect">
              <a:avLst/>
            </a:prstGeom>
          </p:spPr>
          <p:txBody>
            <a:bodyPr anchor="t" rtlCol="false" tIns="0" lIns="0" bIns="0" rIns="0">
              <a:spAutoFit/>
            </a:bodyPr>
            <a:lstStyle/>
            <a:p>
              <a:pPr algn="ctr" marL="0" indent="0" lvl="0">
                <a:lnSpc>
                  <a:spcPts val="7799"/>
                </a:lnSpc>
              </a:pPr>
              <a:r>
                <a:rPr lang="en-US" b="true" sz="5571">
                  <a:solidFill>
                    <a:srgbClr val="000000"/>
                  </a:solidFill>
                  <a:latin typeface="Open Sans Bold"/>
                  <a:ea typeface="Open Sans Bold"/>
                  <a:cs typeface="Open Sans Bold"/>
                  <a:sym typeface="Open Sans Bold"/>
                </a:rPr>
                <a:t>9</a:t>
              </a:r>
            </a:p>
          </p:txBody>
        </p:sp>
      </p:grpSp>
      <p:sp>
        <p:nvSpPr>
          <p:cNvPr name="Freeform 19" id="19"/>
          <p:cNvSpPr/>
          <p:nvPr/>
        </p:nvSpPr>
        <p:spPr>
          <a:xfrm flipH="false" flipV="false" rot="0">
            <a:off x="-2243137" y="-402279"/>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0">
            <a:off x="4554977" y="3843285"/>
            <a:ext cx="11627497" cy="1651020"/>
          </a:xfrm>
          <a:prstGeom prst="rect">
            <a:avLst/>
          </a:prstGeom>
        </p:spPr>
        <p:txBody>
          <a:bodyPr anchor="t" rtlCol="false" tIns="0" lIns="0" bIns="0" rIns="0">
            <a:spAutoFit/>
          </a:bodyPr>
          <a:lstStyle/>
          <a:p>
            <a:pPr algn="ctr" marL="0" indent="0" lvl="0">
              <a:lnSpc>
                <a:spcPts val="13559"/>
              </a:lnSpc>
            </a:pPr>
            <a:r>
              <a:rPr lang="en-US" sz="9685">
                <a:solidFill>
                  <a:srgbClr val="000000"/>
                </a:solidFill>
                <a:latin typeface="Alatsi"/>
                <a:ea typeface="Alatsi"/>
                <a:cs typeface="Alatsi"/>
                <a:sym typeface="Alatsi"/>
              </a:rPr>
              <a:t>ANALYSE DES BESOINS</a:t>
            </a:r>
          </a:p>
        </p:txBody>
      </p:sp>
      <p:sp>
        <p:nvSpPr>
          <p:cNvPr name="TextBox 3" id="3"/>
          <p:cNvSpPr txBox="true"/>
          <p:nvPr/>
        </p:nvSpPr>
        <p:spPr>
          <a:xfrm rot="0">
            <a:off x="5033857" y="6791228"/>
            <a:ext cx="10669737" cy="457284"/>
          </a:xfrm>
          <a:prstGeom prst="rect">
            <a:avLst/>
          </a:prstGeom>
        </p:spPr>
        <p:txBody>
          <a:bodyPr anchor="t" rtlCol="false" tIns="0" lIns="0" bIns="0" rIns="0">
            <a:spAutoFit/>
          </a:bodyPr>
          <a:lstStyle/>
          <a:p>
            <a:pPr algn="ctr" marL="0" indent="0" lvl="0">
              <a:lnSpc>
                <a:spcPts val="3798"/>
              </a:lnSpc>
            </a:pPr>
            <a:r>
              <a:rPr lang="en-US" sz="2712">
                <a:solidFill>
                  <a:srgbClr val="000000"/>
                </a:solidFill>
                <a:latin typeface="Alatsi"/>
                <a:ea typeface="Alatsi"/>
                <a:cs typeface="Alatsi"/>
                <a:sym typeface="Alatsi"/>
              </a:rPr>
              <a:t>Identification des exigences fonctionnelles et non fonctionnelles</a:t>
            </a:r>
          </a:p>
        </p:txBody>
      </p:sp>
      <p:grpSp>
        <p:nvGrpSpPr>
          <p:cNvPr name="Group 4" id="4"/>
          <p:cNvGrpSpPr/>
          <p:nvPr/>
        </p:nvGrpSpPr>
        <p:grpSpPr>
          <a:xfrm rot="0">
            <a:off x="-31071" y="0"/>
            <a:ext cx="4239083" cy="10287000"/>
            <a:chOff x="0" y="0"/>
            <a:chExt cx="5652111" cy="13716000"/>
          </a:xfrm>
        </p:grpSpPr>
        <p:grpSp>
          <p:nvGrpSpPr>
            <p:cNvPr name="Group 5" id="5"/>
            <p:cNvGrpSpPr/>
            <p:nvPr/>
          </p:nvGrpSpPr>
          <p:grpSpPr>
            <a:xfrm rot="0">
              <a:off x="2826056" y="0"/>
              <a:ext cx="2826056" cy="13716000"/>
              <a:chOff x="0" y="0"/>
              <a:chExt cx="558233" cy="2709333"/>
            </a:xfrm>
          </p:grpSpPr>
          <p:sp>
            <p:nvSpPr>
              <p:cNvPr name="Freeform 6" id="6"/>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E9E0D9"/>
              </a:solidFill>
            </p:spPr>
          </p:sp>
          <p:sp>
            <p:nvSpPr>
              <p:cNvPr name="TextBox 7" id="7"/>
              <p:cNvSpPr txBox="true"/>
              <p:nvPr/>
            </p:nvSpPr>
            <p:spPr>
              <a:xfrm>
                <a:off x="0" y="-47625"/>
                <a:ext cx="558233" cy="2756958"/>
              </a:xfrm>
              <a:prstGeom prst="rect">
                <a:avLst/>
              </a:prstGeom>
            </p:spPr>
            <p:txBody>
              <a:bodyPr anchor="ctr" rtlCol="false" tIns="50800" lIns="50800" bIns="50800" rIns="50800"/>
              <a:lstStyle/>
              <a:p>
                <a:pPr algn="ctr" marL="0" indent="0" lvl="0">
                  <a:lnSpc>
                    <a:spcPts val="2659"/>
                  </a:lnSpc>
                </a:pPr>
              </a:p>
            </p:txBody>
          </p:sp>
        </p:grpSp>
        <p:grpSp>
          <p:nvGrpSpPr>
            <p:cNvPr name="Group 8" id="8"/>
            <p:cNvGrpSpPr/>
            <p:nvPr/>
          </p:nvGrpSpPr>
          <p:grpSpPr>
            <a:xfrm rot="0">
              <a:off x="1413028" y="0"/>
              <a:ext cx="2826056" cy="13716000"/>
              <a:chOff x="0" y="0"/>
              <a:chExt cx="558233" cy="2709333"/>
            </a:xfrm>
          </p:grpSpPr>
          <p:sp>
            <p:nvSpPr>
              <p:cNvPr name="Freeform 9" id="9"/>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9FC3D0"/>
              </a:solidFill>
            </p:spPr>
          </p:sp>
          <p:sp>
            <p:nvSpPr>
              <p:cNvPr name="TextBox 10" id="10"/>
              <p:cNvSpPr txBox="true"/>
              <p:nvPr/>
            </p:nvSpPr>
            <p:spPr>
              <a:xfrm>
                <a:off x="0" y="-47625"/>
                <a:ext cx="558233" cy="2756958"/>
              </a:xfrm>
              <a:prstGeom prst="rect">
                <a:avLst/>
              </a:prstGeom>
            </p:spPr>
            <p:txBody>
              <a:bodyPr anchor="ctr" rtlCol="false" tIns="50800" lIns="50800" bIns="50800" rIns="50800"/>
              <a:lstStyle/>
              <a:p>
                <a:pPr algn="ctr" marL="0" indent="0" lvl="0">
                  <a:lnSpc>
                    <a:spcPts val="2659"/>
                  </a:lnSpc>
                </a:pPr>
              </a:p>
            </p:txBody>
          </p:sp>
        </p:grpSp>
        <p:grpSp>
          <p:nvGrpSpPr>
            <p:cNvPr name="Group 11" id="11"/>
            <p:cNvGrpSpPr/>
            <p:nvPr/>
          </p:nvGrpSpPr>
          <p:grpSpPr>
            <a:xfrm rot="0">
              <a:off x="0" y="0"/>
              <a:ext cx="2826056" cy="13716000"/>
              <a:chOff x="0" y="0"/>
              <a:chExt cx="558233" cy="2709333"/>
            </a:xfrm>
          </p:grpSpPr>
          <p:sp>
            <p:nvSpPr>
              <p:cNvPr name="Freeform 12" id="12"/>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E9C7C6"/>
              </a:solidFill>
            </p:spPr>
          </p:sp>
          <p:sp>
            <p:nvSpPr>
              <p:cNvPr name="TextBox 13" id="13"/>
              <p:cNvSpPr txBox="true"/>
              <p:nvPr/>
            </p:nvSpPr>
            <p:spPr>
              <a:xfrm>
                <a:off x="0" y="-47625"/>
                <a:ext cx="558233" cy="2756958"/>
              </a:xfrm>
              <a:prstGeom prst="rect">
                <a:avLst/>
              </a:prstGeom>
            </p:spPr>
            <p:txBody>
              <a:bodyPr anchor="ctr" rtlCol="false" tIns="50800" lIns="50800" bIns="50800" rIns="50800"/>
              <a:lstStyle/>
              <a:p>
                <a:pPr algn="ctr" marL="0" indent="0" lvl="0">
                  <a:lnSpc>
                    <a:spcPts val="2659"/>
                  </a:lnSpc>
                </a:pPr>
              </a:p>
            </p:txBody>
          </p:sp>
        </p:grpSp>
      </p:grpSp>
      <p:sp>
        <p:nvSpPr>
          <p:cNvPr name="Freeform 14" id="14"/>
          <p:cNvSpPr/>
          <p:nvPr/>
        </p:nvSpPr>
        <p:spPr>
          <a:xfrm flipH="false" flipV="false" rot="0">
            <a:off x="12412831" y="8026211"/>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11413653" y="-573693"/>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0">
            <a:off x="4195534" y="447447"/>
            <a:ext cx="11954346" cy="1451128"/>
          </a:xfrm>
          <a:prstGeom prst="rect">
            <a:avLst/>
          </a:prstGeom>
        </p:spPr>
        <p:txBody>
          <a:bodyPr anchor="t" rtlCol="false" tIns="0" lIns="0" bIns="0" rIns="0">
            <a:spAutoFit/>
          </a:bodyPr>
          <a:lstStyle/>
          <a:p>
            <a:pPr algn="ctr" marL="0" indent="0" lvl="0">
              <a:lnSpc>
                <a:spcPts val="11891"/>
              </a:lnSpc>
            </a:pPr>
            <a:r>
              <a:rPr lang="en-US" sz="8493">
                <a:solidFill>
                  <a:srgbClr val="000000"/>
                </a:solidFill>
                <a:latin typeface="Alatsi"/>
                <a:ea typeface="Alatsi"/>
                <a:cs typeface="Alatsi"/>
                <a:sym typeface="Alatsi"/>
              </a:rPr>
              <a:t>BESOINS FONCTIONNELS</a:t>
            </a:r>
          </a:p>
        </p:txBody>
      </p:sp>
      <p:sp>
        <p:nvSpPr>
          <p:cNvPr name="AutoShape 3" id="3"/>
          <p:cNvSpPr/>
          <p:nvPr/>
        </p:nvSpPr>
        <p:spPr>
          <a:xfrm>
            <a:off x="-260599" y="9061267"/>
            <a:ext cx="7105264" cy="19050"/>
          </a:xfrm>
          <a:prstGeom prst="line">
            <a:avLst/>
          </a:prstGeom>
          <a:ln cap="flat" w="114300">
            <a:solidFill>
              <a:srgbClr val="9FC3D0"/>
            </a:solidFill>
            <a:prstDash val="solid"/>
            <a:headEnd type="none" len="sm" w="sm"/>
            <a:tailEnd type="none" len="sm" w="sm"/>
          </a:ln>
        </p:spPr>
      </p:sp>
      <p:sp>
        <p:nvSpPr>
          <p:cNvPr name="AutoShape 4" id="4"/>
          <p:cNvSpPr/>
          <p:nvPr/>
        </p:nvSpPr>
        <p:spPr>
          <a:xfrm>
            <a:off x="11430169" y="9061267"/>
            <a:ext cx="7105264" cy="19050"/>
          </a:xfrm>
          <a:prstGeom prst="line">
            <a:avLst/>
          </a:prstGeom>
          <a:ln cap="flat" w="114300">
            <a:solidFill>
              <a:srgbClr val="9FC3D0"/>
            </a:solidFill>
            <a:prstDash val="solid"/>
            <a:headEnd type="none" len="sm" w="sm"/>
            <a:tailEnd type="none" len="sm" w="sm"/>
          </a:ln>
        </p:spPr>
      </p:sp>
      <p:grpSp>
        <p:nvGrpSpPr>
          <p:cNvPr name="Group 5" id="5"/>
          <p:cNvGrpSpPr/>
          <p:nvPr/>
        </p:nvGrpSpPr>
        <p:grpSpPr>
          <a:xfrm rot="0">
            <a:off x="15859155" y="0"/>
            <a:ext cx="1562612" cy="1673225"/>
            <a:chOff x="0" y="0"/>
            <a:chExt cx="2083482" cy="2230967"/>
          </a:xfrm>
        </p:grpSpPr>
        <p:grpSp>
          <p:nvGrpSpPr>
            <p:cNvPr name="Group 6" id="6"/>
            <p:cNvGrpSpPr/>
            <p:nvPr/>
          </p:nvGrpSpPr>
          <p:grpSpPr>
            <a:xfrm rot="0">
              <a:off x="75599" y="0"/>
              <a:ext cx="1932284" cy="2230967"/>
              <a:chOff x="0" y="0"/>
              <a:chExt cx="703982" cy="812800"/>
            </a:xfrm>
          </p:grpSpPr>
          <p:sp>
            <p:nvSpPr>
              <p:cNvPr name="Freeform 7" id="7"/>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8" id="8"/>
              <p:cNvSpPr txBox="true"/>
              <p:nvPr/>
            </p:nvSpPr>
            <p:spPr>
              <a:xfrm>
                <a:off x="0" y="-47625"/>
                <a:ext cx="703982" cy="733425"/>
              </a:xfrm>
              <a:prstGeom prst="rect">
                <a:avLst/>
              </a:prstGeom>
            </p:spPr>
            <p:txBody>
              <a:bodyPr anchor="ctr" rtlCol="false" tIns="50800" lIns="50800" bIns="50800" rIns="50800"/>
              <a:lstStyle/>
              <a:p>
                <a:pPr algn="ctr" marL="0" indent="0" lvl="0">
                  <a:lnSpc>
                    <a:spcPts val="2659"/>
                  </a:lnSpc>
                </a:pPr>
              </a:p>
            </p:txBody>
          </p:sp>
        </p:grpSp>
        <p:sp>
          <p:nvSpPr>
            <p:cNvPr name="TextBox 9" id="9"/>
            <p:cNvSpPr txBox="true"/>
            <p:nvPr/>
          </p:nvSpPr>
          <p:spPr>
            <a:xfrm rot="0">
              <a:off x="0" y="447107"/>
              <a:ext cx="2083482" cy="1232111"/>
            </a:xfrm>
            <a:prstGeom prst="rect">
              <a:avLst/>
            </a:prstGeom>
          </p:spPr>
          <p:txBody>
            <a:bodyPr anchor="t" rtlCol="false" tIns="0" lIns="0" bIns="0" rIns="0">
              <a:spAutoFit/>
            </a:bodyPr>
            <a:lstStyle/>
            <a:p>
              <a:pPr algn="ctr" marL="0" indent="0" lvl="0">
                <a:lnSpc>
                  <a:spcPts val="7799"/>
                </a:lnSpc>
              </a:pPr>
              <a:r>
                <a:rPr lang="en-US" b="true" sz="5571">
                  <a:solidFill>
                    <a:srgbClr val="000000"/>
                  </a:solidFill>
                  <a:latin typeface="Open Sans Bold"/>
                  <a:ea typeface="Open Sans Bold"/>
                  <a:cs typeface="Open Sans Bold"/>
                  <a:sym typeface="Open Sans Bold"/>
                </a:rPr>
                <a:t>11</a:t>
              </a:r>
            </a:p>
          </p:txBody>
        </p:sp>
      </p:grpSp>
      <p:sp>
        <p:nvSpPr>
          <p:cNvPr name="Freeform 10" id="10"/>
          <p:cNvSpPr/>
          <p:nvPr/>
        </p:nvSpPr>
        <p:spPr>
          <a:xfrm flipH="false" flipV="false" rot="0">
            <a:off x="-2845001" y="242322"/>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1609596" y="2254070"/>
            <a:ext cx="14540284" cy="6807198"/>
          </a:xfrm>
          <a:custGeom>
            <a:avLst/>
            <a:gdLst/>
            <a:ahLst/>
            <a:cxnLst/>
            <a:rect r="r" b="b" t="t" l="l"/>
            <a:pathLst>
              <a:path h="6807198" w="14540284">
                <a:moveTo>
                  <a:pt x="0" y="0"/>
                </a:moveTo>
                <a:lnTo>
                  <a:pt x="14540284" y="0"/>
                </a:lnTo>
                <a:lnTo>
                  <a:pt x="14540284" y="6807197"/>
                </a:lnTo>
                <a:lnTo>
                  <a:pt x="0" y="6807197"/>
                </a:lnTo>
                <a:lnTo>
                  <a:pt x="0" y="0"/>
                </a:lnTo>
                <a:close/>
              </a:path>
            </a:pathLst>
          </a:custGeom>
          <a:blipFill>
            <a:blip r:embed="rId4"/>
            <a:stretch>
              <a:fillRect l="-2162" t="0" r="-2162"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grpSp>
        <p:nvGrpSpPr>
          <p:cNvPr name="Group 2" id="2"/>
          <p:cNvGrpSpPr/>
          <p:nvPr/>
        </p:nvGrpSpPr>
        <p:grpSpPr>
          <a:xfrm rot="0">
            <a:off x="627362" y="0"/>
            <a:ext cx="937061" cy="10287000"/>
            <a:chOff x="0" y="0"/>
            <a:chExt cx="246798" cy="2709333"/>
          </a:xfrm>
        </p:grpSpPr>
        <p:sp>
          <p:nvSpPr>
            <p:cNvPr name="Freeform 3" id="3"/>
            <p:cNvSpPr/>
            <p:nvPr/>
          </p:nvSpPr>
          <p:spPr>
            <a:xfrm flipH="false" flipV="false" rot="0">
              <a:off x="0" y="0"/>
              <a:ext cx="246798" cy="2709333"/>
            </a:xfrm>
            <a:custGeom>
              <a:avLst/>
              <a:gdLst/>
              <a:ahLst/>
              <a:cxnLst/>
              <a:rect r="r" b="b" t="t" l="l"/>
              <a:pathLst>
                <a:path h="2709333" w="246798">
                  <a:moveTo>
                    <a:pt x="0" y="0"/>
                  </a:moveTo>
                  <a:lnTo>
                    <a:pt x="246798" y="0"/>
                  </a:lnTo>
                  <a:lnTo>
                    <a:pt x="246798" y="2709333"/>
                  </a:lnTo>
                  <a:lnTo>
                    <a:pt x="0" y="2709333"/>
                  </a:lnTo>
                  <a:close/>
                </a:path>
              </a:pathLst>
            </a:custGeom>
            <a:solidFill>
              <a:srgbClr val="F6F3EB"/>
            </a:solidFill>
          </p:spPr>
        </p:sp>
        <p:sp>
          <p:nvSpPr>
            <p:cNvPr name="TextBox 4" id="4"/>
            <p:cNvSpPr txBox="true"/>
            <p:nvPr/>
          </p:nvSpPr>
          <p:spPr>
            <a:xfrm>
              <a:off x="0" y="-38100"/>
              <a:ext cx="246798" cy="2747433"/>
            </a:xfrm>
            <a:prstGeom prst="rect">
              <a:avLst/>
            </a:prstGeom>
          </p:spPr>
          <p:txBody>
            <a:bodyPr anchor="ctr" rtlCol="false" tIns="50800" lIns="50800" bIns="50800" rIns="50800"/>
            <a:lstStyle/>
            <a:p>
              <a:pPr algn="ctr" marL="0" indent="0" lvl="0">
                <a:lnSpc>
                  <a:spcPts val="2659"/>
                </a:lnSpc>
              </a:pPr>
            </a:p>
          </p:txBody>
        </p:sp>
      </p:grpSp>
      <p:sp>
        <p:nvSpPr>
          <p:cNvPr name="AutoShape 5" id="5"/>
          <p:cNvSpPr/>
          <p:nvPr/>
        </p:nvSpPr>
        <p:spPr>
          <a:xfrm flipH="true" flipV="true">
            <a:off x="1085850" y="7289441"/>
            <a:ext cx="5403" cy="2997456"/>
          </a:xfrm>
          <a:prstGeom prst="line">
            <a:avLst/>
          </a:prstGeom>
          <a:ln cap="flat" w="114300">
            <a:solidFill>
              <a:srgbClr val="9FC3D0"/>
            </a:solidFill>
            <a:prstDash val="solid"/>
            <a:headEnd type="none" len="sm" w="sm"/>
            <a:tailEnd type="none" len="sm" w="sm"/>
          </a:ln>
        </p:spPr>
      </p:sp>
      <p:sp>
        <p:nvSpPr>
          <p:cNvPr name="AutoShape 6" id="6"/>
          <p:cNvSpPr/>
          <p:nvPr/>
        </p:nvSpPr>
        <p:spPr>
          <a:xfrm flipH="true" flipV="true">
            <a:off x="1090490" y="-104525"/>
            <a:ext cx="5403" cy="2997456"/>
          </a:xfrm>
          <a:prstGeom prst="line">
            <a:avLst/>
          </a:prstGeom>
          <a:ln cap="flat" w="114300">
            <a:solidFill>
              <a:srgbClr val="9FC3D0"/>
            </a:solidFill>
            <a:prstDash val="solid"/>
            <a:headEnd type="none" len="sm" w="sm"/>
            <a:tailEnd type="none" len="sm" w="sm"/>
          </a:ln>
        </p:spPr>
      </p:sp>
      <p:grpSp>
        <p:nvGrpSpPr>
          <p:cNvPr name="Group 7" id="7"/>
          <p:cNvGrpSpPr/>
          <p:nvPr/>
        </p:nvGrpSpPr>
        <p:grpSpPr>
          <a:xfrm rot="0">
            <a:off x="15859155" y="0"/>
            <a:ext cx="1562612" cy="1673225"/>
            <a:chOff x="0" y="0"/>
            <a:chExt cx="2083482" cy="2230967"/>
          </a:xfrm>
        </p:grpSpPr>
        <p:grpSp>
          <p:nvGrpSpPr>
            <p:cNvPr name="Group 8" id="8"/>
            <p:cNvGrpSpPr/>
            <p:nvPr/>
          </p:nvGrpSpPr>
          <p:grpSpPr>
            <a:xfrm rot="0">
              <a:off x="75599" y="0"/>
              <a:ext cx="1932284" cy="2230967"/>
              <a:chOff x="0" y="0"/>
              <a:chExt cx="703982" cy="812800"/>
            </a:xfrm>
          </p:grpSpPr>
          <p:sp>
            <p:nvSpPr>
              <p:cNvPr name="Freeform 9" id="9"/>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10" id="10"/>
              <p:cNvSpPr txBox="true"/>
              <p:nvPr/>
            </p:nvSpPr>
            <p:spPr>
              <a:xfrm>
                <a:off x="0" y="-47625"/>
                <a:ext cx="703982" cy="733425"/>
              </a:xfrm>
              <a:prstGeom prst="rect">
                <a:avLst/>
              </a:prstGeom>
            </p:spPr>
            <p:txBody>
              <a:bodyPr anchor="ctr" rtlCol="false" tIns="50800" lIns="50800" bIns="50800" rIns="50800"/>
              <a:lstStyle/>
              <a:p>
                <a:pPr algn="ctr" marL="0" indent="0" lvl="0">
                  <a:lnSpc>
                    <a:spcPts val="2659"/>
                  </a:lnSpc>
                </a:pPr>
              </a:p>
            </p:txBody>
          </p:sp>
        </p:grpSp>
        <p:sp>
          <p:nvSpPr>
            <p:cNvPr name="TextBox 11" id="11"/>
            <p:cNvSpPr txBox="true"/>
            <p:nvPr/>
          </p:nvSpPr>
          <p:spPr>
            <a:xfrm rot="0">
              <a:off x="0" y="447107"/>
              <a:ext cx="2083482" cy="1192854"/>
            </a:xfrm>
            <a:prstGeom prst="rect">
              <a:avLst/>
            </a:prstGeom>
          </p:spPr>
          <p:txBody>
            <a:bodyPr anchor="t" rtlCol="false" tIns="0" lIns="0" bIns="0" rIns="0">
              <a:spAutoFit/>
            </a:bodyPr>
            <a:lstStyle/>
            <a:p>
              <a:pPr algn="ctr" marL="0" indent="0" lvl="0">
                <a:lnSpc>
                  <a:spcPts val="7513"/>
                </a:lnSpc>
              </a:pPr>
              <a:r>
                <a:rPr lang="en-US" b="true" sz="5366">
                  <a:solidFill>
                    <a:srgbClr val="000000"/>
                  </a:solidFill>
                  <a:latin typeface="Open Sans Bold"/>
                  <a:ea typeface="Open Sans Bold"/>
                  <a:cs typeface="Open Sans Bold"/>
                  <a:sym typeface="Open Sans Bold"/>
                </a:rPr>
                <a:t>12</a:t>
              </a:r>
            </a:p>
          </p:txBody>
        </p:sp>
      </p:grpSp>
      <p:sp>
        <p:nvSpPr>
          <p:cNvPr name="Freeform 12" id="12"/>
          <p:cNvSpPr/>
          <p:nvPr/>
        </p:nvSpPr>
        <p:spPr>
          <a:xfrm flipH="false" flipV="false" rot="0">
            <a:off x="1263762" y="-1458608"/>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291328" y="2492710"/>
            <a:ext cx="16446395" cy="7585900"/>
          </a:xfrm>
          <a:custGeom>
            <a:avLst/>
            <a:gdLst/>
            <a:ahLst/>
            <a:cxnLst/>
            <a:rect r="r" b="b" t="t" l="l"/>
            <a:pathLst>
              <a:path h="7585900" w="16446395">
                <a:moveTo>
                  <a:pt x="0" y="0"/>
                </a:moveTo>
                <a:lnTo>
                  <a:pt x="16446395" y="0"/>
                </a:lnTo>
                <a:lnTo>
                  <a:pt x="16446395" y="7585900"/>
                </a:lnTo>
                <a:lnTo>
                  <a:pt x="0" y="7585900"/>
                </a:lnTo>
                <a:lnTo>
                  <a:pt x="0" y="0"/>
                </a:lnTo>
                <a:close/>
              </a:path>
            </a:pathLst>
          </a:custGeom>
          <a:blipFill>
            <a:blip r:embed="rId4"/>
            <a:stretch>
              <a:fillRect l="0" t="0" r="0" b="0"/>
            </a:stretch>
          </a:blipFill>
        </p:spPr>
      </p:sp>
      <p:sp>
        <p:nvSpPr>
          <p:cNvPr name="TextBox 14" id="14"/>
          <p:cNvSpPr txBox="true"/>
          <p:nvPr/>
        </p:nvSpPr>
        <p:spPr>
          <a:xfrm rot="0">
            <a:off x="2553980" y="866775"/>
            <a:ext cx="13180039" cy="1401888"/>
          </a:xfrm>
          <a:prstGeom prst="rect">
            <a:avLst/>
          </a:prstGeom>
        </p:spPr>
        <p:txBody>
          <a:bodyPr anchor="t" rtlCol="false" tIns="0" lIns="0" bIns="0" rIns="0">
            <a:spAutoFit/>
          </a:bodyPr>
          <a:lstStyle/>
          <a:p>
            <a:pPr algn="ctr" marL="0" indent="0" lvl="0">
              <a:lnSpc>
                <a:spcPts val="11455"/>
              </a:lnSpc>
            </a:pPr>
            <a:r>
              <a:rPr lang="en-US" sz="8182">
                <a:solidFill>
                  <a:srgbClr val="000000"/>
                </a:solidFill>
                <a:latin typeface="Alatsi"/>
                <a:ea typeface="Alatsi"/>
                <a:cs typeface="Alatsi"/>
                <a:sym typeface="Alatsi"/>
              </a:rPr>
              <a:t>BESOINS NON FONCTIONNELS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0">
            <a:off x="4554977" y="3748035"/>
            <a:ext cx="11627497" cy="2506596"/>
          </a:xfrm>
          <a:prstGeom prst="rect">
            <a:avLst/>
          </a:prstGeom>
        </p:spPr>
        <p:txBody>
          <a:bodyPr anchor="t" rtlCol="false" tIns="0" lIns="0" bIns="0" rIns="0">
            <a:spAutoFit/>
          </a:bodyPr>
          <a:lstStyle/>
          <a:p>
            <a:pPr algn="ctr" marL="0" indent="0" lvl="0">
              <a:lnSpc>
                <a:spcPts val="20559"/>
              </a:lnSpc>
            </a:pPr>
            <a:r>
              <a:rPr lang="en-US" sz="14685">
                <a:solidFill>
                  <a:srgbClr val="000000"/>
                </a:solidFill>
                <a:latin typeface="Alatsi"/>
                <a:ea typeface="Alatsi"/>
                <a:cs typeface="Alatsi"/>
                <a:sym typeface="Alatsi"/>
              </a:rPr>
              <a:t>CONCEPTION</a:t>
            </a:r>
          </a:p>
        </p:txBody>
      </p:sp>
      <p:sp>
        <p:nvSpPr>
          <p:cNvPr name="TextBox 3" id="3"/>
          <p:cNvSpPr txBox="true"/>
          <p:nvPr/>
        </p:nvSpPr>
        <p:spPr>
          <a:xfrm rot="0">
            <a:off x="5033857" y="6762653"/>
            <a:ext cx="10669737" cy="679727"/>
          </a:xfrm>
          <a:prstGeom prst="rect">
            <a:avLst/>
          </a:prstGeom>
        </p:spPr>
        <p:txBody>
          <a:bodyPr anchor="t" rtlCol="false" tIns="0" lIns="0" bIns="0" rIns="0">
            <a:spAutoFit/>
          </a:bodyPr>
          <a:lstStyle/>
          <a:p>
            <a:pPr algn="ctr" marL="0" indent="0" lvl="0">
              <a:lnSpc>
                <a:spcPts val="5547"/>
              </a:lnSpc>
            </a:pPr>
            <a:r>
              <a:rPr lang="en-US" sz="3962">
                <a:solidFill>
                  <a:srgbClr val="000000"/>
                </a:solidFill>
                <a:latin typeface="Alatsi"/>
                <a:ea typeface="Alatsi"/>
                <a:cs typeface="Alatsi"/>
                <a:sym typeface="Alatsi"/>
              </a:rPr>
              <a:t>Architecture et Méthodologie de Développement</a:t>
            </a:r>
          </a:p>
        </p:txBody>
      </p:sp>
      <p:grpSp>
        <p:nvGrpSpPr>
          <p:cNvPr name="Group 4" id="4"/>
          <p:cNvGrpSpPr/>
          <p:nvPr/>
        </p:nvGrpSpPr>
        <p:grpSpPr>
          <a:xfrm rot="0">
            <a:off x="-31071" y="0"/>
            <a:ext cx="4239083" cy="10287000"/>
            <a:chOff x="0" y="0"/>
            <a:chExt cx="5652111" cy="13716000"/>
          </a:xfrm>
        </p:grpSpPr>
        <p:grpSp>
          <p:nvGrpSpPr>
            <p:cNvPr name="Group 5" id="5"/>
            <p:cNvGrpSpPr/>
            <p:nvPr/>
          </p:nvGrpSpPr>
          <p:grpSpPr>
            <a:xfrm rot="0">
              <a:off x="2826056" y="0"/>
              <a:ext cx="2826056" cy="13716000"/>
              <a:chOff x="0" y="0"/>
              <a:chExt cx="558233" cy="2709333"/>
            </a:xfrm>
          </p:grpSpPr>
          <p:sp>
            <p:nvSpPr>
              <p:cNvPr name="Freeform 6" id="6"/>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E9E0D9"/>
              </a:solidFill>
            </p:spPr>
          </p:sp>
          <p:sp>
            <p:nvSpPr>
              <p:cNvPr name="TextBox 7" id="7"/>
              <p:cNvSpPr txBox="true"/>
              <p:nvPr/>
            </p:nvSpPr>
            <p:spPr>
              <a:xfrm>
                <a:off x="0" y="-47625"/>
                <a:ext cx="558233" cy="2756958"/>
              </a:xfrm>
              <a:prstGeom prst="rect">
                <a:avLst/>
              </a:prstGeom>
            </p:spPr>
            <p:txBody>
              <a:bodyPr anchor="ctr" rtlCol="false" tIns="50800" lIns="50800" bIns="50800" rIns="50800"/>
              <a:lstStyle/>
              <a:p>
                <a:pPr algn="ctr" marL="0" indent="0" lvl="0">
                  <a:lnSpc>
                    <a:spcPts val="2659"/>
                  </a:lnSpc>
                </a:pPr>
              </a:p>
            </p:txBody>
          </p:sp>
        </p:grpSp>
        <p:grpSp>
          <p:nvGrpSpPr>
            <p:cNvPr name="Group 8" id="8"/>
            <p:cNvGrpSpPr/>
            <p:nvPr/>
          </p:nvGrpSpPr>
          <p:grpSpPr>
            <a:xfrm rot="0">
              <a:off x="1413028" y="0"/>
              <a:ext cx="2826056" cy="13716000"/>
              <a:chOff x="0" y="0"/>
              <a:chExt cx="558233" cy="2709333"/>
            </a:xfrm>
          </p:grpSpPr>
          <p:sp>
            <p:nvSpPr>
              <p:cNvPr name="Freeform 9" id="9"/>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9FC3D0"/>
              </a:solidFill>
            </p:spPr>
          </p:sp>
          <p:sp>
            <p:nvSpPr>
              <p:cNvPr name="TextBox 10" id="10"/>
              <p:cNvSpPr txBox="true"/>
              <p:nvPr/>
            </p:nvSpPr>
            <p:spPr>
              <a:xfrm>
                <a:off x="0" y="-47625"/>
                <a:ext cx="558233" cy="2756958"/>
              </a:xfrm>
              <a:prstGeom prst="rect">
                <a:avLst/>
              </a:prstGeom>
            </p:spPr>
            <p:txBody>
              <a:bodyPr anchor="ctr" rtlCol="false" tIns="50800" lIns="50800" bIns="50800" rIns="50800"/>
              <a:lstStyle/>
              <a:p>
                <a:pPr algn="ctr" marL="0" indent="0" lvl="0">
                  <a:lnSpc>
                    <a:spcPts val="2659"/>
                  </a:lnSpc>
                </a:pPr>
              </a:p>
            </p:txBody>
          </p:sp>
        </p:grpSp>
        <p:grpSp>
          <p:nvGrpSpPr>
            <p:cNvPr name="Group 11" id="11"/>
            <p:cNvGrpSpPr/>
            <p:nvPr/>
          </p:nvGrpSpPr>
          <p:grpSpPr>
            <a:xfrm rot="0">
              <a:off x="0" y="0"/>
              <a:ext cx="2826056" cy="13716000"/>
              <a:chOff x="0" y="0"/>
              <a:chExt cx="558233" cy="2709333"/>
            </a:xfrm>
          </p:grpSpPr>
          <p:sp>
            <p:nvSpPr>
              <p:cNvPr name="Freeform 12" id="12"/>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E9C7C6"/>
              </a:solidFill>
            </p:spPr>
          </p:sp>
          <p:sp>
            <p:nvSpPr>
              <p:cNvPr name="TextBox 13" id="13"/>
              <p:cNvSpPr txBox="true"/>
              <p:nvPr/>
            </p:nvSpPr>
            <p:spPr>
              <a:xfrm>
                <a:off x="0" y="-47625"/>
                <a:ext cx="558233" cy="2756958"/>
              </a:xfrm>
              <a:prstGeom prst="rect">
                <a:avLst/>
              </a:prstGeom>
            </p:spPr>
            <p:txBody>
              <a:bodyPr anchor="ctr" rtlCol="false" tIns="50800" lIns="50800" bIns="50800" rIns="50800"/>
              <a:lstStyle/>
              <a:p>
                <a:pPr algn="ctr" marL="0" indent="0" lvl="0">
                  <a:lnSpc>
                    <a:spcPts val="2659"/>
                  </a:lnSpc>
                </a:pPr>
              </a:p>
            </p:txBody>
          </p:sp>
        </p:grpSp>
      </p:grpSp>
      <p:sp>
        <p:nvSpPr>
          <p:cNvPr name="Freeform 14" id="14"/>
          <p:cNvSpPr/>
          <p:nvPr/>
        </p:nvSpPr>
        <p:spPr>
          <a:xfrm flipH="false" flipV="false" rot="0">
            <a:off x="12412831" y="8026211"/>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11413653" y="-573693"/>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0">
            <a:off x="4212451" y="281934"/>
            <a:ext cx="11986690" cy="1324876"/>
          </a:xfrm>
          <a:prstGeom prst="rect">
            <a:avLst/>
          </a:prstGeom>
        </p:spPr>
        <p:txBody>
          <a:bodyPr anchor="t" rtlCol="false" tIns="0" lIns="0" bIns="0" rIns="0">
            <a:spAutoFit/>
          </a:bodyPr>
          <a:lstStyle/>
          <a:p>
            <a:pPr algn="ctr" marL="0" indent="0" lvl="0">
              <a:lnSpc>
                <a:spcPts val="10814"/>
              </a:lnSpc>
            </a:pPr>
            <a:r>
              <a:rPr lang="en-US" sz="7724">
                <a:solidFill>
                  <a:srgbClr val="000000"/>
                </a:solidFill>
                <a:latin typeface="Alatsi"/>
                <a:ea typeface="Alatsi"/>
                <a:cs typeface="Alatsi"/>
                <a:sym typeface="Alatsi"/>
              </a:rPr>
              <a:t>TECHNOLOGIES UTILISÉES</a:t>
            </a:r>
          </a:p>
        </p:txBody>
      </p:sp>
      <p:sp>
        <p:nvSpPr>
          <p:cNvPr name="AutoShape 3" id="3"/>
          <p:cNvSpPr/>
          <p:nvPr/>
        </p:nvSpPr>
        <p:spPr>
          <a:xfrm>
            <a:off x="-260599" y="9061267"/>
            <a:ext cx="7105264" cy="19050"/>
          </a:xfrm>
          <a:prstGeom prst="line">
            <a:avLst/>
          </a:prstGeom>
          <a:ln cap="flat" w="114300">
            <a:solidFill>
              <a:srgbClr val="9FC3D0"/>
            </a:solidFill>
            <a:prstDash val="solid"/>
            <a:headEnd type="none" len="sm" w="sm"/>
            <a:tailEnd type="none" len="sm" w="sm"/>
          </a:ln>
        </p:spPr>
      </p:sp>
      <p:sp>
        <p:nvSpPr>
          <p:cNvPr name="AutoShape 4" id="4"/>
          <p:cNvSpPr/>
          <p:nvPr/>
        </p:nvSpPr>
        <p:spPr>
          <a:xfrm>
            <a:off x="11430169" y="9061267"/>
            <a:ext cx="7105264" cy="19050"/>
          </a:xfrm>
          <a:prstGeom prst="line">
            <a:avLst/>
          </a:prstGeom>
          <a:ln cap="flat" w="114300">
            <a:solidFill>
              <a:srgbClr val="9FC3D0"/>
            </a:solidFill>
            <a:prstDash val="solid"/>
            <a:headEnd type="none" len="sm" w="sm"/>
            <a:tailEnd type="none" len="sm" w="sm"/>
          </a:ln>
        </p:spPr>
      </p:sp>
      <p:grpSp>
        <p:nvGrpSpPr>
          <p:cNvPr name="Group 5" id="5"/>
          <p:cNvGrpSpPr/>
          <p:nvPr/>
        </p:nvGrpSpPr>
        <p:grpSpPr>
          <a:xfrm rot="0">
            <a:off x="15859155" y="0"/>
            <a:ext cx="1562612" cy="1673225"/>
            <a:chOff x="0" y="0"/>
            <a:chExt cx="2083482" cy="2230967"/>
          </a:xfrm>
        </p:grpSpPr>
        <p:grpSp>
          <p:nvGrpSpPr>
            <p:cNvPr name="Group 6" id="6"/>
            <p:cNvGrpSpPr/>
            <p:nvPr/>
          </p:nvGrpSpPr>
          <p:grpSpPr>
            <a:xfrm rot="0">
              <a:off x="75599" y="0"/>
              <a:ext cx="1932284" cy="2230967"/>
              <a:chOff x="0" y="0"/>
              <a:chExt cx="703982" cy="812800"/>
            </a:xfrm>
          </p:grpSpPr>
          <p:sp>
            <p:nvSpPr>
              <p:cNvPr name="Freeform 7" id="7"/>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8" id="8"/>
              <p:cNvSpPr txBox="true"/>
              <p:nvPr/>
            </p:nvSpPr>
            <p:spPr>
              <a:xfrm>
                <a:off x="0" y="-47625"/>
                <a:ext cx="703982" cy="733425"/>
              </a:xfrm>
              <a:prstGeom prst="rect">
                <a:avLst/>
              </a:prstGeom>
            </p:spPr>
            <p:txBody>
              <a:bodyPr anchor="ctr" rtlCol="false" tIns="50800" lIns="50800" bIns="50800" rIns="50800"/>
              <a:lstStyle/>
              <a:p>
                <a:pPr algn="ctr" marL="0" indent="0" lvl="0">
                  <a:lnSpc>
                    <a:spcPts val="2659"/>
                  </a:lnSpc>
                </a:pPr>
              </a:p>
            </p:txBody>
          </p:sp>
        </p:grpSp>
        <p:sp>
          <p:nvSpPr>
            <p:cNvPr name="TextBox 9" id="9"/>
            <p:cNvSpPr txBox="true"/>
            <p:nvPr/>
          </p:nvSpPr>
          <p:spPr>
            <a:xfrm rot="0">
              <a:off x="0" y="447107"/>
              <a:ext cx="2083482" cy="1232111"/>
            </a:xfrm>
            <a:prstGeom prst="rect">
              <a:avLst/>
            </a:prstGeom>
          </p:spPr>
          <p:txBody>
            <a:bodyPr anchor="t" rtlCol="false" tIns="0" lIns="0" bIns="0" rIns="0">
              <a:spAutoFit/>
            </a:bodyPr>
            <a:lstStyle/>
            <a:p>
              <a:pPr algn="ctr" marL="0" indent="0" lvl="0">
                <a:lnSpc>
                  <a:spcPts val="7799"/>
                </a:lnSpc>
              </a:pPr>
              <a:r>
                <a:rPr lang="en-US" b="true" sz="5571">
                  <a:solidFill>
                    <a:srgbClr val="000000"/>
                  </a:solidFill>
                  <a:latin typeface="Open Sans Bold"/>
                  <a:ea typeface="Open Sans Bold"/>
                  <a:cs typeface="Open Sans Bold"/>
                  <a:sym typeface="Open Sans Bold"/>
                </a:rPr>
                <a:t>13</a:t>
              </a:r>
            </a:p>
          </p:txBody>
        </p:sp>
      </p:grpSp>
      <p:sp>
        <p:nvSpPr>
          <p:cNvPr name="Freeform 10" id="10"/>
          <p:cNvSpPr/>
          <p:nvPr/>
        </p:nvSpPr>
        <p:spPr>
          <a:xfrm flipH="false" flipV="false" rot="0">
            <a:off x="-2845001" y="434334"/>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3074761" y="1926643"/>
            <a:ext cx="13853474" cy="6824058"/>
          </a:xfrm>
          <a:custGeom>
            <a:avLst/>
            <a:gdLst/>
            <a:ahLst/>
            <a:cxnLst/>
            <a:rect r="r" b="b" t="t" l="l"/>
            <a:pathLst>
              <a:path h="6824058" w="13853474">
                <a:moveTo>
                  <a:pt x="0" y="0"/>
                </a:moveTo>
                <a:lnTo>
                  <a:pt x="13853474" y="0"/>
                </a:lnTo>
                <a:lnTo>
                  <a:pt x="13853474" y="6824057"/>
                </a:lnTo>
                <a:lnTo>
                  <a:pt x="0" y="6824057"/>
                </a:lnTo>
                <a:lnTo>
                  <a:pt x="0" y="0"/>
                </a:lnTo>
                <a:close/>
              </a:path>
            </a:pathLst>
          </a:custGeom>
          <a:blipFill>
            <a:blip r:embed="rId4"/>
            <a:stretch>
              <a:fillRect l="-1991" t="-13122" r="0" b="-2567"/>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AutoShape 2" id="2"/>
          <p:cNvSpPr/>
          <p:nvPr/>
        </p:nvSpPr>
        <p:spPr>
          <a:xfrm>
            <a:off x="-260599" y="9061267"/>
            <a:ext cx="7105264" cy="19050"/>
          </a:xfrm>
          <a:prstGeom prst="line">
            <a:avLst/>
          </a:prstGeom>
          <a:ln cap="flat" w="114300">
            <a:solidFill>
              <a:srgbClr val="9FC3D0"/>
            </a:solidFill>
            <a:prstDash val="solid"/>
            <a:headEnd type="none" len="sm" w="sm"/>
            <a:tailEnd type="none" len="sm" w="sm"/>
          </a:ln>
        </p:spPr>
      </p:sp>
      <p:sp>
        <p:nvSpPr>
          <p:cNvPr name="AutoShape 3" id="3"/>
          <p:cNvSpPr/>
          <p:nvPr/>
        </p:nvSpPr>
        <p:spPr>
          <a:xfrm>
            <a:off x="11430169" y="9061267"/>
            <a:ext cx="7105264" cy="19050"/>
          </a:xfrm>
          <a:prstGeom prst="line">
            <a:avLst/>
          </a:prstGeom>
          <a:ln cap="flat" w="114300">
            <a:solidFill>
              <a:srgbClr val="9FC3D0"/>
            </a:solidFill>
            <a:prstDash val="solid"/>
            <a:headEnd type="none" len="sm" w="sm"/>
            <a:tailEnd type="none" len="sm" w="sm"/>
          </a:ln>
        </p:spPr>
      </p:sp>
      <p:sp>
        <p:nvSpPr>
          <p:cNvPr name="Freeform 4" id="4"/>
          <p:cNvSpPr/>
          <p:nvPr/>
        </p:nvSpPr>
        <p:spPr>
          <a:xfrm flipH="false" flipV="false" rot="0">
            <a:off x="12982861" y="5933231"/>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3549373" y="-123890"/>
            <a:ext cx="12709263" cy="1405079"/>
          </a:xfrm>
          <a:prstGeom prst="rect">
            <a:avLst/>
          </a:prstGeom>
        </p:spPr>
        <p:txBody>
          <a:bodyPr anchor="t" rtlCol="false" tIns="0" lIns="0" bIns="0" rIns="0">
            <a:spAutoFit/>
          </a:bodyPr>
          <a:lstStyle/>
          <a:p>
            <a:pPr algn="ctr" marL="0" indent="0" lvl="0">
              <a:lnSpc>
                <a:spcPts val="11466"/>
              </a:lnSpc>
            </a:pPr>
            <a:r>
              <a:rPr lang="en-US" sz="8190">
                <a:solidFill>
                  <a:srgbClr val="000000"/>
                </a:solidFill>
                <a:latin typeface="Alatsi"/>
                <a:ea typeface="Alatsi"/>
                <a:cs typeface="Alatsi"/>
                <a:sym typeface="Alatsi"/>
              </a:rPr>
              <a:t>ARCHITECTURE PHYSIQUE</a:t>
            </a:r>
          </a:p>
        </p:txBody>
      </p:sp>
      <p:grpSp>
        <p:nvGrpSpPr>
          <p:cNvPr name="Group 6" id="6"/>
          <p:cNvGrpSpPr/>
          <p:nvPr/>
        </p:nvGrpSpPr>
        <p:grpSpPr>
          <a:xfrm rot="0">
            <a:off x="15859155" y="0"/>
            <a:ext cx="1562612" cy="1673225"/>
            <a:chOff x="0" y="0"/>
            <a:chExt cx="2083482" cy="2230967"/>
          </a:xfrm>
        </p:grpSpPr>
        <p:grpSp>
          <p:nvGrpSpPr>
            <p:cNvPr name="Group 7" id="7"/>
            <p:cNvGrpSpPr/>
            <p:nvPr/>
          </p:nvGrpSpPr>
          <p:grpSpPr>
            <a:xfrm rot="0">
              <a:off x="75599" y="0"/>
              <a:ext cx="1932284" cy="2230967"/>
              <a:chOff x="0" y="0"/>
              <a:chExt cx="703982" cy="812800"/>
            </a:xfrm>
          </p:grpSpPr>
          <p:sp>
            <p:nvSpPr>
              <p:cNvPr name="Freeform 8" id="8"/>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9" id="9"/>
              <p:cNvSpPr txBox="true"/>
              <p:nvPr/>
            </p:nvSpPr>
            <p:spPr>
              <a:xfrm>
                <a:off x="0" y="-47625"/>
                <a:ext cx="703982" cy="733425"/>
              </a:xfrm>
              <a:prstGeom prst="rect">
                <a:avLst/>
              </a:prstGeom>
            </p:spPr>
            <p:txBody>
              <a:bodyPr anchor="ctr" rtlCol="false" tIns="50800" lIns="50800" bIns="50800" rIns="50800"/>
              <a:lstStyle/>
              <a:p>
                <a:pPr algn="ctr" marL="0" indent="0" lvl="0">
                  <a:lnSpc>
                    <a:spcPts val="2659"/>
                  </a:lnSpc>
                </a:pPr>
              </a:p>
            </p:txBody>
          </p:sp>
        </p:grpSp>
        <p:sp>
          <p:nvSpPr>
            <p:cNvPr name="TextBox 10" id="10"/>
            <p:cNvSpPr txBox="true"/>
            <p:nvPr/>
          </p:nvSpPr>
          <p:spPr>
            <a:xfrm rot="0">
              <a:off x="0" y="447107"/>
              <a:ext cx="2083482" cy="1232111"/>
            </a:xfrm>
            <a:prstGeom prst="rect">
              <a:avLst/>
            </a:prstGeom>
          </p:spPr>
          <p:txBody>
            <a:bodyPr anchor="t" rtlCol="false" tIns="0" lIns="0" bIns="0" rIns="0">
              <a:spAutoFit/>
            </a:bodyPr>
            <a:lstStyle/>
            <a:p>
              <a:pPr algn="ctr" marL="0" indent="0" lvl="0">
                <a:lnSpc>
                  <a:spcPts val="7799"/>
                </a:lnSpc>
              </a:pPr>
              <a:r>
                <a:rPr lang="en-US" b="true" sz="5571">
                  <a:solidFill>
                    <a:srgbClr val="000000"/>
                  </a:solidFill>
                  <a:latin typeface="Open Sans Bold"/>
                  <a:ea typeface="Open Sans Bold"/>
                  <a:cs typeface="Open Sans Bold"/>
                  <a:sym typeface="Open Sans Bold"/>
                </a:rPr>
                <a:t>14</a:t>
              </a:r>
            </a:p>
          </p:txBody>
        </p:sp>
      </p:grpSp>
      <p:sp>
        <p:nvSpPr>
          <p:cNvPr name="Freeform 11" id="11"/>
          <p:cNvSpPr/>
          <p:nvPr/>
        </p:nvSpPr>
        <p:spPr>
          <a:xfrm flipH="false" flipV="false" rot="0">
            <a:off x="-3482681" y="-210192"/>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2987500" y="1540685"/>
            <a:ext cx="12313000" cy="7205631"/>
          </a:xfrm>
          <a:custGeom>
            <a:avLst/>
            <a:gdLst/>
            <a:ahLst/>
            <a:cxnLst/>
            <a:rect r="r" b="b" t="t" l="l"/>
            <a:pathLst>
              <a:path h="7205631" w="12313000">
                <a:moveTo>
                  <a:pt x="0" y="0"/>
                </a:moveTo>
                <a:lnTo>
                  <a:pt x="12313000" y="0"/>
                </a:lnTo>
                <a:lnTo>
                  <a:pt x="12313000" y="7205630"/>
                </a:lnTo>
                <a:lnTo>
                  <a:pt x="0" y="7205630"/>
                </a:lnTo>
                <a:lnTo>
                  <a:pt x="0" y="0"/>
                </a:lnTo>
                <a:close/>
              </a:path>
            </a:pathLst>
          </a:custGeom>
          <a:blipFill>
            <a:blip r:embed="rId4"/>
            <a:stretch>
              <a:fillRect l="0" t="-13848"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AutoShape 2" id="2"/>
          <p:cNvSpPr/>
          <p:nvPr/>
        </p:nvSpPr>
        <p:spPr>
          <a:xfrm>
            <a:off x="-260599" y="9061267"/>
            <a:ext cx="7105264" cy="19050"/>
          </a:xfrm>
          <a:prstGeom prst="line">
            <a:avLst/>
          </a:prstGeom>
          <a:ln cap="flat" w="114300">
            <a:solidFill>
              <a:srgbClr val="9FC3D0"/>
            </a:solidFill>
            <a:prstDash val="solid"/>
            <a:headEnd type="none" len="sm" w="sm"/>
            <a:tailEnd type="none" len="sm" w="sm"/>
          </a:ln>
        </p:spPr>
      </p:sp>
      <p:sp>
        <p:nvSpPr>
          <p:cNvPr name="AutoShape 3" id="3"/>
          <p:cNvSpPr/>
          <p:nvPr/>
        </p:nvSpPr>
        <p:spPr>
          <a:xfrm>
            <a:off x="11430169" y="9061267"/>
            <a:ext cx="7105264" cy="19050"/>
          </a:xfrm>
          <a:prstGeom prst="line">
            <a:avLst/>
          </a:prstGeom>
          <a:ln cap="flat" w="114300">
            <a:solidFill>
              <a:srgbClr val="9FC3D0"/>
            </a:solidFill>
            <a:prstDash val="solid"/>
            <a:headEnd type="none" len="sm" w="sm"/>
            <a:tailEnd type="none" len="sm" w="sm"/>
          </a:ln>
        </p:spPr>
      </p:sp>
      <p:grpSp>
        <p:nvGrpSpPr>
          <p:cNvPr name="Group 4" id="4"/>
          <p:cNvGrpSpPr/>
          <p:nvPr/>
        </p:nvGrpSpPr>
        <p:grpSpPr>
          <a:xfrm rot="0">
            <a:off x="15859155" y="0"/>
            <a:ext cx="1562612" cy="1673225"/>
            <a:chOff x="0" y="0"/>
            <a:chExt cx="2083482" cy="2230967"/>
          </a:xfrm>
        </p:grpSpPr>
        <p:grpSp>
          <p:nvGrpSpPr>
            <p:cNvPr name="Group 5" id="5"/>
            <p:cNvGrpSpPr/>
            <p:nvPr/>
          </p:nvGrpSpPr>
          <p:grpSpPr>
            <a:xfrm rot="0">
              <a:off x="75599" y="0"/>
              <a:ext cx="1932284" cy="2230967"/>
              <a:chOff x="0" y="0"/>
              <a:chExt cx="703982" cy="812800"/>
            </a:xfrm>
          </p:grpSpPr>
          <p:sp>
            <p:nvSpPr>
              <p:cNvPr name="Freeform 6" id="6"/>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7" id="7"/>
              <p:cNvSpPr txBox="true"/>
              <p:nvPr/>
            </p:nvSpPr>
            <p:spPr>
              <a:xfrm>
                <a:off x="0" y="-47625"/>
                <a:ext cx="703982" cy="733425"/>
              </a:xfrm>
              <a:prstGeom prst="rect">
                <a:avLst/>
              </a:prstGeom>
            </p:spPr>
            <p:txBody>
              <a:bodyPr anchor="ctr" rtlCol="false" tIns="50800" lIns="50800" bIns="50800" rIns="50800"/>
              <a:lstStyle/>
              <a:p>
                <a:pPr algn="ctr" marL="0" indent="0" lvl="0">
                  <a:lnSpc>
                    <a:spcPts val="2659"/>
                  </a:lnSpc>
                </a:pPr>
              </a:p>
            </p:txBody>
          </p:sp>
        </p:grpSp>
        <p:sp>
          <p:nvSpPr>
            <p:cNvPr name="TextBox 8" id="8"/>
            <p:cNvSpPr txBox="true"/>
            <p:nvPr/>
          </p:nvSpPr>
          <p:spPr>
            <a:xfrm rot="0">
              <a:off x="0" y="447107"/>
              <a:ext cx="2083482" cy="1232111"/>
            </a:xfrm>
            <a:prstGeom prst="rect">
              <a:avLst/>
            </a:prstGeom>
          </p:spPr>
          <p:txBody>
            <a:bodyPr anchor="t" rtlCol="false" tIns="0" lIns="0" bIns="0" rIns="0">
              <a:spAutoFit/>
            </a:bodyPr>
            <a:lstStyle/>
            <a:p>
              <a:pPr algn="ctr" marL="0" indent="0" lvl="0">
                <a:lnSpc>
                  <a:spcPts val="7799"/>
                </a:lnSpc>
              </a:pPr>
              <a:r>
                <a:rPr lang="en-US" b="true" sz="5571">
                  <a:solidFill>
                    <a:srgbClr val="000000"/>
                  </a:solidFill>
                  <a:latin typeface="Open Sans Bold"/>
                  <a:ea typeface="Open Sans Bold"/>
                  <a:cs typeface="Open Sans Bold"/>
                  <a:sym typeface="Open Sans Bold"/>
                </a:rPr>
                <a:t>15</a:t>
              </a:r>
            </a:p>
          </p:txBody>
        </p:sp>
      </p:grpSp>
      <p:sp>
        <p:nvSpPr>
          <p:cNvPr name="TextBox 9" id="9"/>
          <p:cNvSpPr txBox="true"/>
          <p:nvPr/>
        </p:nvSpPr>
        <p:spPr>
          <a:xfrm rot="0">
            <a:off x="4592227" y="230913"/>
            <a:ext cx="12048234" cy="1330896"/>
          </a:xfrm>
          <a:prstGeom prst="rect">
            <a:avLst/>
          </a:prstGeom>
        </p:spPr>
        <p:txBody>
          <a:bodyPr anchor="t" rtlCol="false" tIns="0" lIns="0" bIns="0" rIns="0">
            <a:spAutoFit/>
          </a:bodyPr>
          <a:lstStyle/>
          <a:p>
            <a:pPr algn="ctr" marL="0" indent="0" lvl="0">
              <a:lnSpc>
                <a:spcPts val="10870"/>
              </a:lnSpc>
            </a:pPr>
            <a:r>
              <a:rPr lang="en-US" sz="7764">
                <a:solidFill>
                  <a:srgbClr val="000000"/>
                </a:solidFill>
                <a:latin typeface="Alatsi"/>
                <a:ea typeface="Alatsi"/>
                <a:cs typeface="Alatsi"/>
                <a:sym typeface="Alatsi"/>
              </a:rPr>
              <a:t>ARCHITECTURE LOGIQUE</a:t>
            </a:r>
          </a:p>
        </p:txBody>
      </p:sp>
      <p:sp>
        <p:nvSpPr>
          <p:cNvPr name="Freeform 10" id="10"/>
          <p:cNvSpPr/>
          <p:nvPr/>
        </p:nvSpPr>
        <p:spPr>
          <a:xfrm flipH="false" flipV="false" rot="0">
            <a:off x="14982801" y="6379649"/>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1648907" y="-402279"/>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4303223" y="1673225"/>
            <a:ext cx="11182251" cy="7129940"/>
          </a:xfrm>
          <a:custGeom>
            <a:avLst/>
            <a:gdLst/>
            <a:ahLst/>
            <a:cxnLst/>
            <a:rect r="r" b="b" t="t" l="l"/>
            <a:pathLst>
              <a:path h="7129940" w="11182251">
                <a:moveTo>
                  <a:pt x="0" y="0"/>
                </a:moveTo>
                <a:lnTo>
                  <a:pt x="11182251" y="0"/>
                </a:lnTo>
                <a:lnTo>
                  <a:pt x="11182251" y="7129940"/>
                </a:lnTo>
                <a:lnTo>
                  <a:pt x="0" y="7129940"/>
                </a:lnTo>
                <a:lnTo>
                  <a:pt x="0" y="0"/>
                </a:lnTo>
                <a:close/>
              </a:path>
            </a:pathLst>
          </a:custGeom>
          <a:blipFill>
            <a:blip r:embed="rId4"/>
            <a:stretch>
              <a:fillRect l="-1599" t="-6053" r="-302" b="-425"/>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AutoShape 2" id="2"/>
          <p:cNvSpPr/>
          <p:nvPr/>
        </p:nvSpPr>
        <p:spPr>
          <a:xfrm flipH="true" flipV="true">
            <a:off x="1085850" y="7289441"/>
            <a:ext cx="5403" cy="2997456"/>
          </a:xfrm>
          <a:prstGeom prst="line">
            <a:avLst/>
          </a:prstGeom>
          <a:ln cap="flat" w="114300">
            <a:solidFill>
              <a:srgbClr val="9FC3D0"/>
            </a:solidFill>
            <a:prstDash val="solid"/>
            <a:headEnd type="none" len="sm" w="sm"/>
            <a:tailEnd type="none" len="sm" w="sm"/>
          </a:ln>
        </p:spPr>
      </p:sp>
      <p:sp>
        <p:nvSpPr>
          <p:cNvPr name="AutoShape 3" id="3"/>
          <p:cNvSpPr/>
          <p:nvPr/>
        </p:nvSpPr>
        <p:spPr>
          <a:xfrm flipH="true" flipV="true">
            <a:off x="1090490" y="-104525"/>
            <a:ext cx="5403" cy="2997456"/>
          </a:xfrm>
          <a:prstGeom prst="line">
            <a:avLst/>
          </a:prstGeom>
          <a:ln cap="flat" w="114300">
            <a:solidFill>
              <a:srgbClr val="9FC3D0"/>
            </a:solidFill>
            <a:prstDash val="solid"/>
            <a:headEnd type="none" len="sm" w="sm"/>
            <a:tailEnd type="none" len="sm" w="sm"/>
          </a:ln>
        </p:spPr>
      </p:sp>
      <p:grpSp>
        <p:nvGrpSpPr>
          <p:cNvPr name="Group 4" id="4"/>
          <p:cNvGrpSpPr/>
          <p:nvPr/>
        </p:nvGrpSpPr>
        <p:grpSpPr>
          <a:xfrm rot="0">
            <a:off x="15859155" y="0"/>
            <a:ext cx="1562612" cy="1673225"/>
            <a:chOff x="0" y="0"/>
            <a:chExt cx="2083482" cy="2230967"/>
          </a:xfrm>
        </p:grpSpPr>
        <p:grpSp>
          <p:nvGrpSpPr>
            <p:cNvPr name="Group 5" id="5"/>
            <p:cNvGrpSpPr/>
            <p:nvPr/>
          </p:nvGrpSpPr>
          <p:grpSpPr>
            <a:xfrm rot="0">
              <a:off x="75599" y="0"/>
              <a:ext cx="1932284" cy="2230967"/>
              <a:chOff x="0" y="0"/>
              <a:chExt cx="703982" cy="812800"/>
            </a:xfrm>
          </p:grpSpPr>
          <p:sp>
            <p:nvSpPr>
              <p:cNvPr name="Freeform 6" id="6"/>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7" id="7"/>
              <p:cNvSpPr txBox="true"/>
              <p:nvPr/>
            </p:nvSpPr>
            <p:spPr>
              <a:xfrm>
                <a:off x="0" y="-47625"/>
                <a:ext cx="703982" cy="733425"/>
              </a:xfrm>
              <a:prstGeom prst="rect">
                <a:avLst/>
              </a:prstGeom>
            </p:spPr>
            <p:txBody>
              <a:bodyPr anchor="ctr" rtlCol="false" tIns="50800" lIns="50800" bIns="50800" rIns="50800"/>
              <a:lstStyle/>
              <a:p>
                <a:pPr algn="ctr" marL="0" indent="0" lvl="0">
                  <a:lnSpc>
                    <a:spcPts val="2659"/>
                  </a:lnSpc>
                </a:pPr>
              </a:p>
            </p:txBody>
          </p:sp>
        </p:grpSp>
        <p:sp>
          <p:nvSpPr>
            <p:cNvPr name="TextBox 8" id="8"/>
            <p:cNvSpPr txBox="true"/>
            <p:nvPr/>
          </p:nvSpPr>
          <p:spPr>
            <a:xfrm rot="0">
              <a:off x="0" y="447107"/>
              <a:ext cx="2083482" cy="1232111"/>
            </a:xfrm>
            <a:prstGeom prst="rect">
              <a:avLst/>
            </a:prstGeom>
          </p:spPr>
          <p:txBody>
            <a:bodyPr anchor="t" rtlCol="false" tIns="0" lIns="0" bIns="0" rIns="0">
              <a:spAutoFit/>
            </a:bodyPr>
            <a:lstStyle/>
            <a:p>
              <a:pPr algn="ctr" marL="0" indent="0" lvl="0">
                <a:lnSpc>
                  <a:spcPts val="7799"/>
                </a:lnSpc>
              </a:pPr>
              <a:r>
                <a:rPr lang="en-US" b="true" sz="5571">
                  <a:solidFill>
                    <a:srgbClr val="000000"/>
                  </a:solidFill>
                  <a:latin typeface="Open Sans Bold"/>
                  <a:ea typeface="Open Sans Bold"/>
                  <a:cs typeface="Open Sans Bold"/>
                  <a:sym typeface="Open Sans Bold"/>
                </a:rPr>
                <a:t>16</a:t>
              </a:r>
            </a:p>
          </p:txBody>
        </p:sp>
      </p:grpSp>
      <p:sp>
        <p:nvSpPr>
          <p:cNvPr name="Freeform 9" id="9"/>
          <p:cNvSpPr/>
          <p:nvPr/>
        </p:nvSpPr>
        <p:spPr>
          <a:xfrm flipH="false" flipV="false" rot="0">
            <a:off x="-1105593" y="-1343416"/>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713620" y="4476188"/>
            <a:ext cx="15708147" cy="5262229"/>
          </a:xfrm>
          <a:custGeom>
            <a:avLst/>
            <a:gdLst/>
            <a:ahLst/>
            <a:cxnLst/>
            <a:rect r="r" b="b" t="t" l="l"/>
            <a:pathLst>
              <a:path h="5262229" w="15708147">
                <a:moveTo>
                  <a:pt x="0" y="0"/>
                </a:moveTo>
                <a:lnTo>
                  <a:pt x="15708147" y="0"/>
                </a:lnTo>
                <a:lnTo>
                  <a:pt x="15708147" y="5262229"/>
                </a:lnTo>
                <a:lnTo>
                  <a:pt x="0" y="5262229"/>
                </a:lnTo>
                <a:lnTo>
                  <a:pt x="0" y="0"/>
                </a:lnTo>
                <a:close/>
              </a:path>
            </a:pathLst>
          </a:custGeom>
          <a:blipFill>
            <a:blip r:embed="rId4"/>
            <a:stretch>
              <a:fillRect l="0" t="0" r="0" b="0"/>
            </a:stretch>
          </a:blipFill>
        </p:spPr>
      </p:sp>
      <p:sp>
        <p:nvSpPr>
          <p:cNvPr name="TextBox 11" id="11"/>
          <p:cNvSpPr txBox="true"/>
          <p:nvPr/>
        </p:nvSpPr>
        <p:spPr>
          <a:xfrm rot="0">
            <a:off x="2376099" y="914400"/>
            <a:ext cx="13535803" cy="1975834"/>
          </a:xfrm>
          <a:prstGeom prst="rect">
            <a:avLst/>
          </a:prstGeom>
        </p:spPr>
        <p:txBody>
          <a:bodyPr anchor="t" rtlCol="false" tIns="0" lIns="0" bIns="0" rIns="0">
            <a:spAutoFit/>
          </a:bodyPr>
          <a:lstStyle/>
          <a:p>
            <a:pPr algn="ctr" marL="0" indent="0" lvl="0">
              <a:lnSpc>
                <a:spcPts val="7922"/>
              </a:lnSpc>
            </a:pPr>
            <a:r>
              <a:rPr lang="en-US" sz="5658">
                <a:solidFill>
                  <a:srgbClr val="000000"/>
                </a:solidFill>
                <a:latin typeface="Alatsi"/>
                <a:ea typeface="Alatsi"/>
                <a:cs typeface="Alatsi"/>
                <a:sym typeface="Alatsi"/>
              </a:rPr>
              <a:t>MÉTHADOLOGIE ADOPTÉ</a:t>
            </a:r>
            <a:r>
              <a:rPr lang="en-US" sz="5658">
                <a:solidFill>
                  <a:srgbClr val="000000"/>
                </a:solidFill>
                <a:latin typeface="Alatsi"/>
                <a:ea typeface="Alatsi"/>
                <a:cs typeface="Alatsi"/>
                <a:sym typeface="Alatsi"/>
              </a:rPr>
              <a:t>-AGILE SCRUM</a:t>
            </a:r>
          </a:p>
          <a:p>
            <a:pPr algn="ctr" marL="0" indent="0" lvl="0">
              <a:lnSpc>
                <a:spcPts val="7922"/>
              </a:lnSpc>
            </a:pPr>
          </a:p>
        </p:txBody>
      </p:sp>
      <p:sp>
        <p:nvSpPr>
          <p:cNvPr name="TextBox 12" id="12"/>
          <p:cNvSpPr txBox="true"/>
          <p:nvPr/>
        </p:nvSpPr>
        <p:spPr>
          <a:xfrm rot="0">
            <a:off x="1441085" y="1948588"/>
            <a:ext cx="3959066" cy="944343"/>
          </a:xfrm>
          <a:prstGeom prst="rect">
            <a:avLst/>
          </a:prstGeom>
        </p:spPr>
        <p:txBody>
          <a:bodyPr anchor="t" rtlCol="false" tIns="0" lIns="0" bIns="0" rIns="0">
            <a:spAutoFit/>
          </a:bodyPr>
          <a:lstStyle/>
          <a:p>
            <a:pPr algn="ctr">
              <a:lnSpc>
                <a:spcPts val="7799"/>
              </a:lnSpc>
              <a:spcBef>
                <a:spcPct val="0"/>
              </a:spcBef>
            </a:pPr>
            <a:r>
              <a:rPr lang="en-US" b="true" sz="5571">
                <a:solidFill>
                  <a:srgbClr val="000000"/>
                </a:solidFill>
                <a:latin typeface="Open Sans Bold"/>
                <a:ea typeface="Open Sans Bold"/>
                <a:cs typeface="Open Sans Bold"/>
                <a:sym typeface="Open Sans Bold"/>
              </a:rPr>
              <a:t>Pourquoi ?!</a:t>
            </a:r>
          </a:p>
        </p:txBody>
      </p:sp>
      <p:sp>
        <p:nvSpPr>
          <p:cNvPr name="TextBox 13" id="13"/>
          <p:cNvSpPr txBox="true"/>
          <p:nvPr/>
        </p:nvSpPr>
        <p:spPr>
          <a:xfrm rot="0">
            <a:off x="1204970" y="3216781"/>
            <a:ext cx="16725447" cy="878304"/>
          </a:xfrm>
          <a:prstGeom prst="rect">
            <a:avLst/>
          </a:prstGeom>
        </p:spPr>
        <p:txBody>
          <a:bodyPr anchor="t" rtlCol="false" tIns="0" lIns="0" bIns="0" rIns="0">
            <a:spAutoFit/>
          </a:bodyPr>
          <a:lstStyle/>
          <a:p>
            <a:pPr algn="l">
              <a:lnSpc>
                <a:spcPts val="3517"/>
              </a:lnSpc>
              <a:spcBef>
                <a:spcPct val="0"/>
              </a:spcBef>
            </a:pPr>
            <a:r>
              <a:rPr lang="en-US" b="true" sz="2512">
                <a:solidFill>
                  <a:srgbClr val="000000"/>
                </a:solidFill>
                <a:latin typeface="Open Sans Bold"/>
                <a:ea typeface="Open Sans Bold"/>
                <a:cs typeface="Open Sans Bold"/>
                <a:sym typeface="Open Sans Bold"/>
              </a:rPr>
              <a:t>L’Agilité a été choisie pour sa flexibilité, car les méthodes traditionnelles ne permettent pas de gérer efficacement la complexité et les évolutions fréquentes du projet.</a:t>
            </a:r>
          </a:p>
        </p:txBody>
      </p:sp>
      <p:sp>
        <p:nvSpPr>
          <p:cNvPr name="TextBox 14" id="14"/>
          <p:cNvSpPr txBox="true"/>
          <p:nvPr/>
        </p:nvSpPr>
        <p:spPr>
          <a:xfrm rot="0">
            <a:off x="9139238" y="923925"/>
            <a:ext cx="9525" cy="944343"/>
          </a:xfrm>
          <a:prstGeom prst="rect">
            <a:avLst/>
          </a:prstGeom>
        </p:spPr>
        <p:txBody>
          <a:bodyPr anchor="t" rtlCol="false" tIns="0" lIns="0" bIns="0" rIns="0">
            <a:spAutoFit/>
          </a:bodyPr>
          <a:lstStyle/>
          <a:p>
            <a:pPr algn="ctr">
              <a:lnSpc>
                <a:spcPts val="7799"/>
              </a:lnSpc>
              <a:spcBef>
                <a:spcPct val="0"/>
              </a:spcBef>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AutoShape 2" id="2"/>
          <p:cNvSpPr/>
          <p:nvPr/>
        </p:nvSpPr>
        <p:spPr>
          <a:xfrm flipH="true" flipV="true">
            <a:off x="1085850" y="7289441"/>
            <a:ext cx="5403" cy="2997456"/>
          </a:xfrm>
          <a:prstGeom prst="line">
            <a:avLst/>
          </a:prstGeom>
          <a:ln cap="flat" w="114300">
            <a:solidFill>
              <a:srgbClr val="9FC3D0"/>
            </a:solidFill>
            <a:prstDash val="solid"/>
            <a:headEnd type="none" len="sm" w="sm"/>
            <a:tailEnd type="none" len="sm" w="sm"/>
          </a:ln>
        </p:spPr>
      </p:sp>
      <p:sp>
        <p:nvSpPr>
          <p:cNvPr name="AutoShape 3" id="3"/>
          <p:cNvSpPr/>
          <p:nvPr/>
        </p:nvSpPr>
        <p:spPr>
          <a:xfrm flipH="true" flipV="true">
            <a:off x="1090490" y="-104525"/>
            <a:ext cx="5403" cy="2997456"/>
          </a:xfrm>
          <a:prstGeom prst="line">
            <a:avLst/>
          </a:prstGeom>
          <a:ln cap="flat" w="114300">
            <a:solidFill>
              <a:srgbClr val="9FC3D0"/>
            </a:solidFill>
            <a:prstDash val="solid"/>
            <a:headEnd type="none" len="sm" w="sm"/>
            <a:tailEnd type="none" len="sm" w="sm"/>
          </a:ln>
        </p:spPr>
      </p:sp>
      <p:grpSp>
        <p:nvGrpSpPr>
          <p:cNvPr name="Group 4" id="4"/>
          <p:cNvGrpSpPr/>
          <p:nvPr/>
        </p:nvGrpSpPr>
        <p:grpSpPr>
          <a:xfrm rot="0">
            <a:off x="15859155" y="0"/>
            <a:ext cx="1562612" cy="1673225"/>
            <a:chOff x="0" y="0"/>
            <a:chExt cx="2083482" cy="2230967"/>
          </a:xfrm>
        </p:grpSpPr>
        <p:grpSp>
          <p:nvGrpSpPr>
            <p:cNvPr name="Group 5" id="5"/>
            <p:cNvGrpSpPr/>
            <p:nvPr/>
          </p:nvGrpSpPr>
          <p:grpSpPr>
            <a:xfrm rot="0">
              <a:off x="75599" y="0"/>
              <a:ext cx="1932284" cy="2230967"/>
              <a:chOff x="0" y="0"/>
              <a:chExt cx="703982" cy="812800"/>
            </a:xfrm>
          </p:grpSpPr>
          <p:sp>
            <p:nvSpPr>
              <p:cNvPr name="Freeform 6" id="6"/>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7" id="7"/>
              <p:cNvSpPr txBox="true"/>
              <p:nvPr/>
            </p:nvSpPr>
            <p:spPr>
              <a:xfrm>
                <a:off x="0" y="-47625"/>
                <a:ext cx="703982" cy="733425"/>
              </a:xfrm>
              <a:prstGeom prst="rect">
                <a:avLst/>
              </a:prstGeom>
            </p:spPr>
            <p:txBody>
              <a:bodyPr anchor="ctr" rtlCol="false" tIns="50800" lIns="50800" bIns="50800" rIns="50800"/>
              <a:lstStyle/>
              <a:p>
                <a:pPr algn="ctr" marL="0" indent="0" lvl="0">
                  <a:lnSpc>
                    <a:spcPts val="2659"/>
                  </a:lnSpc>
                </a:pPr>
              </a:p>
            </p:txBody>
          </p:sp>
        </p:grpSp>
        <p:sp>
          <p:nvSpPr>
            <p:cNvPr name="TextBox 8" id="8"/>
            <p:cNvSpPr txBox="true"/>
            <p:nvPr/>
          </p:nvSpPr>
          <p:spPr>
            <a:xfrm rot="0">
              <a:off x="0" y="447107"/>
              <a:ext cx="2083482" cy="1232111"/>
            </a:xfrm>
            <a:prstGeom prst="rect">
              <a:avLst/>
            </a:prstGeom>
          </p:spPr>
          <p:txBody>
            <a:bodyPr anchor="t" rtlCol="false" tIns="0" lIns="0" bIns="0" rIns="0">
              <a:spAutoFit/>
            </a:bodyPr>
            <a:lstStyle/>
            <a:p>
              <a:pPr algn="ctr" marL="0" indent="0" lvl="0">
                <a:lnSpc>
                  <a:spcPts val="7799"/>
                </a:lnSpc>
              </a:pPr>
              <a:r>
                <a:rPr lang="en-US" b="true" sz="5571">
                  <a:solidFill>
                    <a:srgbClr val="000000"/>
                  </a:solidFill>
                  <a:latin typeface="Open Sans Bold"/>
                  <a:ea typeface="Open Sans Bold"/>
                  <a:cs typeface="Open Sans Bold"/>
                  <a:sym typeface="Open Sans Bold"/>
                </a:rPr>
                <a:t>17</a:t>
              </a:r>
            </a:p>
          </p:txBody>
        </p:sp>
      </p:grpSp>
      <p:sp>
        <p:nvSpPr>
          <p:cNvPr name="Freeform 9" id="9"/>
          <p:cNvSpPr/>
          <p:nvPr/>
        </p:nvSpPr>
        <p:spPr>
          <a:xfrm flipH="false" flipV="false" rot="0">
            <a:off x="-1105593" y="-1343416"/>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3470307" y="2107058"/>
            <a:ext cx="14192535" cy="7238193"/>
          </a:xfrm>
          <a:custGeom>
            <a:avLst/>
            <a:gdLst/>
            <a:ahLst/>
            <a:cxnLst/>
            <a:rect r="r" b="b" t="t" l="l"/>
            <a:pathLst>
              <a:path h="7238193" w="14192535">
                <a:moveTo>
                  <a:pt x="0" y="0"/>
                </a:moveTo>
                <a:lnTo>
                  <a:pt x="14192535" y="0"/>
                </a:lnTo>
                <a:lnTo>
                  <a:pt x="14192535" y="7238193"/>
                </a:lnTo>
                <a:lnTo>
                  <a:pt x="0" y="7238193"/>
                </a:lnTo>
                <a:lnTo>
                  <a:pt x="0" y="0"/>
                </a:lnTo>
                <a:close/>
              </a:path>
            </a:pathLst>
          </a:custGeom>
          <a:blipFill>
            <a:blip r:embed="rId4"/>
            <a:stretch>
              <a:fillRect l="0" t="0" r="0" b="0"/>
            </a:stretch>
          </a:blipFill>
        </p:spPr>
      </p:sp>
      <p:sp>
        <p:nvSpPr>
          <p:cNvPr name="TextBox 11" id="11"/>
          <p:cNvSpPr txBox="true"/>
          <p:nvPr/>
        </p:nvSpPr>
        <p:spPr>
          <a:xfrm rot="0">
            <a:off x="1321255" y="1231095"/>
            <a:ext cx="3937119" cy="703036"/>
          </a:xfrm>
          <a:prstGeom prst="rect">
            <a:avLst/>
          </a:prstGeom>
        </p:spPr>
        <p:txBody>
          <a:bodyPr anchor="t" rtlCol="false" tIns="0" lIns="0" bIns="0" rIns="0">
            <a:spAutoFit/>
          </a:bodyPr>
          <a:lstStyle/>
          <a:p>
            <a:pPr algn="ctr">
              <a:lnSpc>
                <a:spcPts val="5823"/>
              </a:lnSpc>
              <a:spcBef>
                <a:spcPct val="0"/>
              </a:spcBef>
            </a:pPr>
            <a:r>
              <a:rPr lang="en-US" b="true" sz="4159">
                <a:solidFill>
                  <a:srgbClr val="000000"/>
                </a:solidFill>
                <a:latin typeface="Open Sans Bold"/>
                <a:ea typeface="Open Sans Bold"/>
                <a:cs typeface="Open Sans Bold"/>
                <a:sym typeface="Open Sans Bold"/>
              </a:rPr>
              <a:t>Sprint Backlog </a:t>
            </a:r>
          </a:p>
        </p:txBody>
      </p:sp>
      <p:sp>
        <p:nvSpPr>
          <p:cNvPr name="Freeform 12" id="12"/>
          <p:cNvSpPr/>
          <p:nvPr/>
        </p:nvSpPr>
        <p:spPr>
          <a:xfrm flipH="false" flipV="false" rot="0">
            <a:off x="122701" y="3838427"/>
            <a:ext cx="3347606" cy="2643833"/>
          </a:xfrm>
          <a:custGeom>
            <a:avLst/>
            <a:gdLst/>
            <a:ahLst/>
            <a:cxnLst/>
            <a:rect r="r" b="b" t="t" l="l"/>
            <a:pathLst>
              <a:path h="2643833" w="3347606">
                <a:moveTo>
                  <a:pt x="0" y="0"/>
                </a:moveTo>
                <a:lnTo>
                  <a:pt x="3347606" y="0"/>
                </a:lnTo>
                <a:lnTo>
                  <a:pt x="3347606" y="2643833"/>
                </a:lnTo>
                <a:lnTo>
                  <a:pt x="0" y="2643833"/>
                </a:lnTo>
                <a:lnTo>
                  <a:pt x="0" y="0"/>
                </a:lnTo>
                <a:close/>
              </a:path>
            </a:pathLst>
          </a:custGeom>
          <a:blipFill>
            <a:blip r:embed="rId5"/>
            <a:stretch>
              <a:fillRect l="-3123" t="0" r="-6171"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grpSp>
        <p:nvGrpSpPr>
          <p:cNvPr name="Group 2" id="2"/>
          <p:cNvGrpSpPr/>
          <p:nvPr/>
        </p:nvGrpSpPr>
        <p:grpSpPr>
          <a:xfrm rot="0">
            <a:off x="627362" y="0"/>
            <a:ext cx="937061" cy="10287000"/>
            <a:chOff x="0" y="0"/>
            <a:chExt cx="246798" cy="2709333"/>
          </a:xfrm>
        </p:grpSpPr>
        <p:sp>
          <p:nvSpPr>
            <p:cNvPr name="Freeform 3" id="3"/>
            <p:cNvSpPr/>
            <p:nvPr/>
          </p:nvSpPr>
          <p:spPr>
            <a:xfrm flipH="false" flipV="false" rot="0">
              <a:off x="0" y="0"/>
              <a:ext cx="246798" cy="2709333"/>
            </a:xfrm>
            <a:custGeom>
              <a:avLst/>
              <a:gdLst/>
              <a:ahLst/>
              <a:cxnLst/>
              <a:rect r="r" b="b" t="t" l="l"/>
              <a:pathLst>
                <a:path h="2709333" w="246798">
                  <a:moveTo>
                    <a:pt x="0" y="0"/>
                  </a:moveTo>
                  <a:lnTo>
                    <a:pt x="246798" y="0"/>
                  </a:lnTo>
                  <a:lnTo>
                    <a:pt x="246798" y="2709333"/>
                  </a:lnTo>
                  <a:lnTo>
                    <a:pt x="0" y="2709333"/>
                  </a:lnTo>
                  <a:close/>
                </a:path>
              </a:pathLst>
            </a:custGeom>
            <a:solidFill>
              <a:srgbClr val="F6F3EB"/>
            </a:solidFill>
          </p:spPr>
        </p:sp>
        <p:sp>
          <p:nvSpPr>
            <p:cNvPr name="TextBox 4" id="4"/>
            <p:cNvSpPr txBox="true"/>
            <p:nvPr/>
          </p:nvSpPr>
          <p:spPr>
            <a:xfrm>
              <a:off x="0" y="-38100"/>
              <a:ext cx="246798" cy="2747433"/>
            </a:xfrm>
            <a:prstGeom prst="rect">
              <a:avLst/>
            </a:prstGeom>
          </p:spPr>
          <p:txBody>
            <a:bodyPr anchor="ctr" rtlCol="false" tIns="50800" lIns="50800" bIns="50800" rIns="50800"/>
            <a:lstStyle/>
            <a:p>
              <a:pPr algn="ctr" marL="0" indent="0" lvl="0">
                <a:lnSpc>
                  <a:spcPts val="2659"/>
                </a:lnSpc>
              </a:pPr>
            </a:p>
          </p:txBody>
        </p:sp>
      </p:grpSp>
      <p:sp>
        <p:nvSpPr>
          <p:cNvPr name="AutoShape 5" id="5"/>
          <p:cNvSpPr/>
          <p:nvPr/>
        </p:nvSpPr>
        <p:spPr>
          <a:xfrm flipH="true" flipV="true">
            <a:off x="1085850" y="7289441"/>
            <a:ext cx="5403" cy="2997456"/>
          </a:xfrm>
          <a:prstGeom prst="line">
            <a:avLst/>
          </a:prstGeom>
          <a:ln cap="flat" w="114300">
            <a:solidFill>
              <a:srgbClr val="9FC3D0"/>
            </a:solidFill>
            <a:prstDash val="solid"/>
            <a:headEnd type="none" len="sm" w="sm"/>
            <a:tailEnd type="none" len="sm" w="sm"/>
          </a:ln>
        </p:spPr>
      </p:sp>
      <p:sp>
        <p:nvSpPr>
          <p:cNvPr name="AutoShape 6" id="6"/>
          <p:cNvSpPr/>
          <p:nvPr/>
        </p:nvSpPr>
        <p:spPr>
          <a:xfrm flipH="true" flipV="true">
            <a:off x="1090490" y="-104525"/>
            <a:ext cx="5403" cy="2997456"/>
          </a:xfrm>
          <a:prstGeom prst="line">
            <a:avLst/>
          </a:prstGeom>
          <a:ln cap="flat" w="114300">
            <a:solidFill>
              <a:srgbClr val="9FC3D0"/>
            </a:solidFill>
            <a:prstDash val="solid"/>
            <a:headEnd type="none" len="sm" w="sm"/>
            <a:tailEnd type="none" len="sm" w="sm"/>
          </a:ln>
        </p:spPr>
      </p:sp>
      <p:grpSp>
        <p:nvGrpSpPr>
          <p:cNvPr name="Group 7" id="7"/>
          <p:cNvGrpSpPr/>
          <p:nvPr/>
        </p:nvGrpSpPr>
        <p:grpSpPr>
          <a:xfrm rot="0">
            <a:off x="15859155" y="0"/>
            <a:ext cx="1562612" cy="1673225"/>
            <a:chOff x="0" y="0"/>
            <a:chExt cx="2083482" cy="2230967"/>
          </a:xfrm>
        </p:grpSpPr>
        <p:grpSp>
          <p:nvGrpSpPr>
            <p:cNvPr name="Group 8" id="8"/>
            <p:cNvGrpSpPr/>
            <p:nvPr/>
          </p:nvGrpSpPr>
          <p:grpSpPr>
            <a:xfrm rot="0">
              <a:off x="75599" y="0"/>
              <a:ext cx="1932284" cy="2230967"/>
              <a:chOff x="0" y="0"/>
              <a:chExt cx="703982" cy="812800"/>
            </a:xfrm>
          </p:grpSpPr>
          <p:sp>
            <p:nvSpPr>
              <p:cNvPr name="Freeform 9" id="9"/>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10" id="10"/>
              <p:cNvSpPr txBox="true"/>
              <p:nvPr/>
            </p:nvSpPr>
            <p:spPr>
              <a:xfrm>
                <a:off x="0" y="-47625"/>
                <a:ext cx="703982" cy="733425"/>
              </a:xfrm>
              <a:prstGeom prst="rect">
                <a:avLst/>
              </a:prstGeom>
            </p:spPr>
            <p:txBody>
              <a:bodyPr anchor="ctr" rtlCol="false" tIns="50800" lIns="50800" bIns="50800" rIns="50800"/>
              <a:lstStyle/>
              <a:p>
                <a:pPr algn="ctr" marL="0" indent="0" lvl="0">
                  <a:lnSpc>
                    <a:spcPts val="2659"/>
                  </a:lnSpc>
                </a:pPr>
              </a:p>
            </p:txBody>
          </p:sp>
        </p:grpSp>
        <p:sp>
          <p:nvSpPr>
            <p:cNvPr name="TextBox 11" id="11"/>
            <p:cNvSpPr txBox="true"/>
            <p:nvPr/>
          </p:nvSpPr>
          <p:spPr>
            <a:xfrm rot="0">
              <a:off x="0" y="447107"/>
              <a:ext cx="2083482" cy="1232111"/>
            </a:xfrm>
            <a:prstGeom prst="rect">
              <a:avLst/>
            </a:prstGeom>
          </p:spPr>
          <p:txBody>
            <a:bodyPr anchor="t" rtlCol="false" tIns="0" lIns="0" bIns="0" rIns="0">
              <a:spAutoFit/>
            </a:bodyPr>
            <a:lstStyle/>
            <a:p>
              <a:pPr algn="ctr" marL="0" indent="0" lvl="0">
                <a:lnSpc>
                  <a:spcPts val="7799"/>
                </a:lnSpc>
              </a:pPr>
              <a:r>
                <a:rPr lang="en-US" b="true" sz="5571">
                  <a:solidFill>
                    <a:srgbClr val="000000"/>
                  </a:solidFill>
                  <a:latin typeface="Open Sans Bold"/>
                  <a:ea typeface="Open Sans Bold"/>
                  <a:cs typeface="Open Sans Bold"/>
                  <a:sym typeface="Open Sans Bold"/>
                </a:rPr>
                <a:t>18</a:t>
              </a:r>
            </a:p>
          </p:txBody>
        </p:sp>
      </p:grpSp>
      <p:sp>
        <p:nvSpPr>
          <p:cNvPr name="Freeform 12" id="12"/>
          <p:cNvSpPr/>
          <p:nvPr/>
        </p:nvSpPr>
        <p:spPr>
          <a:xfrm flipH="false" flipV="false" rot="0">
            <a:off x="1263762" y="-1458608"/>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1804788" y="9258300"/>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7642648" y="611374"/>
            <a:ext cx="6518884" cy="9675523"/>
          </a:xfrm>
          <a:custGeom>
            <a:avLst/>
            <a:gdLst/>
            <a:ahLst/>
            <a:cxnLst/>
            <a:rect r="r" b="b" t="t" l="l"/>
            <a:pathLst>
              <a:path h="9675523" w="6518884">
                <a:moveTo>
                  <a:pt x="0" y="0"/>
                </a:moveTo>
                <a:lnTo>
                  <a:pt x="6518883" y="0"/>
                </a:lnTo>
                <a:lnTo>
                  <a:pt x="6518883" y="9675523"/>
                </a:lnTo>
                <a:lnTo>
                  <a:pt x="0" y="96755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5" id="15"/>
          <p:cNvSpPr txBox="true"/>
          <p:nvPr/>
        </p:nvSpPr>
        <p:spPr>
          <a:xfrm rot="0">
            <a:off x="7534874" y="109687"/>
            <a:ext cx="8324281" cy="919013"/>
          </a:xfrm>
          <a:prstGeom prst="rect">
            <a:avLst/>
          </a:prstGeom>
        </p:spPr>
        <p:txBody>
          <a:bodyPr anchor="t" rtlCol="false" tIns="0" lIns="0" bIns="0" rIns="0">
            <a:spAutoFit/>
          </a:bodyPr>
          <a:lstStyle/>
          <a:p>
            <a:pPr algn="ctr" marL="0" indent="0" lvl="0">
              <a:lnSpc>
                <a:spcPts val="7510"/>
              </a:lnSpc>
            </a:pPr>
            <a:r>
              <a:rPr lang="en-US" sz="5364">
                <a:solidFill>
                  <a:srgbClr val="000000"/>
                </a:solidFill>
                <a:latin typeface="Alatsi"/>
                <a:ea typeface="Alatsi"/>
                <a:cs typeface="Alatsi"/>
                <a:sym typeface="Alatsi"/>
              </a:rPr>
              <a:t>DIAGRAMMES UML</a:t>
            </a:r>
          </a:p>
        </p:txBody>
      </p:sp>
      <p:sp>
        <p:nvSpPr>
          <p:cNvPr name="TextBox 16" id="16"/>
          <p:cNvSpPr txBox="true"/>
          <p:nvPr/>
        </p:nvSpPr>
        <p:spPr>
          <a:xfrm rot="0">
            <a:off x="727736" y="3808664"/>
            <a:ext cx="5517164" cy="1862605"/>
          </a:xfrm>
          <a:prstGeom prst="rect">
            <a:avLst/>
          </a:prstGeom>
        </p:spPr>
        <p:txBody>
          <a:bodyPr anchor="t" rtlCol="false" tIns="0" lIns="0" bIns="0" rIns="0">
            <a:spAutoFit/>
          </a:bodyPr>
          <a:lstStyle/>
          <a:p>
            <a:pPr algn="ctr">
              <a:lnSpc>
                <a:spcPts val="7414"/>
              </a:lnSpc>
              <a:spcBef>
                <a:spcPct val="0"/>
              </a:spcBef>
            </a:pPr>
            <a:r>
              <a:rPr lang="en-US" sz="5296">
                <a:solidFill>
                  <a:srgbClr val="000000"/>
                </a:solidFill>
                <a:latin typeface="Alatsi"/>
                <a:ea typeface="Alatsi"/>
                <a:cs typeface="Alatsi"/>
                <a:sym typeface="Alatsi"/>
              </a:rPr>
              <a:t>Diagramme cas</a:t>
            </a:r>
          </a:p>
          <a:p>
            <a:pPr algn="ctr">
              <a:lnSpc>
                <a:spcPts val="7414"/>
              </a:lnSpc>
              <a:spcBef>
                <a:spcPct val="0"/>
              </a:spcBef>
            </a:pPr>
            <a:r>
              <a:rPr lang="en-US" sz="5296">
                <a:solidFill>
                  <a:srgbClr val="000000"/>
                </a:solidFill>
                <a:latin typeface="Alatsi"/>
                <a:ea typeface="Alatsi"/>
                <a:cs typeface="Alatsi"/>
                <a:sym typeface="Alatsi"/>
              </a:rPr>
              <a:t>d'utilisation global</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grpSp>
        <p:nvGrpSpPr>
          <p:cNvPr name="Group 2" id="2"/>
          <p:cNvGrpSpPr/>
          <p:nvPr/>
        </p:nvGrpSpPr>
        <p:grpSpPr>
          <a:xfrm rot="0">
            <a:off x="627362" y="0"/>
            <a:ext cx="937061" cy="10287000"/>
            <a:chOff x="0" y="0"/>
            <a:chExt cx="246798" cy="2709333"/>
          </a:xfrm>
        </p:grpSpPr>
        <p:sp>
          <p:nvSpPr>
            <p:cNvPr name="Freeform 3" id="3"/>
            <p:cNvSpPr/>
            <p:nvPr/>
          </p:nvSpPr>
          <p:spPr>
            <a:xfrm flipH="false" flipV="false" rot="0">
              <a:off x="0" y="0"/>
              <a:ext cx="246798" cy="2709333"/>
            </a:xfrm>
            <a:custGeom>
              <a:avLst/>
              <a:gdLst/>
              <a:ahLst/>
              <a:cxnLst/>
              <a:rect r="r" b="b" t="t" l="l"/>
              <a:pathLst>
                <a:path h="2709333" w="246798">
                  <a:moveTo>
                    <a:pt x="0" y="0"/>
                  </a:moveTo>
                  <a:lnTo>
                    <a:pt x="246798" y="0"/>
                  </a:lnTo>
                  <a:lnTo>
                    <a:pt x="246798" y="2709333"/>
                  </a:lnTo>
                  <a:lnTo>
                    <a:pt x="0" y="2709333"/>
                  </a:lnTo>
                  <a:close/>
                </a:path>
              </a:pathLst>
            </a:custGeom>
            <a:solidFill>
              <a:srgbClr val="F6F3EB"/>
            </a:solidFill>
          </p:spPr>
        </p:sp>
        <p:sp>
          <p:nvSpPr>
            <p:cNvPr name="TextBox 4" id="4"/>
            <p:cNvSpPr txBox="true"/>
            <p:nvPr/>
          </p:nvSpPr>
          <p:spPr>
            <a:xfrm>
              <a:off x="0" y="-38100"/>
              <a:ext cx="246798" cy="2747433"/>
            </a:xfrm>
            <a:prstGeom prst="rect">
              <a:avLst/>
            </a:prstGeom>
          </p:spPr>
          <p:txBody>
            <a:bodyPr anchor="ctr" rtlCol="false" tIns="50800" lIns="50800" bIns="50800" rIns="50800"/>
            <a:lstStyle/>
            <a:p>
              <a:pPr algn="ctr" marL="0" indent="0" lvl="0">
                <a:lnSpc>
                  <a:spcPts val="2659"/>
                </a:lnSpc>
              </a:pPr>
            </a:p>
          </p:txBody>
        </p:sp>
      </p:grpSp>
      <p:sp>
        <p:nvSpPr>
          <p:cNvPr name="AutoShape 5" id="5"/>
          <p:cNvSpPr/>
          <p:nvPr/>
        </p:nvSpPr>
        <p:spPr>
          <a:xfrm flipH="true" flipV="true">
            <a:off x="1085850" y="7289441"/>
            <a:ext cx="5403" cy="2997456"/>
          </a:xfrm>
          <a:prstGeom prst="line">
            <a:avLst/>
          </a:prstGeom>
          <a:ln cap="flat" w="114300">
            <a:solidFill>
              <a:srgbClr val="9FC3D0"/>
            </a:solidFill>
            <a:prstDash val="solid"/>
            <a:headEnd type="none" len="sm" w="sm"/>
            <a:tailEnd type="none" len="sm" w="sm"/>
          </a:ln>
        </p:spPr>
      </p:sp>
      <p:sp>
        <p:nvSpPr>
          <p:cNvPr name="AutoShape 6" id="6"/>
          <p:cNvSpPr/>
          <p:nvPr/>
        </p:nvSpPr>
        <p:spPr>
          <a:xfrm flipH="true" flipV="true">
            <a:off x="1090490" y="-104525"/>
            <a:ext cx="5403" cy="2997456"/>
          </a:xfrm>
          <a:prstGeom prst="line">
            <a:avLst/>
          </a:prstGeom>
          <a:ln cap="flat" w="114300">
            <a:solidFill>
              <a:srgbClr val="9FC3D0"/>
            </a:solidFill>
            <a:prstDash val="solid"/>
            <a:headEnd type="none" len="sm" w="sm"/>
            <a:tailEnd type="none" len="sm" w="sm"/>
          </a:ln>
        </p:spPr>
      </p:sp>
      <p:grpSp>
        <p:nvGrpSpPr>
          <p:cNvPr name="Group 7" id="7"/>
          <p:cNvGrpSpPr/>
          <p:nvPr/>
        </p:nvGrpSpPr>
        <p:grpSpPr>
          <a:xfrm rot="0">
            <a:off x="15859155" y="0"/>
            <a:ext cx="1562612" cy="1673225"/>
            <a:chOff x="0" y="0"/>
            <a:chExt cx="2083482" cy="2230967"/>
          </a:xfrm>
        </p:grpSpPr>
        <p:grpSp>
          <p:nvGrpSpPr>
            <p:cNvPr name="Group 8" id="8"/>
            <p:cNvGrpSpPr/>
            <p:nvPr/>
          </p:nvGrpSpPr>
          <p:grpSpPr>
            <a:xfrm rot="0">
              <a:off x="75599" y="0"/>
              <a:ext cx="1932284" cy="2230967"/>
              <a:chOff x="0" y="0"/>
              <a:chExt cx="703982" cy="812800"/>
            </a:xfrm>
          </p:grpSpPr>
          <p:sp>
            <p:nvSpPr>
              <p:cNvPr name="Freeform 9" id="9"/>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10" id="10"/>
              <p:cNvSpPr txBox="true"/>
              <p:nvPr/>
            </p:nvSpPr>
            <p:spPr>
              <a:xfrm>
                <a:off x="0" y="-47625"/>
                <a:ext cx="703982" cy="733425"/>
              </a:xfrm>
              <a:prstGeom prst="rect">
                <a:avLst/>
              </a:prstGeom>
            </p:spPr>
            <p:txBody>
              <a:bodyPr anchor="ctr" rtlCol="false" tIns="50800" lIns="50800" bIns="50800" rIns="50800"/>
              <a:lstStyle/>
              <a:p>
                <a:pPr algn="ctr" marL="0" indent="0" lvl="0">
                  <a:lnSpc>
                    <a:spcPts val="2659"/>
                  </a:lnSpc>
                </a:pPr>
              </a:p>
            </p:txBody>
          </p:sp>
        </p:grpSp>
        <p:sp>
          <p:nvSpPr>
            <p:cNvPr name="TextBox 11" id="11"/>
            <p:cNvSpPr txBox="true"/>
            <p:nvPr/>
          </p:nvSpPr>
          <p:spPr>
            <a:xfrm rot="0">
              <a:off x="0" y="447107"/>
              <a:ext cx="2083482" cy="1232111"/>
            </a:xfrm>
            <a:prstGeom prst="rect">
              <a:avLst/>
            </a:prstGeom>
          </p:spPr>
          <p:txBody>
            <a:bodyPr anchor="t" rtlCol="false" tIns="0" lIns="0" bIns="0" rIns="0">
              <a:spAutoFit/>
            </a:bodyPr>
            <a:lstStyle/>
            <a:p>
              <a:pPr algn="ctr" marL="0" indent="0" lvl="0">
                <a:lnSpc>
                  <a:spcPts val="7799"/>
                </a:lnSpc>
              </a:pPr>
              <a:r>
                <a:rPr lang="en-US" b="true" sz="5571">
                  <a:solidFill>
                    <a:srgbClr val="000000"/>
                  </a:solidFill>
                  <a:latin typeface="Open Sans Bold"/>
                  <a:ea typeface="Open Sans Bold"/>
                  <a:cs typeface="Open Sans Bold"/>
                  <a:sym typeface="Open Sans Bold"/>
                </a:rPr>
                <a:t>19</a:t>
              </a:r>
            </a:p>
          </p:txBody>
        </p:sp>
      </p:grpSp>
      <p:sp>
        <p:nvSpPr>
          <p:cNvPr name="Freeform 12" id="12"/>
          <p:cNvSpPr/>
          <p:nvPr/>
        </p:nvSpPr>
        <p:spPr>
          <a:xfrm flipH="false" flipV="false" rot="0">
            <a:off x="11804788" y="9258300"/>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7181770" y="255276"/>
            <a:ext cx="7857820" cy="9776448"/>
          </a:xfrm>
          <a:custGeom>
            <a:avLst/>
            <a:gdLst/>
            <a:ahLst/>
            <a:cxnLst/>
            <a:rect r="r" b="b" t="t" l="l"/>
            <a:pathLst>
              <a:path h="9776448" w="7857820">
                <a:moveTo>
                  <a:pt x="0" y="0"/>
                </a:moveTo>
                <a:lnTo>
                  <a:pt x="7857820" y="0"/>
                </a:lnTo>
                <a:lnTo>
                  <a:pt x="7857820" y="9776448"/>
                </a:lnTo>
                <a:lnTo>
                  <a:pt x="0" y="9776448"/>
                </a:lnTo>
                <a:lnTo>
                  <a:pt x="0" y="0"/>
                </a:lnTo>
                <a:close/>
              </a:path>
            </a:pathLst>
          </a:custGeom>
          <a:blipFill>
            <a:blip r:embed="rId4"/>
            <a:stretch>
              <a:fillRect l="0" t="0" r="0" b="0"/>
            </a:stretch>
          </a:blipFill>
        </p:spPr>
      </p:sp>
      <p:sp>
        <p:nvSpPr>
          <p:cNvPr name="TextBox 14" id="14"/>
          <p:cNvSpPr txBox="true"/>
          <p:nvPr/>
        </p:nvSpPr>
        <p:spPr>
          <a:xfrm rot="0">
            <a:off x="0" y="3739731"/>
            <a:ext cx="6972635" cy="1862605"/>
          </a:xfrm>
          <a:prstGeom prst="rect">
            <a:avLst/>
          </a:prstGeom>
        </p:spPr>
        <p:txBody>
          <a:bodyPr anchor="t" rtlCol="false" tIns="0" lIns="0" bIns="0" rIns="0">
            <a:spAutoFit/>
          </a:bodyPr>
          <a:lstStyle/>
          <a:p>
            <a:pPr algn="ctr">
              <a:lnSpc>
                <a:spcPts val="7414"/>
              </a:lnSpc>
              <a:spcBef>
                <a:spcPct val="0"/>
              </a:spcBef>
            </a:pPr>
            <a:r>
              <a:rPr lang="en-US" sz="5296">
                <a:solidFill>
                  <a:srgbClr val="000000"/>
                </a:solidFill>
                <a:latin typeface="Alatsi"/>
                <a:ea typeface="Alatsi"/>
                <a:cs typeface="Alatsi"/>
                <a:sym typeface="Alatsi"/>
              </a:rPr>
              <a:t>Diagramme de classe d’analyse</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grpSp>
        <p:nvGrpSpPr>
          <p:cNvPr name="Group 2" id="2"/>
          <p:cNvGrpSpPr/>
          <p:nvPr/>
        </p:nvGrpSpPr>
        <p:grpSpPr>
          <a:xfrm rot="0">
            <a:off x="627362" y="0"/>
            <a:ext cx="937061" cy="10287000"/>
            <a:chOff x="0" y="0"/>
            <a:chExt cx="246798" cy="2709333"/>
          </a:xfrm>
        </p:grpSpPr>
        <p:sp>
          <p:nvSpPr>
            <p:cNvPr name="Freeform 3" id="3"/>
            <p:cNvSpPr/>
            <p:nvPr/>
          </p:nvSpPr>
          <p:spPr>
            <a:xfrm flipH="false" flipV="false" rot="0">
              <a:off x="0" y="0"/>
              <a:ext cx="246798" cy="2709333"/>
            </a:xfrm>
            <a:custGeom>
              <a:avLst/>
              <a:gdLst/>
              <a:ahLst/>
              <a:cxnLst/>
              <a:rect r="r" b="b" t="t" l="l"/>
              <a:pathLst>
                <a:path h="2709333" w="246798">
                  <a:moveTo>
                    <a:pt x="0" y="0"/>
                  </a:moveTo>
                  <a:lnTo>
                    <a:pt x="246798" y="0"/>
                  </a:lnTo>
                  <a:lnTo>
                    <a:pt x="246798" y="2709333"/>
                  </a:lnTo>
                  <a:lnTo>
                    <a:pt x="0" y="2709333"/>
                  </a:lnTo>
                  <a:close/>
                </a:path>
              </a:pathLst>
            </a:custGeom>
            <a:solidFill>
              <a:srgbClr val="F6F3EB"/>
            </a:solidFill>
          </p:spPr>
        </p:sp>
        <p:sp>
          <p:nvSpPr>
            <p:cNvPr name="TextBox 4" id="4"/>
            <p:cNvSpPr txBox="true"/>
            <p:nvPr/>
          </p:nvSpPr>
          <p:spPr>
            <a:xfrm>
              <a:off x="0" y="-38100"/>
              <a:ext cx="246798" cy="2747433"/>
            </a:xfrm>
            <a:prstGeom prst="rect">
              <a:avLst/>
            </a:prstGeom>
          </p:spPr>
          <p:txBody>
            <a:bodyPr anchor="ctr" rtlCol="false" tIns="50800" lIns="50800" bIns="50800" rIns="50800"/>
            <a:lstStyle/>
            <a:p>
              <a:pPr algn="ctr" marL="0" indent="0" lvl="0">
                <a:lnSpc>
                  <a:spcPts val="2659"/>
                </a:lnSpc>
              </a:pPr>
            </a:p>
          </p:txBody>
        </p:sp>
      </p:grpSp>
      <p:sp>
        <p:nvSpPr>
          <p:cNvPr name="AutoShape 5" id="5"/>
          <p:cNvSpPr/>
          <p:nvPr/>
        </p:nvSpPr>
        <p:spPr>
          <a:xfrm flipH="true" flipV="true">
            <a:off x="1085850" y="7289441"/>
            <a:ext cx="5403" cy="2997456"/>
          </a:xfrm>
          <a:prstGeom prst="line">
            <a:avLst/>
          </a:prstGeom>
          <a:ln cap="flat" w="114300">
            <a:solidFill>
              <a:srgbClr val="9FC3D0"/>
            </a:solidFill>
            <a:prstDash val="solid"/>
            <a:headEnd type="none" len="sm" w="sm"/>
            <a:tailEnd type="none" len="sm" w="sm"/>
          </a:ln>
        </p:spPr>
      </p:sp>
      <p:sp>
        <p:nvSpPr>
          <p:cNvPr name="AutoShape 6" id="6"/>
          <p:cNvSpPr/>
          <p:nvPr/>
        </p:nvSpPr>
        <p:spPr>
          <a:xfrm flipH="true" flipV="true">
            <a:off x="1090490" y="-104525"/>
            <a:ext cx="5403" cy="2997456"/>
          </a:xfrm>
          <a:prstGeom prst="line">
            <a:avLst/>
          </a:prstGeom>
          <a:ln cap="flat" w="114300">
            <a:solidFill>
              <a:srgbClr val="9FC3D0"/>
            </a:solidFill>
            <a:prstDash val="solid"/>
            <a:headEnd type="none" len="sm" w="sm"/>
            <a:tailEnd type="none" len="sm" w="sm"/>
          </a:ln>
        </p:spPr>
      </p:sp>
      <p:grpSp>
        <p:nvGrpSpPr>
          <p:cNvPr name="Group 7" id="7"/>
          <p:cNvGrpSpPr/>
          <p:nvPr/>
        </p:nvGrpSpPr>
        <p:grpSpPr>
          <a:xfrm rot="0">
            <a:off x="16477994" y="0"/>
            <a:ext cx="1562612" cy="1673225"/>
            <a:chOff x="0" y="0"/>
            <a:chExt cx="2083482" cy="2230967"/>
          </a:xfrm>
        </p:grpSpPr>
        <p:grpSp>
          <p:nvGrpSpPr>
            <p:cNvPr name="Group 8" id="8"/>
            <p:cNvGrpSpPr/>
            <p:nvPr/>
          </p:nvGrpSpPr>
          <p:grpSpPr>
            <a:xfrm rot="0">
              <a:off x="75599" y="0"/>
              <a:ext cx="1932284" cy="2230967"/>
              <a:chOff x="0" y="0"/>
              <a:chExt cx="703982" cy="812800"/>
            </a:xfrm>
          </p:grpSpPr>
          <p:sp>
            <p:nvSpPr>
              <p:cNvPr name="Freeform 9" id="9"/>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10" id="10"/>
              <p:cNvSpPr txBox="true"/>
              <p:nvPr/>
            </p:nvSpPr>
            <p:spPr>
              <a:xfrm>
                <a:off x="0" y="-47625"/>
                <a:ext cx="703982" cy="733425"/>
              </a:xfrm>
              <a:prstGeom prst="rect">
                <a:avLst/>
              </a:prstGeom>
            </p:spPr>
            <p:txBody>
              <a:bodyPr anchor="ctr" rtlCol="false" tIns="50800" lIns="50800" bIns="50800" rIns="50800"/>
              <a:lstStyle/>
              <a:p>
                <a:pPr algn="ctr" marL="0" indent="0" lvl="0">
                  <a:lnSpc>
                    <a:spcPts val="2659"/>
                  </a:lnSpc>
                </a:pPr>
              </a:p>
            </p:txBody>
          </p:sp>
        </p:grpSp>
        <p:sp>
          <p:nvSpPr>
            <p:cNvPr name="TextBox 11" id="11"/>
            <p:cNvSpPr txBox="true"/>
            <p:nvPr/>
          </p:nvSpPr>
          <p:spPr>
            <a:xfrm rot="0">
              <a:off x="0" y="447107"/>
              <a:ext cx="2083482" cy="1232111"/>
            </a:xfrm>
            <a:prstGeom prst="rect">
              <a:avLst/>
            </a:prstGeom>
          </p:spPr>
          <p:txBody>
            <a:bodyPr anchor="t" rtlCol="false" tIns="0" lIns="0" bIns="0" rIns="0">
              <a:spAutoFit/>
            </a:bodyPr>
            <a:lstStyle/>
            <a:p>
              <a:pPr algn="ctr" marL="0" indent="0" lvl="0">
                <a:lnSpc>
                  <a:spcPts val="7799"/>
                </a:lnSpc>
              </a:pPr>
              <a:r>
                <a:rPr lang="en-US" b="true" sz="5571">
                  <a:solidFill>
                    <a:srgbClr val="000000"/>
                  </a:solidFill>
                  <a:latin typeface="Open Sans Bold"/>
                  <a:ea typeface="Open Sans Bold"/>
                  <a:cs typeface="Open Sans Bold"/>
                  <a:sym typeface="Open Sans Bold"/>
                </a:rPr>
                <a:t>20</a:t>
              </a:r>
            </a:p>
          </p:txBody>
        </p:sp>
      </p:grpSp>
      <p:sp>
        <p:nvSpPr>
          <p:cNvPr name="Freeform 12" id="12"/>
          <p:cNvSpPr/>
          <p:nvPr/>
        </p:nvSpPr>
        <p:spPr>
          <a:xfrm flipH="false" flipV="false" rot="0">
            <a:off x="3393542" y="417720"/>
            <a:ext cx="12314737" cy="9451561"/>
          </a:xfrm>
          <a:custGeom>
            <a:avLst/>
            <a:gdLst/>
            <a:ahLst/>
            <a:cxnLst/>
            <a:rect r="r" b="b" t="t" l="l"/>
            <a:pathLst>
              <a:path h="9451561" w="12314737">
                <a:moveTo>
                  <a:pt x="0" y="0"/>
                </a:moveTo>
                <a:lnTo>
                  <a:pt x="12314737" y="0"/>
                </a:lnTo>
                <a:lnTo>
                  <a:pt x="12314737" y="9451560"/>
                </a:lnTo>
                <a:lnTo>
                  <a:pt x="0" y="9451560"/>
                </a:lnTo>
                <a:lnTo>
                  <a:pt x="0" y="0"/>
                </a:lnTo>
                <a:close/>
              </a:path>
            </a:pathLst>
          </a:custGeom>
          <a:blipFill>
            <a:blip r:embed="rId2"/>
            <a:stretch>
              <a:fillRect l="0" t="0" r="0" b="0"/>
            </a:stretch>
          </a:blipFill>
        </p:spPr>
      </p:sp>
      <p:sp>
        <p:nvSpPr>
          <p:cNvPr name="TextBox 13" id="13"/>
          <p:cNvSpPr txBox="true"/>
          <p:nvPr/>
        </p:nvSpPr>
        <p:spPr>
          <a:xfrm rot="0">
            <a:off x="-184974" y="4168854"/>
            <a:ext cx="3578516" cy="1441590"/>
          </a:xfrm>
          <a:prstGeom prst="rect">
            <a:avLst/>
          </a:prstGeom>
        </p:spPr>
        <p:txBody>
          <a:bodyPr anchor="t" rtlCol="false" tIns="0" lIns="0" bIns="0" rIns="0">
            <a:spAutoFit/>
          </a:bodyPr>
          <a:lstStyle/>
          <a:p>
            <a:pPr algn="ctr">
              <a:lnSpc>
                <a:spcPts val="5790"/>
              </a:lnSpc>
              <a:spcBef>
                <a:spcPct val="0"/>
              </a:spcBef>
            </a:pPr>
            <a:r>
              <a:rPr lang="en-US" sz="4136">
                <a:solidFill>
                  <a:srgbClr val="000000"/>
                </a:solidFill>
                <a:latin typeface="Alatsi"/>
                <a:ea typeface="Alatsi"/>
                <a:cs typeface="Alatsi"/>
                <a:sym typeface="Alatsi"/>
              </a:rPr>
              <a:t> d</a:t>
            </a:r>
            <a:r>
              <a:rPr lang="en-US" sz="4136">
                <a:solidFill>
                  <a:srgbClr val="000000"/>
                </a:solidFill>
                <a:latin typeface="Alatsi"/>
                <a:ea typeface="Alatsi"/>
                <a:cs typeface="Alatsi"/>
                <a:sym typeface="Alatsi"/>
              </a:rPr>
              <a:t>iagramme de composants</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grpSp>
        <p:nvGrpSpPr>
          <p:cNvPr name="Group 2" id="2"/>
          <p:cNvGrpSpPr/>
          <p:nvPr/>
        </p:nvGrpSpPr>
        <p:grpSpPr>
          <a:xfrm rot="0">
            <a:off x="627362" y="0"/>
            <a:ext cx="937061" cy="10287000"/>
            <a:chOff x="0" y="0"/>
            <a:chExt cx="246798" cy="2709333"/>
          </a:xfrm>
        </p:grpSpPr>
        <p:sp>
          <p:nvSpPr>
            <p:cNvPr name="Freeform 3" id="3"/>
            <p:cNvSpPr/>
            <p:nvPr/>
          </p:nvSpPr>
          <p:spPr>
            <a:xfrm flipH="false" flipV="false" rot="0">
              <a:off x="0" y="0"/>
              <a:ext cx="246798" cy="2709333"/>
            </a:xfrm>
            <a:custGeom>
              <a:avLst/>
              <a:gdLst/>
              <a:ahLst/>
              <a:cxnLst/>
              <a:rect r="r" b="b" t="t" l="l"/>
              <a:pathLst>
                <a:path h="2709333" w="246798">
                  <a:moveTo>
                    <a:pt x="0" y="0"/>
                  </a:moveTo>
                  <a:lnTo>
                    <a:pt x="246798" y="0"/>
                  </a:lnTo>
                  <a:lnTo>
                    <a:pt x="246798" y="2709333"/>
                  </a:lnTo>
                  <a:lnTo>
                    <a:pt x="0" y="2709333"/>
                  </a:lnTo>
                  <a:close/>
                </a:path>
              </a:pathLst>
            </a:custGeom>
            <a:solidFill>
              <a:srgbClr val="F6F3EB"/>
            </a:solidFill>
          </p:spPr>
        </p:sp>
        <p:sp>
          <p:nvSpPr>
            <p:cNvPr name="TextBox 4" id="4"/>
            <p:cNvSpPr txBox="true"/>
            <p:nvPr/>
          </p:nvSpPr>
          <p:spPr>
            <a:xfrm>
              <a:off x="0" y="-38100"/>
              <a:ext cx="246798" cy="2747433"/>
            </a:xfrm>
            <a:prstGeom prst="rect">
              <a:avLst/>
            </a:prstGeom>
          </p:spPr>
          <p:txBody>
            <a:bodyPr anchor="ctr" rtlCol="false" tIns="50800" lIns="50800" bIns="50800" rIns="50800"/>
            <a:lstStyle/>
            <a:p>
              <a:pPr algn="ctr" marL="0" indent="0" lvl="0">
                <a:lnSpc>
                  <a:spcPts val="2659"/>
                </a:lnSpc>
              </a:pPr>
            </a:p>
          </p:txBody>
        </p:sp>
      </p:grpSp>
      <p:sp>
        <p:nvSpPr>
          <p:cNvPr name="AutoShape 5" id="5"/>
          <p:cNvSpPr/>
          <p:nvPr/>
        </p:nvSpPr>
        <p:spPr>
          <a:xfrm flipH="true" flipV="true">
            <a:off x="1085850" y="7289441"/>
            <a:ext cx="5403" cy="2997456"/>
          </a:xfrm>
          <a:prstGeom prst="line">
            <a:avLst/>
          </a:prstGeom>
          <a:ln cap="flat" w="114300">
            <a:solidFill>
              <a:srgbClr val="9FC3D0"/>
            </a:solidFill>
            <a:prstDash val="solid"/>
            <a:headEnd type="none" len="sm" w="sm"/>
            <a:tailEnd type="none" len="sm" w="sm"/>
          </a:ln>
        </p:spPr>
      </p:sp>
      <p:sp>
        <p:nvSpPr>
          <p:cNvPr name="AutoShape 6" id="6"/>
          <p:cNvSpPr/>
          <p:nvPr/>
        </p:nvSpPr>
        <p:spPr>
          <a:xfrm flipH="true" flipV="true">
            <a:off x="1090490" y="-104525"/>
            <a:ext cx="5403" cy="2997456"/>
          </a:xfrm>
          <a:prstGeom prst="line">
            <a:avLst/>
          </a:prstGeom>
          <a:ln cap="flat" w="114300">
            <a:solidFill>
              <a:srgbClr val="9FC3D0"/>
            </a:solidFill>
            <a:prstDash val="solid"/>
            <a:headEnd type="none" len="sm" w="sm"/>
            <a:tailEnd type="none" len="sm" w="sm"/>
          </a:ln>
        </p:spPr>
      </p:sp>
      <p:grpSp>
        <p:nvGrpSpPr>
          <p:cNvPr name="Group 7" id="7"/>
          <p:cNvGrpSpPr/>
          <p:nvPr/>
        </p:nvGrpSpPr>
        <p:grpSpPr>
          <a:xfrm rot="0">
            <a:off x="16477994" y="0"/>
            <a:ext cx="1562612" cy="1673225"/>
            <a:chOff x="0" y="0"/>
            <a:chExt cx="2083482" cy="2230967"/>
          </a:xfrm>
        </p:grpSpPr>
        <p:grpSp>
          <p:nvGrpSpPr>
            <p:cNvPr name="Group 8" id="8"/>
            <p:cNvGrpSpPr/>
            <p:nvPr/>
          </p:nvGrpSpPr>
          <p:grpSpPr>
            <a:xfrm rot="0">
              <a:off x="75599" y="0"/>
              <a:ext cx="1932284" cy="2230967"/>
              <a:chOff x="0" y="0"/>
              <a:chExt cx="703982" cy="812800"/>
            </a:xfrm>
          </p:grpSpPr>
          <p:sp>
            <p:nvSpPr>
              <p:cNvPr name="Freeform 9" id="9"/>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10" id="10"/>
              <p:cNvSpPr txBox="true"/>
              <p:nvPr/>
            </p:nvSpPr>
            <p:spPr>
              <a:xfrm>
                <a:off x="0" y="-47625"/>
                <a:ext cx="703982" cy="733425"/>
              </a:xfrm>
              <a:prstGeom prst="rect">
                <a:avLst/>
              </a:prstGeom>
            </p:spPr>
            <p:txBody>
              <a:bodyPr anchor="ctr" rtlCol="false" tIns="50800" lIns="50800" bIns="50800" rIns="50800"/>
              <a:lstStyle/>
              <a:p>
                <a:pPr algn="ctr" marL="0" indent="0" lvl="0">
                  <a:lnSpc>
                    <a:spcPts val="2659"/>
                  </a:lnSpc>
                </a:pPr>
              </a:p>
            </p:txBody>
          </p:sp>
        </p:grpSp>
        <p:sp>
          <p:nvSpPr>
            <p:cNvPr name="TextBox 11" id="11"/>
            <p:cNvSpPr txBox="true"/>
            <p:nvPr/>
          </p:nvSpPr>
          <p:spPr>
            <a:xfrm rot="0">
              <a:off x="0" y="447107"/>
              <a:ext cx="2083482" cy="1232111"/>
            </a:xfrm>
            <a:prstGeom prst="rect">
              <a:avLst/>
            </a:prstGeom>
          </p:spPr>
          <p:txBody>
            <a:bodyPr anchor="t" rtlCol="false" tIns="0" lIns="0" bIns="0" rIns="0">
              <a:spAutoFit/>
            </a:bodyPr>
            <a:lstStyle/>
            <a:p>
              <a:pPr algn="ctr" marL="0" indent="0" lvl="0">
                <a:lnSpc>
                  <a:spcPts val="7799"/>
                </a:lnSpc>
              </a:pPr>
              <a:r>
                <a:rPr lang="en-US" b="true" sz="5571">
                  <a:solidFill>
                    <a:srgbClr val="000000"/>
                  </a:solidFill>
                  <a:latin typeface="Open Sans Bold"/>
                  <a:ea typeface="Open Sans Bold"/>
                  <a:cs typeface="Open Sans Bold"/>
                  <a:sym typeface="Open Sans Bold"/>
                </a:rPr>
                <a:t>21</a:t>
              </a:r>
            </a:p>
          </p:txBody>
        </p:sp>
      </p:grpSp>
      <p:sp>
        <p:nvSpPr>
          <p:cNvPr name="Freeform 12" id="12"/>
          <p:cNvSpPr/>
          <p:nvPr/>
        </p:nvSpPr>
        <p:spPr>
          <a:xfrm flipH="false" flipV="false" rot="0">
            <a:off x="11804788" y="9258300"/>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2873563" y="143836"/>
            <a:ext cx="13354694" cy="9999327"/>
          </a:xfrm>
          <a:custGeom>
            <a:avLst/>
            <a:gdLst/>
            <a:ahLst/>
            <a:cxnLst/>
            <a:rect r="r" b="b" t="t" l="l"/>
            <a:pathLst>
              <a:path h="9999327" w="13354694">
                <a:moveTo>
                  <a:pt x="0" y="0"/>
                </a:moveTo>
                <a:lnTo>
                  <a:pt x="13354694" y="0"/>
                </a:lnTo>
                <a:lnTo>
                  <a:pt x="13354694" y="9999328"/>
                </a:lnTo>
                <a:lnTo>
                  <a:pt x="0" y="9999328"/>
                </a:lnTo>
                <a:lnTo>
                  <a:pt x="0" y="0"/>
                </a:lnTo>
                <a:close/>
              </a:path>
            </a:pathLst>
          </a:custGeom>
          <a:blipFill>
            <a:blip r:embed="rId4"/>
            <a:stretch>
              <a:fillRect l="0" t="0" r="0" b="0"/>
            </a:stretch>
          </a:blipFill>
        </p:spPr>
      </p:sp>
      <p:sp>
        <p:nvSpPr>
          <p:cNvPr name="TextBox 14" id="14"/>
          <p:cNvSpPr txBox="true"/>
          <p:nvPr/>
        </p:nvSpPr>
        <p:spPr>
          <a:xfrm rot="0">
            <a:off x="0" y="5076825"/>
            <a:ext cx="2623826" cy="1249285"/>
          </a:xfrm>
          <a:prstGeom prst="rect">
            <a:avLst/>
          </a:prstGeom>
        </p:spPr>
        <p:txBody>
          <a:bodyPr anchor="t" rtlCol="false" tIns="0" lIns="0" bIns="0" rIns="0">
            <a:spAutoFit/>
          </a:bodyPr>
          <a:lstStyle/>
          <a:p>
            <a:pPr algn="ctr">
              <a:lnSpc>
                <a:spcPts val="5015"/>
              </a:lnSpc>
              <a:spcBef>
                <a:spcPct val="0"/>
              </a:spcBef>
            </a:pPr>
            <a:r>
              <a:rPr lang="en-US" sz="3582">
                <a:solidFill>
                  <a:srgbClr val="000000"/>
                </a:solidFill>
                <a:latin typeface="Alatsi"/>
                <a:ea typeface="Alatsi"/>
                <a:cs typeface="Alatsi"/>
                <a:sym typeface="Alatsi"/>
              </a:rPr>
              <a:t>Diagramme de séquence</a:t>
            </a:r>
          </a:p>
        </p:txBody>
      </p:sp>
      <p:sp>
        <p:nvSpPr>
          <p:cNvPr name="TextBox 15" id="15"/>
          <p:cNvSpPr txBox="true"/>
          <p:nvPr/>
        </p:nvSpPr>
        <p:spPr>
          <a:xfrm rot="0">
            <a:off x="210788" y="3494709"/>
            <a:ext cx="2662775" cy="1663065"/>
          </a:xfrm>
          <a:prstGeom prst="rect">
            <a:avLst/>
          </a:prstGeom>
        </p:spPr>
        <p:txBody>
          <a:bodyPr anchor="t" rtlCol="false" tIns="0" lIns="0" bIns="0" rIns="0">
            <a:spAutoFit/>
          </a:bodyPr>
          <a:lstStyle/>
          <a:p>
            <a:pPr algn="ctr">
              <a:lnSpc>
                <a:spcPts val="3359"/>
              </a:lnSpc>
              <a:spcBef>
                <a:spcPct val="0"/>
              </a:spcBef>
            </a:pPr>
            <a:r>
              <a:rPr lang="en-US" b="true" sz="2399">
                <a:solidFill>
                  <a:srgbClr val="EC3433"/>
                </a:solidFill>
                <a:latin typeface="Abhaya Libre Bold"/>
                <a:ea typeface="Abhaya Libre Bold"/>
                <a:cs typeface="Abhaya Libre Bold"/>
                <a:sym typeface="Abhaya Libre Bold"/>
              </a:rPr>
              <a:t>Validation et affectation d’une demande TPE</a:t>
            </a:r>
          </a:p>
          <a:p>
            <a:pPr algn="ctr">
              <a:lnSpc>
                <a:spcPts val="3359"/>
              </a:lnSpc>
              <a:spcBef>
                <a:spcPct val="0"/>
              </a:spcBef>
            </a:pP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0">
            <a:off x="4554977" y="3748035"/>
            <a:ext cx="11627497" cy="2514704"/>
          </a:xfrm>
          <a:prstGeom prst="rect">
            <a:avLst/>
          </a:prstGeom>
        </p:spPr>
        <p:txBody>
          <a:bodyPr anchor="t" rtlCol="false" tIns="0" lIns="0" bIns="0" rIns="0">
            <a:spAutoFit/>
          </a:bodyPr>
          <a:lstStyle/>
          <a:p>
            <a:pPr algn="ctr" marL="0" indent="0" lvl="0">
              <a:lnSpc>
                <a:spcPts val="20573"/>
              </a:lnSpc>
            </a:pPr>
            <a:r>
              <a:rPr lang="en-US" sz="14695">
                <a:solidFill>
                  <a:srgbClr val="000000"/>
                </a:solidFill>
                <a:latin typeface="Alatsi"/>
                <a:ea typeface="Alatsi"/>
                <a:cs typeface="Alatsi"/>
                <a:sym typeface="Alatsi"/>
              </a:rPr>
              <a:t>RÉALISATION</a:t>
            </a:r>
          </a:p>
        </p:txBody>
      </p:sp>
      <p:sp>
        <p:nvSpPr>
          <p:cNvPr name="TextBox 3" id="3"/>
          <p:cNvSpPr txBox="true"/>
          <p:nvPr/>
        </p:nvSpPr>
        <p:spPr>
          <a:xfrm rot="0">
            <a:off x="5033857" y="6762653"/>
            <a:ext cx="10669737" cy="703169"/>
          </a:xfrm>
          <a:prstGeom prst="rect">
            <a:avLst/>
          </a:prstGeom>
        </p:spPr>
        <p:txBody>
          <a:bodyPr anchor="t" rtlCol="false" tIns="0" lIns="0" bIns="0" rIns="0">
            <a:spAutoFit/>
          </a:bodyPr>
          <a:lstStyle/>
          <a:p>
            <a:pPr algn="ctr" marL="0" indent="0" lvl="0">
              <a:lnSpc>
                <a:spcPts val="5763"/>
              </a:lnSpc>
            </a:pPr>
            <a:r>
              <a:rPr lang="en-US" sz="4116">
                <a:solidFill>
                  <a:srgbClr val="000000"/>
                </a:solidFill>
                <a:latin typeface="Alatsi"/>
                <a:ea typeface="Alatsi"/>
                <a:cs typeface="Alatsi"/>
                <a:sym typeface="Alatsi"/>
              </a:rPr>
              <a:t>Développement et Mise en Œuvre</a:t>
            </a:r>
          </a:p>
        </p:txBody>
      </p:sp>
      <p:grpSp>
        <p:nvGrpSpPr>
          <p:cNvPr name="Group 4" id="4"/>
          <p:cNvGrpSpPr/>
          <p:nvPr/>
        </p:nvGrpSpPr>
        <p:grpSpPr>
          <a:xfrm rot="0">
            <a:off x="-31071" y="0"/>
            <a:ext cx="4239083" cy="10287000"/>
            <a:chOff x="0" y="0"/>
            <a:chExt cx="5652111" cy="13716000"/>
          </a:xfrm>
        </p:grpSpPr>
        <p:grpSp>
          <p:nvGrpSpPr>
            <p:cNvPr name="Group 5" id="5"/>
            <p:cNvGrpSpPr/>
            <p:nvPr/>
          </p:nvGrpSpPr>
          <p:grpSpPr>
            <a:xfrm rot="0">
              <a:off x="2826056" y="0"/>
              <a:ext cx="2826056" cy="13716000"/>
              <a:chOff x="0" y="0"/>
              <a:chExt cx="558233" cy="2709333"/>
            </a:xfrm>
          </p:grpSpPr>
          <p:sp>
            <p:nvSpPr>
              <p:cNvPr name="Freeform 6" id="6"/>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E9E0D9"/>
              </a:solidFill>
            </p:spPr>
          </p:sp>
          <p:sp>
            <p:nvSpPr>
              <p:cNvPr name="TextBox 7" id="7"/>
              <p:cNvSpPr txBox="true"/>
              <p:nvPr/>
            </p:nvSpPr>
            <p:spPr>
              <a:xfrm>
                <a:off x="0" y="-47625"/>
                <a:ext cx="558233" cy="2756958"/>
              </a:xfrm>
              <a:prstGeom prst="rect">
                <a:avLst/>
              </a:prstGeom>
            </p:spPr>
            <p:txBody>
              <a:bodyPr anchor="ctr" rtlCol="false" tIns="50800" lIns="50800" bIns="50800" rIns="50800"/>
              <a:lstStyle/>
              <a:p>
                <a:pPr algn="ctr" marL="0" indent="0" lvl="0">
                  <a:lnSpc>
                    <a:spcPts val="2659"/>
                  </a:lnSpc>
                </a:pPr>
              </a:p>
            </p:txBody>
          </p:sp>
        </p:grpSp>
        <p:grpSp>
          <p:nvGrpSpPr>
            <p:cNvPr name="Group 8" id="8"/>
            <p:cNvGrpSpPr/>
            <p:nvPr/>
          </p:nvGrpSpPr>
          <p:grpSpPr>
            <a:xfrm rot="0">
              <a:off x="1413028" y="0"/>
              <a:ext cx="2826056" cy="13716000"/>
              <a:chOff x="0" y="0"/>
              <a:chExt cx="558233" cy="2709333"/>
            </a:xfrm>
          </p:grpSpPr>
          <p:sp>
            <p:nvSpPr>
              <p:cNvPr name="Freeform 9" id="9"/>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9FC3D0"/>
              </a:solidFill>
            </p:spPr>
          </p:sp>
          <p:sp>
            <p:nvSpPr>
              <p:cNvPr name="TextBox 10" id="10"/>
              <p:cNvSpPr txBox="true"/>
              <p:nvPr/>
            </p:nvSpPr>
            <p:spPr>
              <a:xfrm>
                <a:off x="0" y="-47625"/>
                <a:ext cx="558233" cy="2756958"/>
              </a:xfrm>
              <a:prstGeom prst="rect">
                <a:avLst/>
              </a:prstGeom>
            </p:spPr>
            <p:txBody>
              <a:bodyPr anchor="ctr" rtlCol="false" tIns="50800" lIns="50800" bIns="50800" rIns="50800"/>
              <a:lstStyle/>
              <a:p>
                <a:pPr algn="ctr" marL="0" indent="0" lvl="0">
                  <a:lnSpc>
                    <a:spcPts val="2659"/>
                  </a:lnSpc>
                </a:pPr>
              </a:p>
            </p:txBody>
          </p:sp>
        </p:grpSp>
        <p:grpSp>
          <p:nvGrpSpPr>
            <p:cNvPr name="Group 11" id="11"/>
            <p:cNvGrpSpPr/>
            <p:nvPr/>
          </p:nvGrpSpPr>
          <p:grpSpPr>
            <a:xfrm rot="0">
              <a:off x="0" y="0"/>
              <a:ext cx="2826056" cy="13716000"/>
              <a:chOff x="0" y="0"/>
              <a:chExt cx="558233" cy="2709333"/>
            </a:xfrm>
          </p:grpSpPr>
          <p:sp>
            <p:nvSpPr>
              <p:cNvPr name="Freeform 12" id="12"/>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E9C7C6"/>
              </a:solidFill>
            </p:spPr>
          </p:sp>
          <p:sp>
            <p:nvSpPr>
              <p:cNvPr name="TextBox 13" id="13"/>
              <p:cNvSpPr txBox="true"/>
              <p:nvPr/>
            </p:nvSpPr>
            <p:spPr>
              <a:xfrm>
                <a:off x="0" y="-47625"/>
                <a:ext cx="558233" cy="2756958"/>
              </a:xfrm>
              <a:prstGeom prst="rect">
                <a:avLst/>
              </a:prstGeom>
            </p:spPr>
            <p:txBody>
              <a:bodyPr anchor="ctr" rtlCol="false" tIns="50800" lIns="50800" bIns="50800" rIns="50800"/>
              <a:lstStyle/>
              <a:p>
                <a:pPr algn="ctr" marL="0" indent="0" lvl="0">
                  <a:lnSpc>
                    <a:spcPts val="2659"/>
                  </a:lnSpc>
                </a:pPr>
              </a:p>
            </p:txBody>
          </p:sp>
        </p:grpSp>
      </p:grpSp>
      <p:sp>
        <p:nvSpPr>
          <p:cNvPr name="Freeform 14" id="14"/>
          <p:cNvSpPr/>
          <p:nvPr/>
        </p:nvSpPr>
        <p:spPr>
          <a:xfrm flipH="false" flipV="false" rot="0">
            <a:off x="12412831" y="8026211"/>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11413653" y="-573693"/>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AutoShape 2" id="2"/>
          <p:cNvSpPr/>
          <p:nvPr/>
        </p:nvSpPr>
        <p:spPr>
          <a:xfrm>
            <a:off x="-260599" y="9061267"/>
            <a:ext cx="7105264" cy="19050"/>
          </a:xfrm>
          <a:prstGeom prst="line">
            <a:avLst/>
          </a:prstGeom>
          <a:ln cap="flat" w="114300">
            <a:solidFill>
              <a:srgbClr val="9FC3D0"/>
            </a:solidFill>
            <a:prstDash val="solid"/>
            <a:headEnd type="none" len="sm" w="sm"/>
            <a:tailEnd type="none" len="sm" w="sm"/>
          </a:ln>
        </p:spPr>
      </p:sp>
      <p:sp>
        <p:nvSpPr>
          <p:cNvPr name="AutoShape 3" id="3"/>
          <p:cNvSpPr/>
          <p:nvPr/>
        </p:nvSpPr>
        <p:spPr>
          <a:xfrm>
            <a:off x="11430169" y="9061267"/>
            <a:ext cx="7105264" cy="19050"/>
          </a:xfrm>
          <a:prstGeom prst="line">
            <a:avLst/>
          </a:prstGeom>
          <a:ln cap="flat" w="114300">
            <a:solidFill>
              <a:srgbClr val="9FC3D0"/>
            </a:solidFill>
            <a:prstDash val="solid"/>
            <a:headEnd type="none" len="sm" w="sm"/>
            <a:tailEnd type="none" len="sm" w="sm"/>
          </a:ln>
        </p:spPr>
      </p:sp>
      <p:grpSp>
        <p:nvGrpSpPr>
          <p:cNvPr name="Group 4" id="4"/>
          <p:cNvGrpSpPr/>
          <p:nvPr/>
        </p:nvGrpSpPr>
        <p:grpSpPr>
          <a:xfrm rot="0">
            <a:off x="15859155" y="0"/>
            <a:ext cx="1562612" cy="1673225"/>
            <a:chOff x="0" y="0"/>
            <a:chExt cx="2083482" cy="2230967"/>
          </a:xfrm>
        </p:grpSpPr>
        <p:grpSp>
          <p:nvGrpSpPr>
            <p:cNvPr name="Group 5" id="5"/>
            <p:cNvGrpSpPr/>
            <p:nvPr/>
          </p:nvGrpSpPr>
          <p:grpSpPr>
            <a:xfrm rot="0">
              <a:off x="75599" y="0"/>
              <a:ext cx="1932284" cy="2230967"/>
              <a:chOff x="0" y="0"/>
              <a:chExt cx="703982" cy="812800"/>
            </a:xfrm>
          </p:grpSpPr>
          <p:sp>
            <p:nvSpPr>
              <p:cNvPr name="Freeform 6" id="6"/>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7" id="7"/>
              <p:cNvSpPr txBox="true"/>
              <p:nvPr/>
            </p:nvSpPr>
            <p:spPr>
              <a:xfrm>
                <a:off x="0" y="-47625"/>
                <a:ext cx="703982" cy="733425"/>
              </a:xfrm>
              <a:prstGeom prst="rect">
                <a:avLst/>
              </a:prstGeom>
            </p:spPr>
            <p:txBody>
              <a:bodyPr anchor="ctr" rtlCol="false" tIns="50800" lIns="50800" bIns="50800" rIns="50800"/>
              <a:lstStyle/>
              <a:p>
                <a:pPr algn="ctr" marL="0" indent="0" lvl="0">
                  <a:lnSpc>
                    <a:spcPts val="2659"/>
                  </a:lnSpc>
                </a:pPr>
              </a:p>
            </p:txBody>
          </p:sp>
        </p:grpSp>
        <p:sp>
          <p:nvSpPr>
            <p:cNvPr name="TextBox 8" id="8"/>
            <p:cNvSpPr txBox="true"/>
            <p:nvPr/>
          </p:nvSpPr>
          <p:spPr>
            <a:xfrm rot="0">
              <a:off x="0" y="447107"/>
              <a:ext cx="2083482" cy="1232111"/>
            </a:xfrm>
            <a:prstGeom prst="rect">
              <a:avLst/>
            </a:prstGeom>
          </p:spPr>
          <p:txBody>
            <a:bodyPr anchor="t" rtlCol="false" tIns="0" lIns="0" bIns="0" rIns="0">
              <a:spAutoFit/>
            </a:bodyPr>
            <a:lstStyle/>
            <a:p>
              <a:pPr algn="ctr" marL="0" indent="0" lvl="0">
                <a:lnSpc>
                  <a:spcPts val="7799"/>
                </a:lnSpc>
              </a:pPr>
              <a:r>
                <a:rPr lang="en-US" b="true" sz="5571">
                  <a:solidFill>
                    <a:srgbClr val="000000"/>
                  </a:solidFill>
                  <a:latin typeface="Open Sans Bold"/>
                  <a:ea typeface="Open Sans Bold"/>
                  <a:cs typeface="Open Sans Bold"/>
                  <a:sym typeface="Open Sans Bold"/>
                </a:rPr>
                <a:t>23</a:t>
              </a:r>
            </a:p>
          </p:txBody>
        </p:sp>
      </p:grpSp>
      <p:sp>
        <p:nvSpPr>
          <p:cNvPr name="Freeform 9" id="9"/>
          <p:cNvSpPr/>
          <p:nvPr/>
        </p:nvSpPr>
        <p:spPr>
          <a:xfrm flipH="false" flipV="false" rot="0">
            <a:off x="-2628900" y="-1449083"/>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5968128" y="2395880"/>
            <a:ext cx="6813653" cy="3894323"/>
          </a:xfrm>
          <a:prstGeom prst="rect">
            <a:avLst/>
          </a:prstGeom>
        </p:spPr>
        <p:txBody>
          <a:bodyPr anchor="t" rtlCol="false" tIns="0" lIns="0" bIns="0" rIns="0">
            <a:spAutoFit/>
          </a:bodyPr>
          <a:lstStyle/>
          <a:p>
            <a:pPr algn="ctr">
              <a:lnSpc>
                <a:spcPts val="32155"/>
              </a:lnSpc>
              <a:spcBef>
                <a:spcPct val="0"/>
              </a:spcBef>
            </a:pPr>
            <a:r>
              <a:rPr lang="en-US" sz="22968">
                <a:solidFill>
                  <a:srgbClr val="000000"/>
                </a:solidFill>
                <a:latin typeface="Abhaya Libre"/>
                <a:ea typeface="Abhaya Libre"/>
                <a:cs typeface="Abhaya Libre"/>
                <a:sym typeface="Abhaya Libre"/>
              </a:rPr>
              <a:t>Video</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0">
            <a:off x="4554977" y="3890910"/>
            <a:ext cx="11627497" cy="1194633"/>
          </a:xfrm>
          <a:prstGeom prst="rect">
            <a:avLst/>
          </a:prstGeom>
        </p:spPr>
        <p:txBody>
          <a:bodyPr anchor="t" rtlCol="false" tIns="0" lIns="0" bIns="0" rIns="0">
            <a:spAutoFit/>
          </a:bodyPr>
          <a:lstStyle/>
          <a:p>
            <a:pPr algn="ctr" marL="0" indent="0" lvl="0">
              <a:lnSpc>
                <a:spcPts val="9790"/>
              </a:lnSpc>
            </a:pPr>
            <a:r>
              <a:rPr lang="en-US" sz="6993">
                <a:solidFill>
                  <a:srgbClr val="000000"/>
                </a:solidFill>
                <a:latin typeface="Alatsi"/>
                <a:ea typeface="Alatsi"/>
                <a:cs typeface="Alatsi"/>
                <a:sym typeface="Alatsi"/>
              </a:rPr>
              <a:t>CONCLUSION ET PERSPECTIVES</a:t>
            </a:r>
          </a:p>
        </p:txBody>
      </p:sp>
      <p:grpSp>
        <p:nvGrpSpPr>
          <p:cNvPr name="Group 3" id="3"/>
          <p:cNvGrpSpPr/>
          <p:nvPr/>
        </p:nvGrpSpPr>
        <p:grpSpPr>
          <a:xfrm rot="0">
            <a:off x="-31071" y="0"/>
            <a:ext cx="4239083" cy="10287000"/>
            <a:chOff x="0" y="0"/>
            <a:chExt cx="5652111" cy="13716000"/>
          </a:xfrm>
        </p:grpSpPr>
        <p:grpSp>
          <p:nvGrpSpPr>
            <p:cNvPr name="Group 4" id="4"/>
            <p:cNvGrpSpPr/>
            <p:nvPr/>
          </p:nvGrpSpPr>
          <p:grpSpPr>
            <a:xfrm rot="0">
              <a:off x="2826056" y="0"/>
              <a:ext cx="2826056" cy="13716000"/>
              <a:chOff x="0" y="0"/>
              <a:chExt cx="558233" cy="2709333"/>
            </a:xfrm>
          </p:grpSpPr>
          <p:sp>
            <p:nvSpPr>
              <p:cNvPr name="Freeform 5" id="5"/>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E9E0D9"/>
              </a:solidFill>
            </p:spPr>
          </p:sp>
          <p:sp>
            <p:nvSpPr>
              <p:cNvPr name="TextBox 6" id="6"/>
              <p:cNvSpPr txBox="true"/>
              <p:nvPr/>
            </p:nvSpPr>
            <p:spPr>
              <a:xfrm>
                <a:off x="0" y="-47625"/>
                <a:ext cx="558233" cy="2756958"/>
              </a:xfrm>
              <a:prstGeom prst="rect">
                <a:avLst/>
              </a:prstGeom>
            </p:spPr>
            <p:txBody>
              <a:bodyPr anchor="ctr" rtlCol="false" tIns="50800" lIns="50800" bIns="50800" rIns="50800"/>
              <a:lstStyle/>
              <a:p>
                <a:pPr algn="ctr" marL="0" indent="0" lvl="0">
                  <a:lnSpc>
                    <a:spcPts val="2659"/>
                  </a:lnSpc>
                </a:pPr>
              </a:p>
            </p:txBody>
          </p:sp>
        </p:grpSp>
        <p:grpSp>
          <p:nvGrpSpPr>
            <p:cNvPr name="Group 7" id="7"/>
            <p:cNvGrpSpPr/>
            <p:nvPr/>
          </p:nvGrpSpPr>
          <p:grpSpPr>
            <a:xfrm rot="0">
              <a:off x="1413028" y="0"/>
              <a:ext cx="2826056" cy="13716000"/>
              <a:chOff x="0" y="0"/>
              <a:chExt cx="558233" cy="2709333"/>
            </a:xfrm>
          </p:grpSpPr>
          <p:sp>
            <p:nvSpPr>
              <p:cNvPr name="Freeform 8" id="8"/>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9FC3D0"/>
              </a:solidFill>
            </p:spPr>
          </p:sp>
          <p:sp>
            <p:nvSpPr>
              <p:cNvPr name="TextBox 9" id="9"/>
              <p:cNvSpPr txBox="true"/>
              <p:nvPr/>
            </p:nvSpPr>
            <p:spPr>
              <a:xfrm>
                <a:off x="0" y="-47625"/>
                <a:ext cx="558233" cy="2756958"/>
              </a:xfrm>
              <a:prstGeom prst="rect">
                <a:avLst/>
              </a:prstGeom>
            </p:spPr>
            <p:txBody>
              <a:bodyPr anchor="ctr" rtlCol="false" tIns="50800" lIns="50800" bIns="50800" rIns="50800"/>
              <a:lstStyle/>
              <a:p>
                <a:pPr algn="ctr" marL="0" indent="0" lvl="0">
                  <a:lnSpc>
                    <a:spcPts val="2659"/>
                  </a:lnSpc>
                </a:pPr>
              </a:p>
            </p:txBody>
          </p:sp>
        </p:grpSp>
        <p:grpSp>
          <p:nvGrpSpPr>
            <p:cNvPr name="Group 10" id="10"/>
            <p:cNvGrpSpPr/>
            <p:nvPr/>
          </p:nvGrpSpPr>
          <p:grpSpPr>
            <a:xfrm rot="0">
              <a:off x="0" y="0"/>
              <a:ext cx="2826056" cy="13716000"/>
              <a:chOff x="0" y="0"/>
              <a:chExt cx="558233" cy="2709333"/>
            </a:xfrm>
          </p:grpSpPr>
          <p:sp>
            <p:nvSpPr>
              <p:cNvPr name="Freeform 11" id="11"/>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E9C7C6"/>
              </a:solidFill>
            </p:spPr>
          </p:sp>
          <p:sp>
            <p:nvSpPr>
              <p:cNvPr name="TextBox 12" id="12"/>
              <p:cNvSpPr txBox="true"/>
              <p:nvPr/>
            </p:nvSpPr>
            <p:spPr>
              <a:xfrm>
                <a:off x="0" y="-47625"/>
                <a:ext cx="558233" cy="2756958"/>
              </a:xfrm>
              <a:prstGeom prst="rect">
                <a:avLst/>
              </a:prstGeom>
            </p:spPr>
            <p:txBody>
              <a:bodyPr anchor="ctr" rtlCol="false" tIns="50800" lIns="50800" bIns="50800" rIns="50800"/>
              <a:lstStyle/>
              <a:p>
                <a:pPr algn="ctr" marL="0" indent="0" lvl="0">
                  <a:lnSpc>
                    <a:spcPts val="2659"/>
                  </a:lnSpc>
                </a:pPr>
              </a:p>
            </p:txBody>
          </p:sp>
        </p:grpSp>
      </p:grpSp>
      <p:sp>
        <p:nvSpPr>
          <p:cNvPr name="Freeform 13" id="13"/>
          <p:cNvSpPr/>
          <p:nvPr/>
        </p:nvSpPr>
        <p:spPr>
          <a:xfrm flipH="false" flipV="false" rot="0">
            <a:off x="12412831" y="8026211"/>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1413653" y="-573693"/>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0">
            <a:off x="1028700" y="866775"/>
            <a:ext cx="16230600" cy="1451128"/>
          </a:xfrm>
          <a:prstGeom prst="rect">
            <a:avLst/>
          </a:prstGeom>
        </p:spPr>
        <p:txBody>
          <a:bodyPr anchor="t" rtlCol="false" tIns="0" lIns="0" bIns="0" rIns="0">
            <a:spAutoFit/>
          </a:bodyPr>
          <a:lstStyle/>
          <a:p>
            <a:pPr algn="ctr" marL="0" indent="0" lvl="0">
              <a:lnSpc>
                <a:spcPts val="11891"/>
              </a:lnSpc>
            </a:pPr>
            <a:r>
              <a:rPr lang="en-US" sz="8493">
                <a:solidFill>
                  <a:srgbClr val="000000"/>
                </a:solidFill>
                <a:latin typeface="Alatsi"/>
                <a:ea typeface="Alatsi"/>
                <a:cs typeface="Alatsi"/>
                <a:sym typeface="Alatsi"/>
              </a:rPr>
              <a:t>CONCLUSION</a:t>
            </a:r>
          </a:p>
        </p:txBody>
      </p:sp>
      <p:grpSp>
        <p:nvGrpSpPr>
          <p:cNvPr name="Group 3" id="3"/>
          <p:cNvGrpSpPr/>
          <p:nvPr/>
        </p:nvGrpSpPr>
        <p:grpSpPr>
          <a:xfrm rot="0">
            <a:off x="1028700" y="2869098"/>
            <a:ext cx="15475119" cy="5583826"/>
            <a:chOff x="0" y="0"/>
            <a:chExt cx="4075752" cy="1470637"/>
          </a:xfrm>
        </p:grpSpPr>
        <p:sp>
          <p:nvSpPr>
            <p:cNvPr name="Freeform 4" id="4"/>
            <p:cNvSpPr/>
            <p:nvPr/>
          </p:nvSpPr>
          <p:spPr>
            <a:xfrm flipH="false" flipV="false" rot="0">
              <a:off x="0" y="0"/>
              <a:ext cx="4075752" cy="1470637"/>
            </a:xfrm>
            <a:custGeom>
              <a:avLst/>
              <a:gdLst/>
              <a:ahLst/>
              <a:cxnLst/>
              <a:rect r="r" b="b" t="t" l="l"/>
              <a:pathLst>
                <a:path h="1470637" w="4075752">
                  <a:moveTo>
                    <a:pt x="25514" y="0"/>
                  </a:moveTo>
                  <a:lnTo>
                    <a:pt x="4050237" y="0"/>
                  </a:lnTo>
                  <a:cubicBezTo>
                    <a:pt x="4057004" y="0"/>
                    <a:pt x="4063494" y="2688"/>
                    <a:pt x="4068279" y="7473"/>
                  </a:cubicBezTo>
                  <a:cubicBezTo>
                    <a:pt x="4073063" y="12258"/>
                    <a:pt x="4075752" y="18748"/>
                    <a:pt x="4075752" y="25514"/>
                  </a:cubicBezTo>
                  <a:lnTo>
                    <a:pt x="4075752" y="1445123"/>
                  </a:lnTo>
                  <a:cubicBezTo>
                    <a:pt x="4075752" y="1451890"/>
                    <a:pt x="4073063" y="1458379"/>
                    <a:pt x="4068279" y="1463164"/>
                  </a:cubicBezTo>
                  <a:cubicBezTo>
                    <a:pt x="4063494" y="1467949"/>
                    <a:pt x="4057004" y="1470637"/>
                    <a:pt x="4050237" y="1470637"/>
                  </a:cubicBezTo>
                  <a:lnTo>
                    <a:pt x="25514" y="1470637"/>
                  </a:lnTo>
                  <a:cubicBezTo>
                    <a:pt x="18748" y="1470637"/>
                    <a:pt x="12258" y="1467949"/>
                    <a:pt x="7473" y="1463164"/>
                  </a:cubicBezTo>
                  <a:cubicBezTo>
                    <a:pt x="2688" y="1458379"/>
                    <a:pt x="0" y="1451890"/>
                    <a:pt x="0" y="1445123"/>
                  </a:cubicBezTo>
                  <a:lnTo>
                    <a:pt x="0" y="25514"/>
                  </a:lnTo>
                  <a:cubicBezTo>
                    <a:pt x="0" y="18748"/>
                    <a:pt x="2688" y="12258"/>
                    <a:pt x="7473" y="7473"/>
                  </a:cubicBezTo>
                  <a:cubicBezTo>
                    <a:pt x="12258" y="2688"/>
                    <a:pt x="18748" y="0"/>
                    <a:pt x="25514" y="0"/>
                  </a:cubicBezTo>
                  <a:close/>
                </a:path>
              </a:pathLst>
            </a:custGeom>
            <a:solidFill>
              <a:srgbClr val="E9C7C6"/>
            </a:solidFill>
          </p:spPr>
        </p:sp>
        <p:sp>
          <p:nvSpPr>
            <p:cNvPr name="TextBox 5" id="5"/>
            <p:cNvSpPr txBox="true"/>
            <p:nvPr/>
          </p:nvSpPr>
          <p:spPr>
            <a:xfrm>
              <a:off x="0" y="-38100"/>
              <a:ext cx="4075752" cy="1508737"/>
            </a:xfrm>
            <a:prstGeom prst="rect">
              <a:avLst/>
            </a:prstGeom>
          </p:spPr>
          <p:txBody>
            <a:bodyPr anchor="ctr" rtlCol="false" tIns="50800" lIns="50800" bIns="50800" rIns="50800"/>
            <a:lstStyle/>
            <a:p>
              <a:pPr algn="ctr" marL="0" indent="0" lvl="0">
                <a:lnSpc>
                  <a:spcPts val="2659"/>
                </a:lnSpc>
              </a:pPr>
            </a:p>
          </p:txBody>
        </p:sp>
      </p:grpSp>
      <p:sp>
        <p:nvSpPr>
          <p:cNvPr name="TextBox 6" id="6"/>
          <p:cNvSpPr txBox="true"/>
          <p:nvPr/>
        </p:nvSpPr>
        <p:spPr>
          <a:xfrm rot="0">
            <a:off x="1028700" y="3246785"/>
            <a:ext cx="15089357" cy="5152118"/>
          </a:xfrm>
          <a:prstGeom prst="rect">
            <a:avLst/>
          </a:prstGeom>
        </p:spPr>
        <p:txBody>
          <a:bodyPr anchor="t" rtlCol="false" tIns="0" lIns="0" bIns="0" rIns="0">
            <a:spAutoFit/>
          </a:bodyPr>
          <a:lstStyle/>
          <a:p>
            <a:pPr algn="l" marL="709719" indent="-354859" lvl="1">
              <a:lnSpc>
                <a:spcPts val="4602"/>
              </a:lnSpc>
              <a:buFont typeface="Arial"/>
              <a:buChar char="•"/>
            </a:pPr>
            <a:r>
              <a:rPr lang="en-US" sz="3287">
                <a:solidFill>
                  <a:srgbClr val="000000"/>
                </a:solidFill>
                <a:latin typeface="Alatsi"/>
                <a:ea typeface="Alatsi"/>
                <a:cs typeface="Alatsi"/>
                <a:sym typeface="Alatsi"/>
              </a:rPr>
              <a:t>La solution couvre le cycle complet de gestion des TPE : demande, affectation, suivi des pannes, ajustement des taux et traçabilité.</a:t>
            </a:r>
          </a:p>
          <a:p>
            <a:pPr algn="l" marL="709719" indent="-354859" lvl="1">
              <a:lnSpc>
                <a:spcPts val="4602"/>
              </a:lnSpc>
              <a:buFont typeface="Arial"/>
              <a:buChar char="•"/>
            </a:pPr>
            <a:r>
              <a:rPr lang="en-US" sz="3287">
                <a:solidFill>
                  <a:srgbClr val="000000"/>
                </a:solidFill>
                <a:latin typeface="Alatsi"/>
                <a:ea typeface="Alatsi"/>
                <a:cs typeface="Alatsi"/>
                <a:sym typeface="Alatsi"/>
              </a:rPr>
              <a:t>L’architecture est structurée par couches (domaine, services, persistance, sécurité, intégration, frontend), ce qui facilite la maintenance et l’évolution.</a:t>
            </a:r>
          </a:p>
          <a:p>
            <a:pPr algn="l" marL="709719" indent="-354859" lvl="1">
              <a:lnSpc>
                <a:spcPts val="4602"/>
              </a:lnSpc>
              <a:buFont typeface="Arial"/>
              <a:buChar char="•"/>
            </a:pPr>
            <a:r>
              <a:rPr lang="en-US" sz="3287">
                <a:solidFill>
                  <a:srgbClr val="000000"/>
                </a:solidFill>
                <a:latin typeface="Alatsi"/>
                <a:ea typeface="Alatsi"/>
                <a:cs typeface="Alatsi"/>
                <a:sym typeface="Alatsi"/>
              </a:rPr>
              <a:t>La modélisation métier améliore la cohérence des données, la qualité de service et la visibilité opérationnelle.</a:t>
            </a:r>
          </a:p>
          <a:p>
            <a:pPr algn="l" marL="709719" indent="-354859" lvl="1">
              <a:lnSpc>
                <a:spcPts val="4602"/>
              </a:lnSpc>
              <a:buFont typeface="Arial"/>
              <a:buChar char="•"/>
            </a:pPr>
            <a:r>
              <a:rPr lang="en-US" sz="3287">
                <a:solidFill>
                  <a:srgbClr val="000000"/>
                </a:solidFill>
                <a:latin typeface="Alatsi"/>
                <a:ea typeface="Alatsi"/>
                <a:cs typeface="Alatsi"/>
                <a:sym typeface="Alatsi"/>
              </a:rPr>
              <a:t>Le projet répond à un besoin concret de digitalisation et de pilotage des activités TPE.</a:t>
            </a:r>
          </a:p>
          <a:p>
            <a:pPr algn="l" marL="0" indent="0" lvl="0">
              <a:lnSpc>
                <a:spcPts val="4602"/>
              </a:lnSpc>
            </a:pPr>
          </a:p>
        </p:txBody>
      </p:sp>
      <p:sp>
        <p:nvSpPr>
          <p:cNvPr name="AutoShape 7" id="7"/>
          <p:cNvSpPr/>
          <p:nvPr/>
        </p:nvSpPr>
        <p:spPr>
          <a:xfrm>
            <a:off x="-260599" y="9061267"/>
            <a:ext cx="7105264" cy="19050"/>
          </a:xfrm>
          <a:prstGeom prst="line">
            <a:avLst/>
          </a:prstGeom>
          <a:ln cap="flat" w="114300">
            <a:solidFill>
              <a:srgbClr val="9FC3D0"/>
            </a:solidFill>
            <a:prstDash val="solid"/>
            <a:headEnd type="none" len="sm" w="sm"/>
            <a:tailEnd type="none" len="sm" w="sm"/>
          </a:ln>
        </p:spPr>
      </p:sp>
      <p:sp>
        <p:nvSpPr>
          <p:cNvPr name="AutoShape 8" id="8"/>
          <p:cNvSpPr/>
          <p:nvPr/>
        </p:nvSpPr>
        <p:spPr>
          <a:xfrm>
            <a:off x="11430169" y="9061267"/>
            <a:ext cx="7105264" cy="19050"/>
          </a:xfrm>
          <a:prstGeom prst="line">
            <a:avLst/>
          </a:prstGeom>
          <a:ln cap="flat" w="114300">
            <a:solidFill>
              <a:srgbClr val="9FC3D0"/>
            </a:solidFill>
            <a:prstDash val="solid"/>
            <a:headEnd type="none" len="sm" w="sm"/>
            <a:tailEnd type="none" len="sm" w="sm"/>
          </a:ln>
        </p:spPr>
      </p:sp>
      <p:grpSp>
        <p:nvGrpSpPr>
          <p:cNvPr name="Group 9" id="9"/>
          <p:cNvGrpSpPr/>
          <p:nvPr/>
        </p:nvGrpSpPr>
        <p:grpSpPr>
          <a:xfrm rot="0">
            <a:off x="15859155" y="0"/>
            <a:ext cx="1562612" cy="1673225"/>
            <a:chOff x="0" y="0"/>
            <a:chExt cx="2083482" cy="2230967"/>
          </a:xfrm>
        </p:grpSpPr>
        <p:grpSp>
          <p:nvGrpSpPr>
            <p:cNvPr name="Group 10" id="10"/>
            <p:cNvGrpSpPr/>
            <p:nvPr/>
          </p:nvGrpSpPr>
          <p:grpSpPr>
            <a:xfrm rot="0">
              <a:off x="75599" y="0"/>
              <a:ext cx="1932284" cy="2230967"/>
              <a:chOff x="0" y="0"/>
              <a:chExt cx="703982" cy="812800"/>
            </a:xfrm>
          </p:grpSpPr>
          <p:sp>
            <p:nvSpPr>
              <p:cNvPr name="Freeform 11" id="11"/>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12" id="12"/>
              <p:cNvSpPr txBox="true"/>
              <p:nvPr/>
            </p:nvSpPr>
            <p:spPr>
              <a:xfrm>
                <a:off x="0" y="-47625"/>
                <a:ext cx="703982" cy="733425"/>
              </a:xfrm>
              <a:prstGeom prst="rect">
                <a:avLst/>
              </a:prstGeom>
            </p:spPr>
            <p:txBody>
              <a:bodyPr anchor="ctr" rtlCol="false" tIns="50800" lIns="50800" bIns="50800" rIns="50800"/>
              <a:lstStyle/>
              <a:p>
                <a:pPr algn="ctr" marL="0" indent="0" lvl="0">
                  <a:lnSpc>
                    <a:spcPts val="2659"/>
                  </a:lnSpc>
                </a:pPr>
              </a:p>
            </p:txBody>
          </p:sp>
        </p:grpSp>
        <p:sp>
          <p:nvSpPr>
            <p:cNvPr name="TextBox 13" id="13"/>
            <p:cNvSpPr txBox="true"/>
            <p:nvPr/>
          </p:nvSpPr>
          <p:spPr>
            <a:xfrm rot="0">
              <a:off x="0" y="447107"/>
              <a:ext cx="2083482" cy="1232111"/>
            </a:xfrm>
            <a:prstGeom prst="rect">
              <a:avLst/>
            </a:prstGeom>
          </p:spPr>
          <p:txBody>
            <a:bodyPr anchor="t" rtlCol="false" tIns="0" lIns="0" bIns="0" rIns="0">
              <a:spAutoFit/>
            </a:bodyPr>
            <a:lstStyle/>
            <a:p>
              <a:pPr algn="ctr" marL="0" indent="0" lvl="0">
                <a:lnSpc>
                  <a:spcPts val="7799"/>
                </a:lnSpc>
              </a:pPr>
              <a:r>
                <a:rPr lang="en-US" b="true" sz="5571">
                  <a:solidFill>
                    <a:srgbClr val="000000"/>
                  </a:solidFill>
                  <a:latin typeface="Open Sans Bold"/>
                  <a:ea typeface="Open Sans Bold"/>
                  <a:cs typeface="Open Sans Bold"/>
                  <a:sym typeface="Open Sans Bold"/>
                </a:rPr>
                <a:t>25</a:t>
              </a:r>
            </a:p>
          </p:txBody>
        </p:sp>
      </p:grpSp>
      <p:sp>
        <p:nvSpPr>
          <p:cNvPr name="Freeform 14" id="14"/>
          <p:cNvSpPr/>
          <p:nvPr/>
        </p:nvSpPr>
        <p:spPr>
          <a:xfrm flipH="false" flipV="false" rot="0">
            <a:off x="-2243137" y="-402279"/>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0">
            <a:off x="1768597" y="1511300"/>
            <a:ext cx="16230600" cy="1451128"/>
          </a:xfrm>
          <a:prstGeom prst="rect">
            <a:avLst/>
          </a:prstGeom>
        </p:spPr>
        <p:txBody>
          <a:bodyPr anchor="t" rtlCol="false" tIns="0" lIns="0" bIns="0" rIns="0">
            <a:spAutoFit/>
          </a:bodyPr>
          <a:lstStyle/>
          <a:p>
            <a:pPr algn="ctr" marL="0" indent="0" lvl="0">
              <a:lnSpc>
                <a:spcPts val="11891"/>
              </a:lnSpc>
            </a:pPr>
            <a:r>
              <a:rPr lang="en-US" sz="8493">
                <a:solidFill>
                  <a:srgbClr val="000000"/>
                </a:solidFill>
                <a:latin typeface="Alatsi"/>
                <a:ea typeface="Alatsi"/>
                <a:cs typeface="Alatsi"/>
                <a:sym typeface="Alatsi"/>
              </a:rPr>
              <a:t>PERSPECTIVES D'ÉVOLUTION</a:t>
            </a:r>
          </a:p>
        </p:txBody>
      </p:sp>
      <p:sp>
        <p:nvSpPr>
          <p:cNvPr name="AutoShape 3" id="3"/>
          <p:cNvSpPr/>
          <p:nvPr/>
        </p:nvSpPr>
        <p:spPr>
          <a:xfrm>
            <a:off x="-260599" y="9061267"/>
            <a:ext cx="7105264" cy="19050"/>
          </a:xfrm>
          <a:prstGeom prst="line">
            <a:avLst/>
          </a:prstGeom>
          <a:ln cap="flat" w="114300">
            <a:solidFill>
              <a:srgbClr val="9FC3D0"/>
            </a:solidFill>
            <a:prstDash val="solid"/>
            <a:headEnd type="none" len="sm" w="sm"/>
            <a:tailEnd type="none" len="sm" w="sm"/>
          </a:ln>
        </p:spPr>
      </p:sp>
      <p:sp>
        <p:nvSpPr>
          <p:cNvPr name="AutoShape 4" id="4"/>
          <p:cNvSpPr/>
          <p:nvPr/>
        </p:nvSpPr>
        <p:spPr>
          <a:xfrm>
            <a:off x="11430169" y="9061267"/>
            <a:ext cx="7105264" cy="19050"/>
          </a:xfrm>
          <a:prstGeom prst="line">
            <a:avLst/>
          </a:prstGeom>
          <a:ln cap="flat" w="114300">
            <a:solidFill>
              <a:srgbClr val="9FC3D0"/>
            </a:solidFill>
            <a:prstDash val="solid"/>
            <a:headEnd type="none" len="sm" w="sm"/>
            <a:tailEnd type="none" len="sm" w="sm"/>
          </a:ln>
        </p:spPr>
      </p:sp>
      <p:grpSp>
        <p:nvGrpSpPr>
          <p:cNvPr name="Group 5" id="5"/>
          <p:cNvGrpSpPr/>
          <p:nvPr/>
        </p:nvGrpSpPr>
        <p:grpSpPr>
          <a:xfrm rot="0">
            <a:off x="15859155" y="0"/>
            <a:ext cx="1562612" cy="1673225"/>
            <a:chOff x="0" y="0"/>
            <a:chExt cx="2083482" cy="2230967"/>
          </a:xfrm>
        </p:grpSpPr>
        <p:grpSp>
          <p:nvGrpSpPr>
            <p:cNvPr name="Group 6" id="6"/>
            <p:cNvGrpSpPr/>
            <p:nvPr/>
          </p:nvGrpSpPr>
          <p:grpSpPr>
            <a:xfrm rot="0">
              <a:off x="75599" y="0"/>
              <a:ext cx="1932284" cy="2230967"/>
              <a:chOff x="0" y="0"/>
              <a:chExt cx="703982" cy="812800"/>
            </a:xfrm>
          </p:grpSpPr>
          <p:sp>
            <p:nvSpPr>
              <p:cNvPr name="Freeform 7" id="7"/>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8" id="8"/>
              <p:cNvSpPr txBox="true"/>
              <p:nvPr/>
            </p:nvSpPr>
            <p:spPr>
              <a:xfrm>
                <a:off x="0" y="-47625"/>
                <a:ext cx="703982" cy="733425"/>
              </a:xfrm>
              <a:prstGeom prst="rect">
                <a:avLst/>
              </a:prstGeom>
            </p:spPr>
            <p:txBody>
              <a:bodyPr anchor="ctr" rtlCol="false" tIns="50800" lIns="50800" bIns="50800" rIns="50800"/>
              <a:lstStyle/>
              <a:p>
                <a:pPr algn="ctr" marL="0" indent="0" lvl="0">
                  <a:lnSpc>
                    <a:spcPts val="2659"/>
                  </a:lnSpc>
                </a:pPr>
              </a:p>
            </p:txBody>
          </p:sp>
        </p:grpSp>
        <p:sp>
          <p:nvSpPr>
            <p:cNvPr name="TextBox 9" id="9"/>
            <p:cNvSpPr txBox="true"/>
            <p:nvPr/>
          </p:nvSpPr>
          <p:spPr>
            <a:xfrm rot="0">
              <a:off x="0" y="447107"/>
              <a:ext cx="2083482" cy="1232111"/>
            </a:xfrm>
            <a:prstGeom prst="rect">
              <a:avLst/>
            </a:prstGeom>
          </p:spPr>
          <p:txBody>
            <a:bodyPr anchor="t" rtlCol="false" tIns="0" lIns="0" bIns="0" rIns="0">
              <a:spAutoFit/>
            </a:bodyPr>
            <a:lstStyle/>
            <a:p>
              <a:pPr algn="ctr" marL="0" indent="0" lvl="0">
                <a:lnSpc>
                  <a:spcPts val="7799"/>
                </a:lnSpc>
              </a:pPr>
              <a:r>
                <a:rPr lang="en-US" b="true" sz="5571">
                  <a:solidFill>
                    <a:srgbClr val="000000"/>
                  </a:solidFill>
                  <a:latin typeface="Open Sans Bold"/>
                  <a:ea typeface="Open Sans Bold"/>
                  <a:cs typeface="Open Sans Bold"/>
                  <a:sym typeface="Open Sans Bold"/>
                </a:rPr>
                <a:t>26</a:t>
              </a:r>
            </a:p>
          </p:txBody>
        </p:sp>
      </p:grpSp>
      <p:sp>
        <p:nvSpPr>
          <p:cNvPr name="Freeform 10" id="10"/>
          <p:cNvSpPr/>
          <p:nvPr/>
        </p:nvSpPr>
        <p:spPr>
          <a:xfrm flipH="false" flipV="false" rot="0">
            <a:off x="-2243137" y="-402279"/>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1" id="11"/>
          <p:cNvSpPr txBox="true"/>
          <p:nvPr/>
        </p:nvSpPr>
        <p:spPr>
          <a:xfrm rot="0">
            <a:off x="1768597" y="3334823"/>
            <a:ext cx="15089357" cy="5726444"/>
          </a:xfrm>
          <a:prstGeom prst="rect">
            <a:avLst/>
          </a:prstGeom>
        </p:spPr>
        <p:txBody>
          <a:bodyPr anchor="t" rtlCol="false" tIns="0" lIns="0" bIns="0" rIns="0">
            <a:spAutoFit/>
          </a:bodyPr>
          <a:lstStyle/>
          <a:p>
            <a:pPr algn="l">
              <a:lnSpc>
                <a:spcPts val="4602"/>
              </a:lnSpc>
            </a:pPr>
            <a:r>
              <a:rPr lang="en-US" sz="3287">
                <a:solidFill>
                  <a:srgbClr val="000000"/>
                </a:solidFill>
                <a:latin typeface="Alatsi"/>
                <a:ea typeface="Alatsi"/>
                <a:cs typeface="Alatsi"/>
                <a:sym typeface="Alatsi"/>
              </a:rPr>
              <a:t>Proposez des évolutions pour enrichir l'expérience utilisateur et les services.</a:t>
            </a:r>
          </a:p>
          <a:p>
            <a:pPr algn="l" marL="709719" indent="-354859" lvl="1">
              <a:lnSpc>
                <a:spcPts val="4602"/>
              </a:lnSpc>
              <a:buFont typeface="Arial"/>
              <a:buChar char="•"/>
            </a:pPr>
            <a:r>
              <a:rPr lang="en-US" sz="3287">
                <a:solidFill>
                  <a:srgbClr val="000000"/>
                </a:solidFill>
                <a:latin typeface="Alatsi"/>
                <a:ea typeface="Alatsi"/>
                <a:cs typeface="Alatsi"/>
                <a:sym typeface="Alatsi"/>
              </a:rPr>
              <a:t>Mobilité : Développement d'une application mobile (React Native / Flutter) dédiée aux techniciens sur le terrain (Priorité Haute).</a:t>
            </a:r>
          </a:p>
          <a:p>
            <a:pPr algn="l" marL="709719" indent="-354859" lvl="1">
              <a:lnSpc>
                <a:spcPts val="4602"/>
              </a:lnSpc>
              <a:buFont typeface="Arial"/>
              <a:buChar char="•"/>
            </a:pPr>
            <a:r>
              <a:rPr lang="en-US" sz="3287">
                <a:solidFill>
                  <a:srgbClr val="000000"/>
                </a:solidFill>
                <a:latin typeface="Alatsi"/>
                <a:ea typeface="Alatsi"/>
                <a:cs typeface="Alatsi"/>
                <a:sym typeface="Alatsi"/>
              </a:rPr>
              <a:t>Réactivité : Intégration de WebSockets pour des notifications en temps réel lors du suivi des demandes (Priorité Haute).</a:t>
            </a:r>
          </a:p>
          <a:p>
            <a:pPr algn="l" marL="709719" indent="-354859" lvl="1">
              <a:lnSpc>
                <a:spcPts val="4602"/>
              </a:lnSpc>
              <a:buFont typeface="Arial"/>
              <a:buChar char="•"/>
            </a:pPr>
            <a:r>
              <a:rPr lang="en-US" sz="3287">
                <a:solidFill>
                  <a:srgbClr val="000000"/>
                </a:solidFill>
                <a:latin typeface="Alatsi"/>
                <a:ea typeface="Alatsi"/>
                <a:cs typeface="Alatsi"/>
                <a:sym typeface="Alatsi"/>
              </a:rPr>
              <a:t>Automatisation financière : Module de facturation automatique des loyers pour les commerçants (Priorité Moyenne).</a:t>
            </a:r>
          </a:p>
          <a:p>
            <a:pPr algn="l" marL="709719" indent="-354859" lvl="1">
              <a:lnSpc>
                <a:spcPts val="4602"/>
              </a:lnSpc>
              <a:buFont typeface="Arial"/>
              <a:buChar char="•"/>
            </a:pPr>
            <a:r>
              <a:rPr lang="en-US" sz="3287">
                <a:solidFill>
                  <a:srgbClr val="000000"/>
                </a:solidFill>
                <a:latin typeface="Alatsi"/>
                <a:ea typeface="Alatsi"/>
                <a:cs typeface="Alatsi"/>
                <a:sym typeface="Alatsi"/>
              </a:rPr>
              <a:t>Self-Service : Mise en place d'une API publique permettant aux commerçants de déclarer eux-mêmes leurs pannes.</a:t>
            </a:r>
          </a:p>
          <a:p>
            <a:pPr algn="l" marL="0" indent="0" lvl="0">
              <a:lnSpc>
                <a:spcPts val="4602"/>
              </a:lnSpc>
            </a:pP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0">
            <a:off x="5109899" y="3821836"/>
            <a:ext cx="11627497" cy="1321664"/>
          </a:xfrm>
          <a:prstGeom prst="rect">
            <a:avLst/>
          </a:prstGeom>
        </p:spPr>
        <p:txBody>
          <a:bodyPr anchor="t" rtlCol="false" tIns="0" lIns="0" bIns="0" rIns="0">
            <a:spAutoFit/>
          </a:bodyPr>
          <a:lstStyle/>
          <a:p>
            <a:pPr algn="ctr" marL="0" indent="0" lvl="0">
              <a:lnSpc>
                <a:spcPts val="10759"/>
              </a:lnSpc>
            </a:pPr>
            <a:r>
              <a:rPr lang="en-US" sz="7685">
                <a:solidFill>
                  <a:srgbClr val="000000"/>
                </a:solidFill>
                <a:latin typeface="Alatsi"/>
                <a:ea typeface="Alatsi"/>
                <a:cs typeface="Alatsi"/>
                <a:sym typeface="Alatsi"/>
              </a:rPr>
              <a:t>MERCI DE VOTRE ATTENTION</a:t>
            </a:r>
          </a:p>
        </p:txBody>
      </p:sp>
      <p:grpSp>
        <p:nvGrpSpPr>
          <p:cNvPr name="Group 3" id="3"/>
          <p:cNvGrpSpPr/>
          <p:nvPr/>
        </p:nvGrpSpPr>
        <p:grpSpPr>
          <a:xfrm rot="0">
            <a:off x="-31071" y="0"/>
            <a:ext cx="4239083" cy="10287000"/>
            <a:chOff x="0" y="0"/>
            <a:chExt cx="5652111" cy="13716000"/>
          </a:xfrm>
        </p:grpSpPr>
        <p:grpSp>
          <p:nvGrpSpPr>
            <p:cNvPr name="Group 4" id="4"/>
            <p:cNvGrpSpPr/>
            <p:nvPr/>
          </p:nvGrpSpPr>
          <p:grpSpPr>
            <a:xfrm rot="0">
              <a:off x="2826056" y="0"/>
              <a:ext cx="2826056" cy="13716000"/>
              <a:chOff x="0" y="0"/>
              <a:chExt cx="558233" cy="2709333"/>
            </a:xfrm>
          </p:grpSpPr>
          <p:sp>
            <p:nvSpPr>
              <p:cNvPr name="Freeform 5" id="5"/>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E9E0D9"/>
              </a:solidFill>
            </p:spPr>
          </p:sp>
          <p:sp>
            <p:nvSpPr>
              <p:cNvPr name="TextBox 6" id="6"/>
              <p:cNvSpPr txBox="true"/>
              <p:nvPr/>
            </p:nvSpPr>
            <p:spPr>
              <a:xfrm>
                <a:off x="0" y="-47625"/>
                <a:ext cx="558233" cy="2756958"/>
              </a:xfrm>
              <a:prstGeom prst="rect">
                <a:avLst/>
              </a:prstGeom>
            </p:spPr>
            <p:txBody>
              <a:bodyPr anchor="ctr" rtlCol="false" tIns="50800" lIns="50800" bIns="50800" rIns="50800"/>
              <a:lstStyle/>
              <a:p>
                <a:pPr algn="ctr" marL="0" indent="0" lvl="0">
                  <a:lnSpc>
                    <a:spcPts val="2659"/>
                  </a:lnSpc>
                </a:pPr>
              </a:p>
            </p:txBody>
          </p:sp>
        </p:grpSp>
        <p:grpSp>
          <p:nvGrpSpPr>
            <p:cNvPr name="Group 7" id="7"/>
            <p:cNvGrpSpPr/>
            <p:nvPr/>
          </p:nvGrpSpPr>
          <p:grpSpPr>
            <a:xfrm rot="0">
              <a:off x="1413028" y="0"/>
              <a:ext cx="2826056" cy="13716000"/>
              <a:chOff x="0" y="0"/>
              <a:chExt cx="558233" cy="2709333"/>
            </a:xfrm>
          </p:grpSpPr>
          <p:sp>
            <p:nvSpPr>
              <p:cNvPr name="Freeform 8" id="8"/>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9FC3D0"/>
              </a:solidFill>
            </p:spPr>
          </p:sp>
          <p:sp>
            <p:nvSpPr>
              <p:cNvPr name="TextBox 9" id="9"/>
              <p:cNvSpPr txBox="true"/>
              <p:nvPr/>
            </p:nvSpPr>
            <p:spPr>
              <a:xfrm>
                <a:off x="0" y="-47625"/>
                <a:ext cx="558233" cy="2756958"/>
              </a:xfrm>
              <a:prstGeom prst="rect">
                <a:avLst/>
              </a:prstGeom>
            </p:spPr>
            <p:txBody>
              <a:bodyPr anchor="ctr" rtlCol="false" tIns="50800" lIns="50800" bIns="50800" rIns="50800"/>
              <a:lstStyle/>
              <a:p>
                <a:pPr algn="ctr" marL="0" indent="0" lvl="0">
                  <a:lnSpc>
                    <a:spcPts val="2659"/>
                  </a:lnSpc>
                </a:pPr>
              </a:p>
            </p:txBody>
          </p:sp>
        </p:grpSp>
        <p:grpSp>
          <p:nvGrpSpPr>
            <p:cNvPr name="Group 10" id="10"/>
            <p:cNvGrpSpPr/>
            <p:nvPr/>
          </p:nvGrpSpPr>
          <p:grpSpPr>
            <a:xfrm rot="0">
              <a:off x="0" y="0"/>
              <a:ext cx="2826056" cy="13716000"/>
              <a:chOff x="0" y="0"/>
              <a:chExt cx="558233" cy="2709333"/>
            </a:xfrm>
          </p:grpSpPr>
          <p:sp>
            <p:nvSpPr>
              <p:cNvPr name="Freeform 11" id="11"/>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E9C7C6"/>
              </a:solidFill>
            </p:spPr>
          </p:sp>
          <p:sp>
            <p:nvSpPr>
              <p:cNvPr name="TextBox 12" id="12"/>
              <p:cNvSpPr txBox="true"/>
              <p:nvPr/>
            </p:nvSpPr>
            <p:spPr>
              <a:xfrm>
                <a:off x="0" y="-47625"/>
                <a:ext cx="558233" cy="2756958"/>
              </a:xfrm>
              <a:prstGeom prst="rect">
                <a:avLst/>
              </a:prstGeom>
            </p:spPr>
            <p:txBody>
              <a:bodyPr anchor="ctr" rtlCol="false" tIns="50800" lIns="50800" bIns="50800" rIns="50800"/>
              <a:lstStyle/>
              <a:p>
                <a:pPr algn="ctr" marL="0" indent="0" lvl="0">
                  <a:lnSpc>
                    <a:spcPts val="2659"/>
                  </a:lnSpc>
                </a:pPr>
              </a:p>
            </p:txBody>
          </p:sp>
        </p:grpSp>
      </p:grpSp>
      <p:sp>
        <p:nvSpPr>
          <p:cNvPr name="Freeform 13" id="13"/>
          <p:cNvSpPr/>
          <p:nvPr/>
        </p:nvSpPr>
        <p:spPr>
          <a:xfrm flipH="false" flipV="false" rot="0">
            <a:off x="12412831" y="8026211"/>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1625052" y="-1449083"/>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5" id="15"/>
          <p:cNvSpPr txBox="true"/>
          <p:nvPr/>
        </p:nvSpPr>
        <p:spPr>
          <a:xfrm rot="0">
            <a:off x="6754770" y="5918383"/>
            <a:ext cx="8478800" cy="2107828"/>
          </a:xfrm>
          <a:prstGeom prst="rect">
            <a:avLst/>
          </a:prstGeom>
        </p:spPr>
        <p:txBody>
          <a:bodyPr anchor="t" rtlCol="false" tIns="0" lIns="0" bIns="0" rIns="0">
            <a:spAutoFit/>
          </a:bodyPr>
          <a:lstStyle/>
          <a:p>
            <a:pPr algn="ctr" marL="0" indent="0" lvl="0">
              <a:lnSpc>
                <a:spcPts val="4260"/>
              </a:lnSpc>
            </a:pPr>
            <a:r>
              <a:rPr lang="en-US" b="true" sz="3043">
                <a:solidFill>
                  <a:srgbClr val="27364C"/>
                </a:solidFill>
                <a:latin typeface="Sondos Bold"/>
                <a:ea typeface="Sondos Bold"/>
                <a:cs typeface="Sondos Bold"/>
                <a:sym typeface="Sondos Bold"/>
              </a:rPr>
              <a:t>Réaliser </a:t>
            </a:r>
            <a:r>
              <a:rPr lang="en-US" b="true" sz="3043">
                <a:solidFill>
                  <a:srgbClr val="27364C"/>
                </a:solidFill>
                <a:latin typeface="Sondos Bold"/>
                <a:ea typeface="Sondos Bold"/>
                <a:cs typeface="Sondos Bold"/>
                <a:sym typeface="Sondos Bold"/>
              </a:rPr>
              <a:t> par : Nessim Ayadi</a:t>
            </a:r>
          </a:p>
          <a:p>
            <a:pPr algn="ctr" marL="0" indent="0" lvl="0">
              <a:lnSpc>
                <a:spcPts val="4260"/>
              </a:lnSpc>
            </a:pPr>
            <a:r>
              <a:rPr lang="en-US" b="true" sz="3043">
                <a:solidFill>
                  <a:srgbClr val="27364C"/>
                </a:solidFill>
                <a:latin typeface="Sondos Bold"/>
                <a:ea typeface="Sondos Bold"/>
                <a:cs typeface="Sondos Bold"/>
                <a:sym typeface="Sondos Bold"/>
              </a:rPr>
              <a:t>Encadrant Academic :  Kmar Fersi</a:t>
            </a:r>
          </a:p>
          <a:p>
            <a:pPr algn="ctr" marL="0" indent="0" lvl="0">
              <a:lnSpc>
                <a:spcPts val="4260"/>
              </a:lnSpc>
            </a:pPr>
            <a:r>
              <a:rPr lang="en-US" b="true" sz="3043">
                <a:solidFill>
                  <a:srgbClr val="27364C"/>
                </a:solidFill>
                <a:latin typeface="Sondos Bold"/>
                <a:ea typeface="Sondos Bold"/>
                <a:cs typeface="Sondos Bold"/>
                <a:sym typeface="Sondos Bold"/>
              </a:rPr>
              <a:t>Encadrant supervisor : Mr. Alaa Laamouri</a:t>
            </a:r>
          </a:p>
          <a:p>
            <a:pPr algn="ctr" marL="0" indent="0" lvl="0">
              <a:lnSpc>
                <a:spcPts val="4260"/>
              </a:lnSpc>
            </a:pPr>
          </a:p>
        </p:txBody>
      </p:sp>
      <p:sp>
        <p:nvSpPr>
          <p:cNvPr name="Freeform 16" id="16"/>
          <p:cNvSpPr/>
          <p:nvPr/>
        </p:nvSpPr>
        <p:spPr>
          <a:xfrm flipH="false" flipV="false" rot="0">
            <a:off x="14760771" y="641152"/>
            <a:ext cx="3527229" cy="2327971"/>
          </a:xfrm>
          <a:custGeom>
            <a:avLst/>
            <a:gdLst/>
            <a:ahLst/>
            <a:cxnLst/>
            <a:rect r="r" b="b" t="t" l="l"/>
            <a:pathLst>
              <a:path h="2327971" w="3527229">
                <a:moveTo>
                  <a:pt x="0" y="0"/>
                </a:moveTo>
                <a:lnTo>
                  <a:pt x="3527229" y="0"/>
                </a:lnTo>
                <a:lnTo>
                  <a:pt x="3527229" y="2327971"/>
                </a:lnTo>
                <a:lnTo>
                  <a:pt x="0" y="2327971"/>
                </a:lnTo>
                <a:lnTo>
                  <a:pt x="0" y="0"/>
                </a:lnTo>
                <a:close/>
              </a:path>
            </a:pathLst>
          </a:custGeom>
          <a:blipFill>
            <a:blip r:embed="rId4"/>
            <a:stretch>
              <a:fillRect l="0" t="0" r="0" b="0"/>
            </a:stretch>
          </a:blipFill>
        </p:spPr>
      </p:sp>
      <p:sp>
        <p:nvSpPr>
          <p:cNvPr name="Freeform 17" id="17"/>
          <p:cNvSpPr/>
          <p:nvPr/>
        </p:nvSpPr>
        <p:spPr>
          <a:xfrm flipH="false" flipV="false" rot="0">
            <a:off x="4554977" y="1400925"/>
            <a:ext cx="4399587" cy="808424"/>
          </a:xfrm>
          <a:custGeom>
            <a:avLst/>
            <a:gdLst/>
            <a:ahLst/>
            <a:cxnLst/>
            <a:rect r="r" b="b" t="t" l="l"/>
            <a:pathLst>
              <a:path h="808424" w="4399587">
                <a:moveTo>
                  <a:pt x="0" y="0"/>
                </a:moveTo>
                <a:lnTo>
                  <a:pt x="4399586" y="0"/>
                </a:lnTo>
                <a:lnTo>
                  <a:pt x="4399586" y="808424"/>
                </a:lnTo>
                <a:lnTo>
                  <a:pt x="0" y="808424"/>
                </a:lnTo>
                <a:lnTo>
                  <a:pt x="0" y="0"/>
                </a:lnTo>
                <a:close/>
              </a:path>
            </a:pathLst>
          </a:custGeom>
          <a:blipFill>
            <a:blip r:embed="rId5"/>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DAHHZRfHK4Y</dc:identifier>
  <dcterms:modified xsi:type="dcterms:W3CDTF">2011-08-01T06:04:30Z</dcterms:modified>
  <cp:revision>1</cp:revision>
  <dc:title>Projet de Fin d’Études — Présentation Générale</dc:title>
</cp:coreProperties>
</file>